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71" r:id="rId8"/>
    <p:sldId id="262" r:id="rId9"/>
    <p:sldId id="263" r:id="rId10"/>
    <p:sldId id="264" r:id="rId11"/>
    <p:sldId id="265" r:id="rId12"/>
    <p:sldId id="266" r:id="rId13"/>
    <p:sldId id="267" r:id="rId14"/>
    <p:sldId id="268" r:id="rId15"/>
    <p:sldId id="269" r:id="rId16"/>
    <p:sldId id="270"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5432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We are JVM Junkies and today we will present our Java Swing project — the Campus Cafeteria Management System. This system is a desktop application designed to help manage cafeteria food items and customer orders easily. Let me now introduce our team.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complete team. We have 5 members in our group called JVM Junkies. Each member has worked on a specific part of the project. The student IDs confirm we are all enrolled students. We will each explain our own part of the project during this presentation.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Campus Cafeteria Management System is a Java desktop application. It was developed because managing a cafeteria manually is slow and error-prone. With our system, staff can easily add, edit, and delete food items. Customers can search for food and place orders quickly. All data is saved permanently using file handling.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system has 12 key features. The green features cover food item management — adding, updating, deleting, and searching food items. The navy features handle orders — placing orders, managing a cart, automatic billing, and searching orders. The amber features are technical — file storage for permanent saving, input validation, JTable for displaying data, and a menu bar for navigation.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6 technologies in this project. Java is our main programming language. Java Swing lets us create windows, buttons, and forms — that is the GUI. JTable shows data in a table format. ArrayList stores our food and order data in memory. File Handling saves data permanently so it is not lost when the program closes. Finally, we applied OOP concepts throughout the code.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workflow of our system. Step 1: Staff manages food items — they can add new items, update prices, delete items, and search. Step 2: A customer places an order by selecting food items. Step 3: Multiple items go into a cart and the total bill is calculated automatically. Step 4: The order data is saved to a file permanently. Step 5: Order history can be searched and viewed any time.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1D55D-2AED-5EDF-1520-F51A72008E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569FE1-AE2C-1728-3458-A862304506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79BADF-E9DA-AC0B-3728-5842665B2615}"/>
              </a:ext>
            </a:extLst>
          </p:cNvPr>
          <p:cNvSpPr>
            <a:spLocks noGrp="1"/>
          </p:cNvSpPr>
          <p:nvPr>
            <p:ph type="body" idx="1"/>
          </p:nvPr>
        </p:nvSpPr>
        <p:spPr/>
        <p:txBody>
          <a:bodyPr/>
          <a:lstStyle/>
          <a:p>
            <a:r>
              <a:rPr lang="en-US" dirty="0"/>
              <a:t>This diagram shows the workflow of our system. Step 1: Staff manages food items — they can add new items, update prices, delete items, and search. Step 2: A customer places an order by selecting food items. Step 3: Multiple items go into a cart and the total bill is calculated automatically. Step 4: The order data is saved to a file permanently. Step 5: Order history can be searched and viewed any time.</a:t>
            </a:r>
          </a:p>
        </p:txBody>
      </p:sp>
      <p:sp>
        <p:nvSpPr>
          <p:cNvPr id="4" name="Slide Number Placeholder 3">
            <a:extLst>
              <a:ext uri="{FF2B5EF4-FFF2-40B4-BE49-F238E27FC236}">
                <a16:creationId xmlns:a16="http://schemas.microsoft.com/office/drawing/2014/main" id="{7244579F-6375-AF0E-1BD4-94B8C7497EFD}"/>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1086309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applies all four OOP concepts. Encapsulation means we keep class data private and access it through getters and setters. Inheritance means our Customer class extends User class — it gets all User features automatically. Abstraction means User is an abstract class — it sets a structure but the details are in the child class. Polymorphism means child classes can override parent methods to behave differently.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a complete summary of our project. The system handles two main things: food item management and order management. The key benefit is that it replaces slow and error-prone manual work with a fast and organized digital system. Data is never lost because we save it using file handling. The interface is simple enough for anyone to use.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 am Nurjahan Khanom Mim. I worked on two files: Main.java and AppMenuBar.java. Main.java is where the program starts. It creates the main window using JFrame and adds two tabs — one for food management and one for orders. AppMenuBar.java creates the menu bar at the top of the window with options like About and Exit. Basically, my code is the first thing that runs and sets up the entire application structure.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 am Oyshie Ahmed. I worked on FoodItem.java and Order.java. These are called model classes because they define the structure of our data. FoodItem.java stores all the information about a food item — like its name, price, and category. It uses encapsulation, meaning all variables are private and accessed through getters and setters. Order.java stores all order-related information like the order ID and total price. Both classes have constructors for easy object creation. These two classes are the foundation that every other part of the project uses.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 am Sharzid Ahamed Ratul. I worked on the OOP part of the project. User.java is an abstract parent class — it is like a template. It defines common user properties and an abstract method. Customer.java extends User — this is inheritance. Customer automatically gets all properties of User without rewriting code. The abstract method in User must be implemented in Customer — this is abstraction. When Customer overrides that method, that is polymorphism. My work shows how all four OOP concepts work together in one real example.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 am Mst. Saima Jahan Satu. I worked on FoodItemManager.java and OrderManager.java. These are the manager classes — they handle all data operations. FoodItemManager can add, update, delete, and search food items. It uses an ArrayList to hold items in memory. When data changes, I save it to a file so it is permanently stored. When the program starts again, it reads that file and loads everything back. OrderManager does the same thing but for orders. My work makes sure all data is saved and never lost.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 am Sourav Chandra Ghosh. I designed the graphical user interface — the screens that users actually see. FoodItemPanel.java has all the input fields and buttons for managing food items. The JTable shows all food items neatly in rows and columns. OrderPanel.java is the ordering screen — it shows food items, lets you pick them, adds them to a cart, and calculates the total bill automatically. It also shows the order history. My work is what makes the whole system look and feel like a real application.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four main screens of our system. Screen 1 is the Food Item Management tab where staff can add, edit, delete, and search food items. Screen 2 is the Order tab where customers select food to order. Screen 3 shows the cart system where multiple items can be added and the total is calculated automatically. Screen 4 shows the order history table where past orders can be searched. During the actual demo, we will show these screens running live.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we have successfully built a Campus Cafeteria Management System using Java Swing. Our system lets staff manage food items and lets customers place orders. We used ArrayList for in-memory storage and File Handling for permanent storage. All four OOP concepts are implemented in our code. For future work, we would like to add a login system, connect to a real database, and allow receipt printing. Thank you very much for listening — we are happy to answer any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29.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30.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5E"/>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w="12700">
            <a:solidFill>
              <a:srgbClr val="0D9488"/>
            </a:solidFill>
            <a:prstDash val="solid"/>
          </a:ln>
        </p:spPr>
        <p:txBody>
          <a:bodyPr/>
          <a:lstStyle/>
          <a:p>
            <a:endParaRPr lang="en-US"/>
          </a:p>
        </p:txBody>
      </p:sp>
      <p:sp>
        <p:nvSpPr>
          <p:cNvPr id="3" name="Shape 1"/>
          <p:cNvSpPr/>
          <p:nvPr/>
        </p:nvSpPr>
        <p:spPr>
          <a:xfrm>
            <a:off x="109728" y="0"/>
            <a:ext cx="9034272" cy="54864"/>
          </a:xfrm>
          <a:prstGeom prst="rect">
            <a:avLst/>
          </a:prstGeom>
          <a:solidFill>
            <a:srgbClr val="0D9488"/>
          </a:solidFill>
          <a:ln w="12700">
            <a:solidFill>
              <a:srgbClr val="0D9488"/>
            </a:solidFill>
            <a:prstDash val="solid"/>
          </a:ln>
        </p:spPr>
        <p:txBody>
          <a:bodyPr/>
          <a:lstStyle/>
          <a:p>
            <a:endParaRPr lang="en-US"/>
          </a:p>
        </p:txBody>
      </p:sp>
      <p:pic>
        <p:nvPicPr>
          <p:cNvPr id="4" name="Image 0" descr="preencoded.png"/>
          <p:cNvPicPr>
            <a:picLocks noChangeAspect="1"/>
          </p:cNvPicPr>
          <p:nvPr/>
        </p:nvPicPr>
        <p:blipFill>
          <a:blip r:embed="rId3">
            <a:alphaModFix amt="80000"/>
          </a:blip>
          <a:stretch>
            <a:fillRect/>
          </a:stretch>
        </p:blipFill>
        <p:spPr>
          <a:xfrm>
            <a:off x="6858000" y="731520"/>
            <a:ext cx="1645920" cy="1645920"/>
          </a:xfrm>
          <a:prstGeom prst="rect">
            <a:avLst/>
          </a:prstGeom>
        </p:spPr>
      </p:pic>
      <p:pic>
        <p:nvPicPr>
          <p:cNvPr id="5" name="Image 1" descr="preencoded.png"/>
          <p:cNvPicPr>
            <a:picLocks noChangeAspect="1"/>
          </p:cNvPicPr>
          <p:nvPr/>
        </p:nvPicPr>
        <p:blipFill>
          <a:blip r:embed="rId4">
            <a:alphaModFix amt="70000"/>
          </a:blip>
          <a:stretch>
            <a:fillRect/>
          </a:stretch>
        </p:blipFill>
        <p:spPr>
          <a:xfrm>
            <a:off x="7132320" y="2377440"/>
            <a:ext cx="1280160" cy="1280160"/>
          </a:xfrm>
          <a:prstGeom prst="rect">
            <a:avLst/>
          </a:prstGeom>
        </p:spPr>
      </p:pic>
      <p:sp>
        <p:nvSpPr>
          <p:cNvPr id="6" name="Text 2"/>
          <p:cNvSpPr/>
          <p:nvPr/>
        </p:nvSpPr>
        <p:spPr>
          <a:xfrm>
            <a:off x="365760" y="548640"/>
            <a:ext cx="6400800" cy="82296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Campus Cafeteria</a:t>
            </a:r>
            <a:endParaRPr lang="en-US" sz="3800" dirty="0"/>
          </a:p>
        </p:txBody>
      </p:sp>
      <p:sp>
        <p:nvSpPr>
          <p:cNvPr id="7" name="Text 3"/>
          <p:cNvSpPr/>
          <p:nvPr/>
        </p:nvSpPr>
        <p:spPr>
          <a:xfrm>
            <a:off x="365760" y="1280160"/>
            <a:ext cx="6400800" cy="822960"/>
          </a:xfrm>
          <a:prstGeom prst="rect">
            <a:avLst/>
          </a:prstGeom>
          <a:noFill/>
          <a:ln/>
        </p:spPr>
        <p:txBody>
          <a:bodyPr wrap="square" lIns="0" tIns="0" rIns="0" bIns="0" rtlCol="0" anchor="ctr"/>
          <a:lstStyle/>
          <a:p>
            <a:pPr marL="0" indent="0">
              <a:buNone/>
            </a:pPr>
            <a:r>
              <a:rPr lang="en-US" sz="3800" b="1" dirty="0">
                <a:solidFill>
                  <a:srgbClr val="14B8A6"/>
                </a:solidFill>
                <a:latin typeface="Calibri" pitchFamily="34" charset="0"/>
                <a:ea typeface="Calibri" pitchFamily="34" charset="-122"/>
                <a:cs typeface="Calibri" pitchFamily="34" charset="-120"/>
              </a:rPr>
              <a:t>Management System</a:t>
            </a:r>
            <a:endParaRPr lang="en-US" sz="3800" dirty="0"/>
          </a:p>
        </p:txBody>
      </p:sp>
      <p:sp>
        <p:nvSpPr>
          <p:cNvPr id="8" name="Shape 4"/>
          <p:cNvSpPr/>
          <p:nvPr/>
        </p:nvSpPr>
        <p:spPr>
          <a:xfrm>
            <a:off x="365760" y="2148840"/>
            <a:ext cx="5943600" cy="36576"/>
          </a:xfrm>
          <a:prstGeom prst="rect">
            <a:avLst/>
          </a:prstGeom>
          <a:solidFill>
            <a:srgbClr val="0D9488"/>
          </a:solidFill>
          <a:ln w="12700">
            <a:solidFill>
              <a:srgbClr val="0D9488"/>
            </a:solidFill>
            <a:prstDash val="solid"/>
          </a:ln>
        </p:spPr>
        <p:txBody>
          <a:bodyPr/>
          <a:lstStyle/>
          <a:p>
            <a:endParaRPr lang="en-US"/>
          </a:p>
        </p:txBody>
      </p:sp>
      <p:sp>
        <p:nvSpPr>
          <p:cNvPr id="9" name="Text 5"/>
          <p:cNvSpPr/>
          <p:nvPr/>
        </p:nvSpPr>
        <p:spPr>
          <a:xfrm>
            <a:off x="365760" y="2240280"/>
            <a:ext cx="5943600" cy="411480"/>
          </a:xfrm>
          <a:prstGeom prst="rect">
            <a:avLst/>
          </a:prstGeom>
          <a:noFill/>
          <a:ln/>
        </p:spPr>
        <p:txBody>
          <a:bodyPr wrap="square" lIns="0" tIns="0" rIns="0" bIns="0" rtlCol="0" anchor="ctr"/>
          <a:lstStyle/>
          <a:p>
            <a:pPr marL="0" indent="0">
              <a:buNone/>
            </a:pPr>
            <a:r>
              <a:rPr lang="en-US" sz="1600" dirty="0">
                <a:solidFill>
                  <a:srgbClr val="94A3B8"/>
                </a:solidFill>
                <a:latin typeface="Calibri" pitchFamily="34" charset="0"/>
                <a:ea typeface="Calibri" pitchFamily="34" charset="-122"/>
                <a:cs typeface="Calibri" pitchFamily="34" charset="-120"/>
              </a:rPr>
              <a:t>A Java Swing Desktop Application</a:t>
            </a:r>
            <a:endParaRPr lang="en-US" sz="1600" dirty="0"/>
          </a:p>
        </p:txBody>
      </p:sp>
      <p:sp>
        <p:nvSpPr>
          <p:cNvPr id="10" name="Shape 6"/>
          <p:cNvSpPr/>
          <p:nvPr/>
        </p:nvSpPr>
        <p:spPr>
          <a:xfrm>
            <a:off x="365760" y="2743200"/>
            <a:ext cx="2011680" cy="411480"/>
          </a:xfrm>
          <a:prstGeom prst="rect">
            <a:avLst/>
          </a:prstGeom>
          <a:solidFill>
            <a:srgbClr val="0D9488"/>
          </a:solidFill>
          <a:ln w="12700">
            <a:solidFill>
              <a:srgbClr val="0D9488"/>
            </a:solidFill>
            <a:prstDash val="solid"/>
          </a:ln>
        </p:spPr>
        <p:txBody>
          <a:bodyPr/>
          <a:lstStyle/>
          <a:p>
            <a:endParaRPr lang="en-US"/>
          </a:p>
        </p:txBody>
      </p:sp>
      <p:sp>
        <p:nvSpPr>
          <p:cNvPr id="11" name="Text 7"/>
          <p:cNvSpPr/>
          <p:nvPr/>
        </p:nvSpPr>
        <p:spPr>
          <a:xfrm>
            <a:off x="365760" y="2743200"/>
            <a:ext cx="20116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  JVM Junkies</a:t>
            </a:r>
            <a:endParaRPr lang="en-US" sz="1400" dirty="0"/>
          </a:p>
        </p:txBody>
      </p:sp>
      <p:sp>
        <p:nvSpPr>
          <p:cNvPr id="12" name="Text 8"/>
          <p:cNvSpPr/>
          <p:nvPr/>
        </p:nvSpPr>
        <p:spPr>
          <a:xfrm>
            <a:off x="365760" y="3291840"/>
            <a:ext cx="8321040" cy="640080"/>
          </a:xfrm>
          <a:prstGeom prst="rect">
            <a:avLst/>
          </a:prstGeom>
          <a:noFill/>
          <a:ln/>
        </p:spPr>
        <p:txBody>
          <a:bodyPr wrap="square" rtlCol="0" anchor="ctr"/>
          <a:lstStyle/>
          <a:p>
            <a:pPr marL="0" indent="0" algn="l">
              <a:buNone/>
            </a:pPr>
            <a:r>
              <a:rPr lang="en-US" sz="1300" dirty="0">
                <a:solidFill>
                  <a:srgbClr val="94A3B8"/>
                </a:solidFill>
                <a:latin typeface="Calibri" pitchFamily="34" charset="0"/>
                <a:ea typeface="Calibri" pitchFamily="34" charset="-122"/>
                <a:cs typeface="Calibri" pitchFamily="34" charset="-120"/>
              </a:rPr>
              <a:t>Nurjahan Khanom Mim  •  Oyshie Ahmed  •  Sourav Chandra Ghosh</a:t>
            </a:r>
            <a:endParaRPr lang="en-US" sz="1300" dirty="0"/>
          </a:p>
          <a:p>
            <a:pPr marL="0" indent="0" algn="l">
              <a:buNone/>
            </a:pPr>
            <a:r>
              <a:rPr lang="en-US" sz="1300" dirty="0">
                <a:solidFill>
                  <a:srgbClr val="94A3B8"/>
                </a:solidFill>
                <a:latin typeface="Calibri" pitchFamily="34" charset="0"/>
                <a:ea typeface="Calibri" pitchFamily="34" charset="-122"/>
                <a:cs typeface="Calibri" pitchFamily="34" charset="-120"/>
              </a:rPr>
              <a:t>Mst. Saima Jahan Satu  •  Sharzid Ahamed Ratul</a:t>
            </a:r>
            <a:endParaRPr lang="en-US" sz="1300" dirty="0"/>
          </a:p>
        </p:txBody>
      </p:sp>
      <p:sp>
        <p:nvSpPr>
          <p:cNvPr id="13" name="Text 9"/>
          <p:cNvSpPr/>
          <p:nvPr/>
        </p:nvSpPr>
        <p:spPr>
          <a:xfrm>
            <a:off x="365760" y="4480560"/>
            <a:ext cx="8412480" cy="365760"/>
          </a:xfrm>
          <a:prstGeom prst="rect">
            <a:avLst/>
          </a:prstGeom>
          <a:noFill/>
          <a:ln/>
        </p:spPr>
        <p:txBody>
          <a:bodyPr wrap="square" lIns="0" tIns="0" rIns="0" bIns="0" rtlCol="0" anchor="ctr"/>
          <a:lstStyle/>
          <a:p>
            <a:pPr marL="0" indent="0" algn="l">
              <a:buNone/>
            </a:pPr>
            <a:r>
              <a:rPr lang="en-US" sz="1000" dirty="0">
                <a:solidFill>
                  <a:srgbClr val="94A3B8"/>
                </a:solidFill>
                <a:latin typeface="Calibri" pitchFamily="34" charset="0"/>
                <a:ea typeface="Calibri" pitchFamily="34" charset="-122"/>
                <a:cs typeface="Calibri" pitchFamily="34" charset="-120"/>
              </a:rPr>
              <a:t>University Project  |  Object-Oriented Programming  |  Java Swing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5E"/>
          </a:solidFill>
          <a:ln w="12700">
            <a:solidFill>
              <a:srgbClr val="1B2A5E"/>
            </a:solidFill>
            <a:prstDash val="solid"/>
          </a:ln>
        </p:spPr>
        <p:txBody>
          <a:bodyPr/>
          <a:lstStyle/>
          <a:p>
            <a:endParaRPr lang="en-US"/>
          </a:p>
        </p:txBody>
      </p:sp>
      <p:sp>
        <p:nvSpPr>
          <p:cNvPr id="3" name="Text 1"/>
          <p:cNvSpPr/>
          <p:nvPr/>
        </p:nvSpPr>
        <p:spPr>
          <a:xfrm>
            <a:off x="365760" y="73152"/>
            <a:ext cx="8412480" cy="768096"/>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Team Information</a:t>
            </a:r>
            <a:endParaRPr lang="en-US" sz="2800" dirty="0"/>
          </a:p>
        </p:txBody>
      </p:sp>
      <p:sp>
        <p:nvSpPr>
          <p:cNvPr id="4" name="Shape 2"/>
          <p:cNvSpPr/>
          <p:nvPr/>
        </p:nvSpPr>
        <p:spPr>
          <a:xfrm>
            <a:off x="365760" y="1051560"/>
            <a:ext cx="8412480" cy="475488"/>
          </a:xfrm>
          <a:prstGeom prst="rect">
            <a:avLst/>
          </a:prstGeom>
          <a:solidFill>
            <a:srgbClr val="CCFBF1"/>
          </a:solidFill>
          <a:ln w="12700">
            <a:solidFill>
              <a:srgbClr val="0D9488"/>
            </a:solidFill>
            <a:prstDash val="solid"/>
          </a:ln>
        </p:spPr>
        <p:txBody>
          <a:bodyPr/>
          <a:lstStyle/>
          <a:p>
            <a:endParaRPr lang="en-US"/>
          </a:p>
        </p:txBody>
      </p:sp>
      <p:sp>
        <p:nvSpPr>
          <p:cNvPr id="5" name="Text 3"/>
          <p:cNvSpPr/>
          <p:nvPr/>
        </p:nvSpPr>
        <p:spPr>
          <a:xfrm>
            <a:off x="365760" y="1051560"/>
            <a:ext cx="8412480" cy="475488"/>
          </a:xfrm>
          <a:prstGeom prst="rect">
            <a:avLst/>
          </a:prstGeom>
          <a:noFill/>
          <a:ln/>
        </p:spPr>
        <p:txBody>
          <a:bodyPr wrap="square" lIns="0" tIns="0" rIns="0" bIns="0" rtlCol="0" anchor="ctr"/>
          <a:lstStyle/>
          <a:p>
            <a:pPr marL="0" indent="0" algn="ctr">
              <a:buNone/>
            </a:pPr>
            <a:r>
              <a:rPr lang="en-US" sz="1800" b="1" dirty="0">
                <a:solidFill>
                  <a:srgbClr val="1B2A5E"/>
                </a:solidFill>
                <a:latin typeface="Calibri" pitchFamily="34" charset="0"/>
                <a:ea typeface="Calibri" pitchFamily="34" charset="-122"/>
                <a:cs typeface="Calibri" pitchFamily="34" charset="-120"/>
              </a:rPr>
              <a:t>Group Name:   JVM Junkies</a:t>
            </a:r>
            <a:endParaRPr lang="en-US" sz="1800" dirty="0"/>
          </a:p>
        </p:txBody>
      </p:sp>
      <p:sp>
        <p:nvSpPr>
          <p:cNvPr id="6" name="Shape 4"/>
          <p:cNvSpPr/>
          <p:nvPr/>
        </p:nvSpPr>
        <p:spPr>
          <a:xfrm>
            <a:off x="365760" y="1691640"/>
            <a:ext cx="1572768" cy="2651760"/>
          </a:xfrm>
          <a:prstGeom prst="rect">
            <a:avLst/>
          </a:prstGeom>
          <a:solidFill>
            <a:srgbClr val="FFFFFF"/>
          </a:solidFill>
          <a:ln w="12700">
            <a:solidFill>
              <a:srgbClr val="0D9488"/>
            </a:solidFill>
            <a:prstDash val="solid"/>
          </a:ln>
          <a:effectLst>
            <a:outerShdw blurRad="76200" dist="25400" dir="8100000" algn="bl" rotWithShape="0">
              <a:srgbClr val="000000">
                <a:alpha val="8000"/>
              </a:srgbClr>
            </a:outerShdw>
          </a:effectLst>
        </p:spPr>
        <p:txBody>
          <a:bodyPr/>
          <a:lstStyle/>
          <a:p>
            <a:endParaRPr lang="en-US"/>
          </a:p>
        </p:txBody>
      </p:sp>
      <p:sp>
        <p:nvSpPr>
          <p:cNvPr id="7" name="Shape 5"/>
          <p:cNvSpPr/>
          <p:nvPr/>
        </p:nvSpPr>
        <p:spPr>
          <a:xfrm>
            <a:off x="365760" y="1691640"/>
            <a:ext cx="1572768" cy="475488"/>
          </a:xfrm>
          <a:prstGeom prst="rect">
            <a:avLst/>
          </a:prstGeom>
          <a:solidFill>
            <a:srgbClr val="0D9488"/>
          </a:solidFill>
          <a:ln w="12700">
            <a:solidFill>
              <a:srgbClr val="0D9488"/>
            </a:solidFill>
            <a:prstDash val="solid"/>
          </a:ln>
        </p:spPr>
        <p:txBody>
          <a:bodyPr/>
          <a:lstStyle/>
          <a:p>
            <a:endParaRPr lang="en-US"/>
          </a:p>
        </p:txBody>
      </p:sp>
      <p:sp>
        <p:nvSpPr>
          <p:cNvPr id="8" name="Text 6"/>
          <p:cNvSpPr/>
          <p:nvPr/>
        </p:nvSpPr>
        <p:spPr>
          <a:xfrm>
            <a:off x="365760" y="1691640"/>
            <a:ext cx="157276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01</a:t>
            </a:r>
            <a:endParaRPr lang="en-US" sz="2000" dirty="0"/>
          </a:p>
        </p:txBody>
      </p:sp>
      <p:sp>
        <p:nvSpPr>
          <p:cNvPr id="9" name="Text 7"/>
          <p:cNvSpPr/>
          <p:nvPr/>
        </p:nvSpPr>
        <p:spPr>
          <a:xfrm>
            <a:off x="438912" y="2221992"/>
            <a:ext cx="1426464" cy="1371600"/>
          </a:xfrm>
          <a:prstGeom prst="rect">
            <a:avLst/>
          </a:prstGeom>
          <a:noFill/>
          <a:ln/>
        </p:spPr>
        <p:txBody>
          <a:bodyPr wrap="square" rtlCol="0" anchor="ctr"/>
          <a:lstStyle/>
          <a:p>
            <a:pPr marL="0" indent="0" algn="ctr">
              <a:buNone/>
            </a:pPr>
            <a:r>
              <a:rPr lang="en-US" sz="1200" b="1" dirty="0">
                <a:solidFill>
                  <a:srgbClr val="1B2A5E"/>
                </a:solidFill>
                <a:latin typeface="Calibri" pitchFamily="34" charset="0"/>
                <a:ea typeface="Calibri" pitchFamily="34" charset="-122"/>
                <a:cs typeface="Calibri" pitchFamily="34" charset="-120"/>
              </a:rPr>
              <a:t>Nurjahan Khanom Mim</a:t>
            </a:r>
            <a:endParaRPr lang="en-US" sz="1200" dirty="0"/>
          </a:p>
        </p:txBody>
      </p:sp>
      <p:sp>
        <p:nvSpPr>
          <p:cNvPr id="10" name="Shape 8"/>
          <p:cNvSpPr/>
          <p:nvPr/>
        </p:nvSpPr>
        <p:spPr>
          <a:xfrm>
            <a:off x="457200" y="3703320"/>
            <a:ext cx="1389888" cy="36576"/>
          </a:xfrm>
          <a:prstGeom prst="rect">
            <a:avLst/>
          </a:prstGeom>
          <a:solidFill>
            <a:srgbClr val="CCFBF1"/>
          </a:solidFill>
          <a:ln w="12700">
            <a:solidFill>
              <a:srgbClr val="CCFBF1"/>
            </a:solidFill>
            <a:prstDash val="solid"/>
          </a:ln>
        </p:spPr>
        <p:txBody>
          <a:bodyPr/>
          <a:lstStyle/>
          <a:p>
            <a:endParaRPr lang="en-US"/>
          </a:p>
        </p:txBody>
      </p:sp>
      <p:sp>
        <p:nvSpPr>
          <p:cNvPr id="11" name="Text 9"/>
          <p:cNvSpPr/>
          <p:nvPr/>
        </p:nvSpPr>
        <p:spPr>
          <a:xfrm>
            <a:off x="411480" y="3776472"/>
            <a:ext cx="1481328" cy="457200"/>
          </a:xfrm>
          <a:prstGeom prst="rect">
            <a:avLst/>
          </a:prstGeom>
          <a:noFill/>
          <a:ln/>
        </p:spPr>
        <p:txBody>
          <a:bodyPr wrap="square"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ID: 2024100000230</a:t>
            </a:r>
            <a:endParaRPr lang="en-US" sz="1000" dirty="0"/>
          </a:p>
        </p:txBody>
      </p:sp>
      <p:sp>
        <p:nvSpPr>
          <p:cNvPr id="12" name="Shape 10"/>
          <p:cNvSpPr/>
          <p:nvPr/>
        </p:nvSpPr>
        <p:spPr>
          <a:xfrm>
            <a:off x="1993392" y="1691640"/>
            <a:ext cx="1572768" cy="2651760"/>
          </a:xfrm>
          <a:prstGeom prst="rect">
            <a:avLst/>
          </a:prstGeom>
          <a:solidFill>
            <a:srgbClr val="FFFFFF"/>
          </a:solidFill>
          <a:ln w="12700">
            <a:solidFill>
              <a:srgbClr val="0D9488"/>
            </a:solidFill>
            <a:prstDash val="solid"/>
          </a:ln>
          <a:effectLst>
            <a:outerShdw blurRad="76200" dist="25400" dir="8100000" algn="bl" rotWithShape="0">
              <a:srgbClr val="000000">
                <a:alpha val="8000"/>
              </a:srgbClr>
            </a:outerShdw>
          </a:effectLst>
        </p:spPr>
        <p:txBody>
          <a:bodyPr/>
          <a:lstStyle/>
          <a:p>
            <a:endParaRPr lang="en-US"/>
          </a:p>
        </p:txBody>
      </p:sp>
      <p:sp>
        <p:nvSpPr>
          <p:cNvPr id="13" name="Shape 11"/>
          <p:cNvSpPr/>
          <p:nvPr/>
        </p:nvSpPr>
        <p:spPr>
          <a:xfrm>
            <a:off x="1993392" y="1691640"/>
            <a:ext cx="1572768" cy="475488"/>
          </a:xfrm>
          <a:prstGeom prst="rect">
            <a:avLst/>
          </a:prstGeom>
          <a:solidFill>
            <a:srgbClr val="0D9488"/>
          </a:solidFill>
          <a:ln w="12700">
            <a:solidFill>
              <a:srgbClr val="0D9488"/>
            </a:solidFill>
            <a:prstDash val="solid"/>
          </a:ln>
        </p:spPr>
        <p:txBody>
          <a:bodyPr/>
          <a:lstStyle/>
          <a:p>
            <a:endParaRPr lang="en-US"/>
          </a:p>
        </p:txBody>
      </p:sp>
      <p:sp>
        <p:nvSpPr>
          <p:cNvPr id="14" name="Text 12"/>
          <p:cNvSpPr/>
          <p:nvPr/>
        </p:nvSpPr>
        <p:spPr>
          <a:xfrm>
            <a:off x="1993392" y="1691640"/>
            <a:ext cx="157276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02</a:t>
            </a:r>
            <a:endParaRPr lang="en-US" sz="2000" dirty="0"/>
          </a:p>
        </p:txBody>
      </p:sp>
      <p:sp>
        <p:nvSpPr>
          <p:cNvPr id="15" name="Text 13"/>
          <p:cNvSpPr/>
          <p:nvPr/>
        </p:nvSpPr>
        <p:spPr>
          <a:xfrm>
            <a:off x="2066544" y="2221992"/>
            <a:ext cx="1426464" cy="1371600"/>
          </a:xfrm>
          <a:prstGeom prst="rect">
            <a:avLst/>
          </a:prstGeom>
          <a:noFill/>
          <a:ln/>
        </p:spPr>
        <p:txBody>
          <a:bodyPr wrap="square" rtlCol="0" anchor="ctr"/>
          <a:lstStyle/>
          <a:p>
            <a:pPr marL="0" indent="0" algn="ctr">
              <a:buNone/>
            </a:pPr>
            <a:r>
              <a:rPr lang="en-US" sz="1200" b="1" dirty="0">
                <a:solidFill>
                  <a:srgbClr val="1B2A5E"/>
                </a:solidFill>
                <a:latin typeface="Calibri" pitchFamily="34" charset="0"/>
                <a:ea typeface="Calibri" pitchFamily="34" charset="-122"/>
                <a:cs typeface="Calibri" pitchFamily="34" charset="-120"/>
              </a:rPr>
              <a:t>Oyshie Ahmed</a:t>
            </a:r>
            <a:endParaRPr lang="en-US" sz="1200" dirty="0"/>
          </a:p>
        </p:txBody>
      </p:sp>
      <p:sp>
        <p:nvSpPr>
          <p:cNvPr id="16" name="Shape 14"/>
          <p:cNvSpPr/>
          <p:nvPr/>
        </p:nvSpPr>
        <p:spPr>
          <a:xfrm>
            <a:off x="2084832" y="3703320"/>
            <a:ext cx="1389888" cy="36576"/>
          </a:xfrm>
          <a:prstGeom prst="rect">
            <a:avLst/>
          </a:prstGeom>
          <a:solidFill>
            <a:srgbClr val="CCFBF1"/>
          </a:solidFill>
          <a:ln w="12700">
            <a:solidFill>
              <a:srgbClr val="CCFBF1"/>
            </a:solidFill>
            <a:prstDash val="solid"/>
          </a:ln>
        </p:spPr>
        <p:txBody>
          <a:bodyPr/>
          <a:lstStyle/>
          <a:p>
            <a:endParaRPr lang="en-US"/>
          </a:p>
        </p:txBody>
      </p:sp>
      <p:sp>
        <p:nvSpPr>
          <p:cNvPr id="17" name="Text 15"/>
          <p:cNvSpPr/>
          <p:nvPr/>
        </p:nvSpPr>
        <p:spPr>
          <a:xfrm>
            <a:off x="2039112" y="3776472"/>
            <a:ext cx="1481328" cy="457200"/>
          </a:xfrm>
          <a:prstGeom prst="rect">
            <a:avLst/>
          </a:prstGeom>
          <a:noFill/>
          <a:ln/>
        </p:spPr>
        <p:txBody>
          <a:bodyPr wrap="square"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ID: 2024100000188</a:t>
            </a:r>
            <a:endParaRPr lang="en-US" sz="1000" dirty="0"/>
          </a:p>
        </p:txBody>
      </p:sp>
      <p:sp>
        <p:nvSpPr>
          <p:cNvPr id="18" name="Shape 16"/>
          <p:cNvSpPr/>
          <p:nvPr/>
        </p:nvSpPr>
        <p:spPr>
          <a:xfrm>
            <a:off x="3621024" y="1691640"/>
            <a:ext cx="1572768" cy="2651760"/>
          </a:xfrm>
          <a:prstGeom prst="rect">
            <a:avLst/>
          </a:prstGeom>
          <a:solidFill>
            <a:srgbClr val="FFFFFF"/>
          </a:solidFill>
          <a:ln w="12700">
            <a:solidFill>
              <a:srgbClr val="0D9488"/>
            </a:solidFill>
            <a:prstDash val="solid"/>
          </a:ln>
          <a:effectLst>
            <a:outerShdw blurRad="76200" dist="25400" dir="8100000" algn="bl" rotWithShape="0">
              <a:srgbClr val="000000">
                <a:alpha val="8000"/>
              </a:srgbClr>
            </a:outerShdw>
          </a:effectLst>
        </p:spPr>
        <p:txBody>
          <a:bodyPr/>
          <a:lstStyle/>
          <a:p>
            <a:endParaRPr lang="en-US"/>
          </a:p>
        </p:txBody>
      </p:sp>
      <p:sp>
        <p:nvSpPr>
          <p:cNvPr id="19" name="Shape 17"/>
          <p:cNvSpPr/>
          <p:nvPr/>
        </p:nvSpPr>
        <p:spPr>
          <a:xfrm>
            <a:off x="3621024" y="1691640"/>
            <a:ext cx="1572768" cy="475488"/>
          </a:xfrm>
          <a:prstGeom prst="rect">
            <a:avLst/>
          </a:prstGeom>
          <a:solidFill>
            <a:srgbClr val="0D9488"/>
          </a:solidFill>
          <a:ln w="12700">
            <a:solidFill>
              <a:srgbClr val="0D9488"/>
            </a:solidFill>
            <a:prstDash val="solid"/>
          </a:ln>
        </p:spPr>
        <p:txBody>
          <a:bodyPr/>
          <a:lstStyle/>
          <a:p>
            <a:endParaRPr lang="en-US"/>
          </a:p>
        </p:txBody>
      </p:sp>
      <p:sp>
        <p:nvSpPr>
          <p:cNvPr id="20" name="Text 18"/>
          <p:cNvSpPr/>
          <p:nvPr/>
        </p:nvSpPr>
        <p:spPr>
          <a:xfrm>
            <a:off x="3621024" y="1691640"/>
            <a:ext cx="157276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03</a:t>
            </a:r>
            <a:endParaRPr lang="en-US" sz="2000" dirty="0"/>
          </a:p>
        </p:txBody>
      </p:sp>
      <p:sp>
        <p:nvSpPr>
          <p:cNvPr id="21" name="Text 19"/>
          <p:cNvSpPr/>
          <p:nvPr/>
        </p:nvSpPr>
        <p:spPr>
          <a:xfrm>
            <a:off x="3694176" y="2221992"/>
            <a:ext cx="1426464" cy="1371600"/>
          </a:xfrm>
          <a:prstGeom prst="rect">
            <a:avLst/>
          </a:prstGeom>
          <a:noFill/>
          <a:ln/>
        </p:spPr>
        <p:txBody>
          <a:bodyPr wrap="square" rtlCol="0" anchor="ctr"/>
          <a:lstStyle/>
          <a:p>
            <a:pPr marL="0" indent="0" algn="ctr">
              <a:buNone/>
            </a:pPr>
            <a:r>
              <a:rPr lang="en-US" sz="1200" b="1" dirty="0">
                <a:solidFill>
                  <a:srgbClr val="1B2A5E"/>
                </a:solidFill>
                <a:latin typeface="Calibri" pitchFamily="34" charset="0"/>
                <a:ea typeface="Calibri" pitchFamily="34" charset="-122"/>
                <a:cs typeface="Calibri" pitchFamily="34" charset="-120"/>
              </a:rPr>
              <a:t>Sourav Chandra Ghosh</a:t>
            </a:r>
            <a:endParaRPr lang="en-US" sz="1200" dirty="0"/>
          </a:p>
        </p:txBody>
      </p:sp>
      <p:sp>
        <p:nvSpPr>
          <p:cNvPr id="22" name="Shape 20"/>
          <p:cNvSpPr/>
          <p:nvPr/>
        </p:nvSpPr>
        <p:spPr>
          <a:xfrm>
            <a:off x="3712464" y="3703320"/>
            <a:ext cx="1389888" cy="36576"/>
          </a:xfrm>
          <a:prstGeom prst="rect">
            <a:avLst/>
          </a:prstGeom>
          <a:solidFill>
            <a:srgbClr val="CCFBF1"/>
          </a:solidFill>
          <a:ln w="12700">
            <a:solidFill>
              <a:srgbClr val="CCFBF1"/>
            </a:solidFill>
            <a:prstDash val="solid"/>
          </a:ln>
        </p:spPr>
        <p:txBody>
          <a:bodyPr/>
          <a:lstStyle/>
          <a:p>
            <a:endParaRPr lang="en-US"/>
          </a:p>
        </p:txBody>
      </p:sp>
      <p:sp>
        <p:nvSpPr>
          <p:cNvPr id="23" name="Text 21"/>
          <p:cNvSpPr/>
          <p:nvPr/>
        </p:nvSpPr>
        <p:spPr>
          <a:xfrm>
            <a:off x="3666744" y="3776472"/>
            <a:ext cx="1481328" cy="457200"/>
          </a:xfrm>
          <a:prstGeom prst="rect">
            <a:avLst/>
          </a:prstGeom>
          <a:noFill/>
          <a:ln/>
        </p:spPr>
        <p:txBody>
          <a:bodyPr wrap="square"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ID: 2023200000826</a:t>
            </a:r>
            <a:endParaRPr lang="en-US" sz="1000" dirty="0"/>
          </a:p>
        </p:txBody>
      </p:sp>
      <p:sp>
        <p:nvSpPr>
          <p:cNvPr id="24" name="Shape 22"/>
          <p:cNvSpPr/>
          <p:nvPr/>
        </p:nvSpPr>
        <p:spPr>
          <a:xfrm>
            <a:off x="5248656" y="1691640"/>
            <a:ext cx="1572768" cy="2651760"/>
          </a:xfrm>
          <a:prstGeom prst="rect">
            <a:avLst/>
          </a:prstGeom>
          <a:solidFill>
            <a:srgbClr val="FFFFFF"/>
          </a:solidFill>
          <a:ln w="12700">
            <a:solidFill>
              <a:srgbClr val="0D9488"/>
            </a:solidFill>
            <a:prstDash val="solid"/>
          </a:ln>
          <a:effectLst>
            <a:outerShdw blurRad="76200" dist="25400" dir="8100000" algn="bl" rotWithShape="0">
              <a:srgbClr val="000000">
                <a:alpha val="8000"/>
              </a:srgbClr>
            </a:outerShdw>
          </a:effectLst>
        </p:spPr>
        <p:txBody>
          <a:bodyPr/>
          <a:lstStyle/>
          <a:p>
            <a:endParaRPr lang="en-US"/>
          </a:p>
        </p:txBody>
      </p:sp>
      <p:sp>
        <p:nvSpPr>
          <p:cNvPr id="25" name="Shape 23"/>
          <p:cNvSpPr/>
          <p:nvPr/>
        </p:nvSpPr>
        <p:spPr>
          <a:xfrm>
            <a:off x="5248656" y="1691640"/>
            <a:ext cx="1572768" cy="475488"/>
          </a:xfrm>
          <a:prstGeom prst="rect">
            <a:avLst/>
          </a:prstGeom>
          <a:solidFill>
            <a:srgbClr val="0D9488"/>
          </a:solidFill>
          <a:ln w="12700">
            <a:solidFill>
              <a:srgbClr val="0D9488"/>
            </a:solidFill>
            <a:prstDash val="solid"/>
          </a:ln>
        </p:spPr>
        <p:txBody>
          <a:bodyPr/>
          <a:lstStyle/>
          <a:p>
            <a:endParaRPr lang="en-US"/>
          </a:p>
        </p:txBody>
      </p:sp>
      <p:sp>
        <p:nvSpPr>
          <p:cNvPr id="26" name="Text 24"/>
          <p:cNvSpPr/>
          <p:nvPr/>
        </p:nvSpPr>
        <p:spPr>
          <a:xfrm>
            <a:off x="5248656" y="1691640"/>
            <a:ext cx="157276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04</a:t>
            </a:r>
            <a:endParaRPr lang="en-US" sz="2000" dirty="0"/>
          </a:p>
        </p:txBody>
      </p:sp>
      <p:sp>
        <p:nvSpPr>
          <p:cNvPr id="27" name="Text 25"/>
          <p:cNvSpPr/>
          <p:nvPr/>
        </p:nvSpPr>
        <p:spPr>
          <a:xfrm>
            <a:off x="5321808" y="2221992"/>
            <a:ext cx="1426464" cy="1371600"/>
          </a:xfrm>
          <a:prstGeom prst="rect">
            <a:avLst/>
          </a:prstGeom>
          <a:noFill/>
          <a:ln/>
        </p:spPr>
        <p:txBody>
          <a:bodyPr wrap="square" rtlCol="0" anchor="ctr"/>
          <a:lstStyle/>
          <a:p>
            <a:pPr marL="0" indent="0" algn="ctr">
              <a:buNone/>
            </a:pPr>
            <a:r>
              <a:rPr lang="en-US" sz="1200" b="1" dirty="0">
                <a:solidFill>
                  <a:srgbClr val="1B2A5E"/>
                </a:solidFill>
                <a:latin typeface="Calibri" pitchFamily="34" charset="0"/>
                <a:ea typeface="Calibri" pitchFamily="34" charset="-122"/>
                <a:cs typeface="Calibri" pitchFamily="34" charset="-120"/>
              </a:rPr>
              <a:t>Mst. Saima Jahan Satu</a:t>
            </a:r>
            <a:endParaRPr lang="en-US" sz="1200" dirty="0"/>
          </a:p>
        </p:txBody>
      </p:sp>
      <p:sp>
        <p:nvSpPr>
          <p:cNvPr id="28" name="Shape 26"/>
          <p:cNvSpPr/>
          <p:nvPr/>
        </p:nvSpPr>
        <p:spPr>
          <a:xfrm>
            <a:off x="5340096" y="3703320"/>
            <a:ext cx="1389888" cy="36576"/>
          </a:xfrm>
          <a:prstGeom prst="rect">
            <a:avLst/>
          </a:prstGeom>
          <a:solidFill>
            <a:srgbClr val="CCFBF1"/>
          </a:solidFill>
          <a:ln w="12700">
            <a:solidFill>
              <a:srgbClr val="CCFBF1"/>
            </a:solidFill>
            <a:prstDash val="solid"/>
          </a:ln>
        </p:spPr>
        <p:txBody>
          <a:bodyPr/>
          <a:lstStyle/>
          <a:p>
            <a:endParaRPr lang="en-US"/>
          </a:p>
        </p:txBody>
      </p:sp>
      <p:sp>
        <p:nvSpPr>
          <p:cNvPr id="29" name="Text 27"/>
          <p:cNvSpPr/>
          <p:nvPr/>
        </p:nvSpPr>
        <p:spPr>
          <a:xfrm>
            <a:off x="5294376" y="3776472"/>
            <a:ext cx="1481328" cy="457200"/>
          </a:xfrm>
          <a:prstGeom prst="rect">
            <a:avLst/>
          </a:prstGeom>
          <a:noFill/>
          <a:ln/>
        </p:spPr>
        <p:txBody>
          <a:bodyPr wrap="square"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ID: 2024100000562</a:t>
            </a:r>
            <a:endParaRPr lang="en-US" sz="1000" dirty="0"/>
          </a:p>
        </p:txBody>
      </p:sp>
      <p:sp>
        <p:nvSpPr>
          <p:cNvPr id="30" name="Shape 28"/>
          <p:cNvSpPr/>
          <p:nvPr/>
        </p:nvSpPr>
        <p:spPr>
          <a:xfrm>
            <a:off x="6876288" y="1691640"/>
            <a:ext cx="1572768" cy="2651760"/>
          </a:xfrm>
          <a:prstGeom prst="rect">
            <a:avLst/>
          </a:prstGeom>
          <a:solidFill>
            <a:srgbClr val="FFFFFF"/>
          </a:solidFill>
          <a:ln w="12700">
            <a:solidFill>
              <a:srgbClr val="0D9488"/>
            </a:solidFill>
            <a:prstDash val="solid"/>
          </a:ln>
          <a:effectLst>
            <a:outerShdw blurRad="76200" dist="25400" dir="8100000" algn="bl" rotWithShape="0">
              <a:srgbClr val="000000">
                <a:alpha val="8000"/>
              </a:srgbClr>
            </a:outerShdw>
          </a:effectLst>
        </p:spPr>
        <p:txBody>
          <a:bodyPr/>
          <a:lstStyle/>
          <a:p>
            <a:endParaRPr lang="en-US"/>
          </a:p>
        </p:txBody>
      </p:sp>
      <p:sp>
        <p:nvSpPr>
          <p:cNvPr id="31" name="Shape 29"/>
          <p:cNvSpPr/>
          <p:nvPr/>
        </p:nvSpPr>
        <p:spPr>
          <a:xfrm>
            <a:off x="6876288" y="1691640"/>
            <a:ext cx="1572768" cy="475488"/>
          </a:xfrm>
          <a:prstGeom prst="rect">
            <a:avLst/>
          </a:prstGeom>
          <a:solidFill>
            <a:srgbClr val="0D9488"/>
          </a:solidFill>
          <a:ln w="12700">
            <a:solidFill>
              <a:srgbClr val="0D9488"/>
            </a:solidFill>
            <a:prstDash val="solid"/>
          </a:ln>
        </p:spPr>
        <p:txBody>
          <a:bodyPr/>
          <a:lstStyle/>
          <a:p>
            <a:endParaRPr lang="en-US"/>
          </a:p>
        </p:txBody>
      </p:sp>
      <p:sp>
        <p:nvSpPr>
          <p:cNvPr id="32" name="Text 30"/>
          <p:cNvSpPr/>
          <p:nvPr/>
        </p:nvSpPr>
        <p:spPr>
          <a:xfrm>
            <a:off x="6876288" y="1691640"/>
            <a:ext cx="157276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05</a:t>
            </a:r>
            <a:endParaRPr lang="en-US" sz="2000" dirty="0"/>
          </a:p>
        </p:txBody>
      </p:sp>
      <p:sp>
        <p:nvSpPr>
          <p:cNvPr id="33" name="Text 31"/>
          <p:cNvSpPr/>
          <p:nvPr/>
        </p:nvSpPr>
        <p:spPr>
          <a:xfrm>
            <a:off x="6949440" y="2221992"/>
            <a:ext cx="1426464" cy="1371600"/>
          </a:xfrm>
          <a:prstGeom prst="rect">
            <a:avLst/>
          </a:prstGeom>
          <a:noFill/>
          <a:ln/>
        </p:spPr>
        <p:txBody>
          <a:bodyPr wrap="square" rtlCol="0" anchor="ctr"/>
          <a:lstStyle/>
          <a:p>
            <a:pPr marL="0" indent="0" algn="ctr">
              <a:buNone/>
            </a:pPr>
            <a:r>
              <a:rPr lang="en-US" sz="1200" b="1" dirty="0">
                <a:solidFill>
                  <a:srgbClr val="1B2A5E"/>
                </a:solidFill>
                <a:latin typeface="Calibri" pitchFamily="34" charset="0"/>
                <a:ea typeface="Calibri" pitchFamily="34" charset="-122"/>
                <a:cs typeface="Calibri" pitchFamily="34" charset="-120"/>
              </a:rPr>
              <a:t>Sharzid Ahamed Ratul</a:t>
            </a:r>
            <a:endParaRPr lang="en-US" sz="1200" dirty="0"/>
          </a:p>
        </p:txBody>
      </p:sp>
      <p:sp>
        <p:nvSpPr>
          <p:cNvPr id="34" name="Shape 32"/>
          <p:cNvSpPr/>
          <p:nvPr/>
        </p:nvSpPr>
        <p:spPr>
          <a:xfrm>
            <a:off x="6967728" y="3703320"/>
            <a:ext cx="1389888" cy="36576"/>
          </a:xfrm>
          <a:prstGeom prst="rect">
            <a:avLst/>
          </a:prstGeom>
          <a:solidFill>
            <a:srgbClr val="CCFBF1"/>
          </a:solidFill>
          <a:ln w="12700">
            <a:solidFill>
              <a:srgbClr val="CCFBF1"/>
            </a:solidFill>
            <a:prstDash val="solid"/>
          </a:ln>
        </p:spPr>
        <p:txBody>
          <a:bodyPr/>
          <a:lstStyle/>
          <a:p>
            <a:endParaRPr lang="en-US"/>
          </a:p>
        </p:txBody>
      </p:sp>
      <p:sp>
        <p:nvSpPr>
          <p:cNvPr id="35" name="Text 33"/>
          <p:cNvSpPr/>
          <p:nvPr/>
        </p:nvSpPr>
        <p:spPr>
          <a:xfrm>
            <a:off x="6922008" y="3776472"/>
            <a:ext cx="1481328" cy="457200"/>
          </a:xfrm>
          <a:prstGeom prst="rect">
            <a:avLst/>
          </a:prstGeom>
          <a:noFill/>
          <a:ln/>
        </p:spPr>
        <p:txBody>
          <a:bodyPr wrap="square"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ID: 2024100000142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5E"/>
          </a:solidFill>
          <a:ln w="12700">
            <a:solidFill>
              <a:srgbClr val="1B2A5E"/>
            </a:solidFill>
            <a:prstDash val="solid"/>
          </a:ln>
        </p:spPr>
        <p:txBody>
          <a:bodyPr/>
          <a:lstStyle/>
          <a:p>
            <a:endParaRPr lang="en-US"/>
          </a:p>
        </p:txBody>
      </p:sp>
      <p:sp>
        <p:nvSpPr>
          <p:cNvPr id="3" name="Text 1"/>
          <p:cNvSpPr/>
          <p:nvPr/>
        </p:nvSpPr>
        <p:spPr>
          <a:xfrm>
            <a:off x="365760" y="73152"/>
            <a:ext cx="8412480" cy="768096"/>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Project Introduction</a:t>
            </a:r>
            <a:endParaRPr lang="en-US" sz="2800" dirty="0"/>
          </a:p>
        </p:txBody>
      </p:sp>
      <p:sp>
        <p:nvSpPr>
          <p:cNvPr id="4" name="Shape 2"/>
          <p:cNvSpPr/>
          <p:nvPr/>
        </p:nvSpPr>
        <p:spPr>
          <a:xfrm>
            <a:off x="365760" y="1051560"/>
            <a:ext cx="4023360" cy="3474720"/>
          </a:xfrm>
          <a:prstGeom prst="rect">
            <a:avLst/>
          </a:prstGeom>
          <a:solidFill>
            <a:srgbClr val="FFFFFF"/>
          </a:solidFill>
          <a:ln w="12700">
            <a:solidFill>
              <a:srgbClr val="0D9488"/>
            </a:solidFill>
            <a:prstDash val="solid"/>
          </a:ln>
          <a:effectLst>
            <a:outerShdw blurRad="63500" dist="25400" dir="8100000" algn="bl" rotWithShape="0">
              <a:srgbClr val="000000">
                <a:alpha val="8000"/>
              </a:srgbClr>
            </a:outerShdw>
          </a:effectLst>
        </p:spPr>
        <p:txBody>
          <a:bodyPr/>
          <a:lstStyle/>
          <a:p>
            <a:endParaRPr lang="en-US"/>
          </a:p>
        </p:txBody>
      </p:sp>
      <p:sp>
        <p:nvSpPr>
          <p:cNvPr id="5" name="Shape 3"/>
          <p:cNvSpPr/>
          <p:nvPr/>
        </p:nvSpPr>
        <p:spPr>
          <a:xfrm>
            <a:off x="365760" y="1051560"/>
            <a:ext cx="4023360" cy="457200"/>
          </a:xfrm>
          <a:prstGeom prst="rect">
            <a:avLst/>
          </a:prstGeom>
          <a:solidFill>
            <a:srgbClr val="0D9488"/>
          </a:solidFill>
          <a:ln w="12700">
            <a:solidFill>
              <a:srgbClr val="0D948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502920" y="1088136"/>
            <a:ext cx="347472" cy="347472"/>
          </a:xfrm>
          <a:prstGeom prst="rect">
            <a:avLst/>
          </a:prstGeom>
        </p:spPr>
      </p:pic>
      <p:sp>
        <p:nvSpPr>
          <p:cNvPr id="7" name="Text 4"/>
          <p:cNvSpPr/>
          <p:nvPr/>
        </p:nvSpPr>
        <p:spPr>
          <a:xfrm>
            <a:off x="914400" y="1088136"/>
            <a:ext cx="3383280" cy="40233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What is This System?</a:t>
            </a:r>
            <a:endParaRPr lang="en-US" sz="1400" dirty="0"/>
          </a:p>
        </p:txBody>
      </p:sp>
      <p:sp>
        <p:nvSpPr>
          <p:cNvPr id="8" name="Text 5"/>
          <p:cNvSpPr/>
          <p:nvPr/>
        </p:nvSpPr>
        <p:spPr>
          <a:xfrm>
            <a:off x="502920" y="1600200"/>
            <a:ext cx="3749040" cy="2834640"/>
          </a:xfrm>
          <a:prstGeom prst="rect">
            <a:avLst/>
          </a:prstGeom>
          <a:noFill/>
          <a:ln/>
        </p:spPr>
        <p:txBody>
          <a:bodyPr wrap="square" rtlCol="0" anchor="ctr"/>
          <a:lstStyle/>
          <a:p>
            <a:pPr marL="342900" indent="-342900">
              <a:spcAft>
                <a:spcPts val="500"/>
              </a:spcAft>
              <a:buSzPct val="100000"/>
              <a:buChar char="•"/>
            </a:pPr>
            <a:r>
              <a:rPr lang="en-US" sz="1300" dirty="0">
                <a:solidFill>
                  <a:srgbClr val="475569"/>
                </a:solidFill>
                <a:latin typeface="Calibri" pitchFamily="34" charset="0"/>
                <a:ea typeface="Calibri" pitchFamily="34" charset="-122"/>
                <a:cs typeface="Calibri" pitchFamily="34" charset="-120"/>
              </a:rPr>
              <a:t>A desktop application built using Java Swing</a:t>
            </a:r>
            <a:endParaRPr lang="en-US" sz="1300" dirty="0"/>
          </a:p>
          <a:p>
            <a:pPr marL="342900" indent="-342900">
              <a:spcAft>
                <a:spcPts val="500"/>
              </a:spcAft>
              <a:buSzPct val="100000"/>
              <a:buChar char="•"/>
            </a:pPr>
            <a:r>
              <a:rPr lang="en-US" sz="1300" dirty="0">
                <a:solidFill>
                  <a:srgbClr val="475569"/>
                </a:solidFill>
                <a:latin typeface="Calibri" pitchFamily="34" charset="0"/>
                <a:ea typeface="Calibri" pitchFamily="34" charset="-122"/>
                <a:cs typeface="Calibri" pitchFamily="34" charset="-120"/>
              </a:rPr>
              <a:t>Helps cafeteria staff manage food items easily</a:t>
            </a:r>
            <a:endParaRPr lang="en-US" sz="1300" dirty="0"/>
          </a:p>
          <a:p>
            <a:pPr marL="342900" indent="-342900">
              <a:spcAft>
                <a:spcPts val="500"/>
              </a:spcAft>
              <a:buSzPct val="100000"/>
              <a:buChar char="•"/>
            </a:pPr>
            <a:r>
              <a:rPr lang="en-US" sz="1300" dirty="0">
                <a:solidFill>
                  <a:srgbClr val="475569"/>
                </a:solidFill>
                <a:latin typeface="Calibri" pitchFamily="34" charset="0"/>
                <a:ea typeface="Calibri" pitchFamily="34" charset="-122"/>
                <a:cs typeface="Calibri" pitchFamily="34" charset="-120"/>
              </a:rPr>
              <a:t>Helps customers browse the menu and place orders</a:t>
            </a:r>
            <a:endParaRPr lang="en-US" sz="1300" dirty="0"/>
          </a:p>
          <a:p>
            <a:pPr marL="342900" indent="-342900">
              <a:spcAft>
                <a:spcPts val="500"/>
              </a:spcAft>
              <a:buSzPct val="100000"/>
              <a:buChar char="•"/>
            </a:pPr>
            <a:r>
              <a:rPr lang="en-US" sz="1300" dirty="0">
                <a:solidFill>
                  <a:srgbClr val="475569"/>
                </a:solidFill>
                <a:latin typeface="Calibri" pitchFamily="34" charset="0"/>
                <a:ea typeface="Calibri" pitchFamily="34" charset="-122"/>
                <a:cs typeface="Calibri" pitchFamily="34" charset="-120"/>
              </a:rPr>
              <a:t>Stores all data permanently using File Handling</a:t>
            </a:r>
            <a:endParaRPr lang="en-US" sz="1300" dirty="0"/>
          </a:p>
          <a:p>
            <a:pPr marL="342900" indent="-342900">
              <a:spcAft>
                <a:spcPts val="500"/>
              </a:spcAft>
              <a:buSzPct val="100000"/>
              <a:buChar char="•"/>
            </a:pPr>
            <a:r>
              <a:rPr lang="en-US" sz="1300" dirty="0">
                <a:solidFill>
                  <a:srgbClr val="475569"/>
                </a:solidFill>
                <a:latin typeface="Calibri" pitchFamily="34" charset="0"/>
                <a:ea typeface="Calibri" pitchFamily="34" charset="-122"/>
                <a:cs typeface="Calibri" pitchFamily="34" charset="-120"/>
              </a:rPr>
              <a:t>Runs on any computer with Java installed</a:t>
            </a:r>
            <a:endParaRPr lang="en-US" sz="1300" dirty="0"/>
          </a:p>
        </p:txBody>
      </p:sp>
      <p:sp>
        <p:nvSpPr>
          <p:cNvPr id="9" name="Shape 6"/>
          <p:cNvSpPr/>
          <p:nvPr/>
        </p:nvSpPr>
        <p:spPr>
          <a:xfrm>
            <a:off x="4754880" y="1051560"/>
            <a:ext cx="4023360" cy="3474720"/>
          </a:xfrm>
          <a:prstGeom prst="rect">
            <a:avLst/>
          </a:prstGeom>
          <a:solidFill>
            <a:srgbClr val="FFFFFF"/>
          </a:solidFill>
          <a:ln w="12700">
            <a:solidFill>
              <a:srgbClr val="F59E0B"/>
            </a:solidFill>
            <a:prstDash val="solid"/>
          </a:ln>
          <a:effectLst>
            <a:outerShdw blurRad="63500" dist="25400" dir="8100000" algn="bl" rotWithShape="0">
              <a:srgbClr val="000000">
                <a:alpha val="8000"/>
              </a:srgbClr>
            </a:outerShdw>
          </a:effectLst>
        </p:spPr>
        <p:txBody>
          <a:bodyPr/>
          <a:lstStyle/>
          <a:p>
            <a:endParaRPr lang="en-US"/>
          </a:p>
        </p:txBody>
      </p:sp>
      <p:sp>
        <p:nvSpPr>
          <p:cNvPr id="10" name="Shape 7"/>
          <p:cNvSpPr/>
          <p:nvPr/>
        </p:nvSpPr>
        <p:spPr>
          <a:xfrm>
            <a:off x="4754880" y="1051560"/>
            <a:ext cx="4023360" cy="457200"/>
          </a:xfrm>
          <a:prstGeom prst="rect">
            <a:avLst/>
          </a:prstGeom>
          <a:solidFill>
            <a:srgbClr val="F59E0B"/>
          </a:solidFill>
          <a:ln w="12700">
            <a:solidFill>
              <a:srgbClr val="F59E0B"/>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892040" y="1088136"/>
            <a:ext cx="347472" cy="347472"/>
          </a:xfrm>
          <a:prstGeom prst="rect">
            <a:avLst/>
          </a:prstGeom>
        </p:spPr>
      </p:pic>
      <p:sp>
        <p:nvSpPr>
          <p:cNvPr id="12" name="Text 8"/>
          <p:cNvSpPr/>
          <p:nvPr/>
        </p:nvSpPr>
        <p:spPr>
          <a:xfrm>
            <a:off x="5303520" y="1088136"/>
            <a:ext cx="3383280" cy="40233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Why Was It Developed?</a:t>
            </a:r>
            <a:endParaRPr lang="en-US" sz="1400" dirty="0"/>
          </a:p>
        </p:txBody>
      </p:sp>
      <p:sp>
        <p:nvSpPr>
          <p:cNvPr id="13" name="Text 9"/>
          <p:cNvSpPr/>
          <p:nvPr/>
        </p:nvSpPr>
        <p:spPr>
          <a:xfrm>
            <a:off x="4892040" y="1600200"/>
            <a:ext cx="3749040" cy="2834640"/>
          </a:xfrm>
          <a:prstGeom prst="rect">
            <a:avLst/>
          </a:prstGeom>
          <a:noFill/>
          <a:ln/>
        </p:spPr>
        <p:txBody>
          <a:bodyPr wrap="square" rtlCol="0" anchor="ctr"/>
          <a:lstStyle/>
          <a:p>
            <a:pPr marL="342900" indent="-342900">
              <a:spcAft>
                <a:spcPts val="500"/>
              </a:spcAft>
              <a:buSzPct val="100000"/>
              <a:buChar char="•"/>
            </a:pPr>
            <a:r>
              <a:rPr lang="en-US" sz="1300" dirty="0">
                <a:solidFill>
                  <a:srgbClr val="475569"/>
                </a:solidFill>
                <a:latin typeface="Calibri" pitchFamily="34" charset="0"/>
                <a:ea typeface="Calibri" pitchFamily="34" charset="-122"/>
                <a:cs typeface="Calibri" pitchFamily="34" charset="-120"/>
              </a:rPr>
              <a:t>Traditional cafeterias use pen and paper</a:t>
            </a:r>
            <a:endParaRPr lang="en-US" sz="1300" dirty="0"/>
          </a:p>
          <a:p>
            <a:pPr marL="342900" indent="-342900">
              <a:spcAft>
                <a:spcPts val="500"/>
              </a:spcAft>
              <a:buSzPct val="100000"/>
              <a:buChar char="•"/>
            </a:pPr>
            <a:r>
              <a:rPr lang="en-US" sz="1300" dirty="0">
                <a:solidFill>
                  <a:srgbClr val="475569"/>
                </a:solidFill>
                <a:latin typeface="Calibri" pitchFamily="34" charset="0"/>
                <a:ea typeface="Calibri" pitchFamily="34" charset="-122"/>
                <a:cs typeface="Calibri" pitchFamily="34" charset="-120"/>
              </a:rPr>
              <a:t>Manual work causes errors and delays</a:t>
            </a:r>
            <a:endParaRPr lang="en-US" sz="1300" dirty="0"/>
          </a:p>
          <a:p>
            <a:pPr marL="342900" indent="-342900">
              <a:spcAft>
                <a:spcPts val="500"/>
              </a:spcAft>
              <a:buSzPct val="100000"/>
              <a:buChar char="•"/>
            </a:pPr>
            <a:r>
              <a:rPr lang="en-US" sz="1300" dirty="0">
                <a:solidFill>
                  <a:srgbClr val="475569"/>
                </a:solidFill>
                <a:latin typeface="Calibri" pitchFamily="34" charset="0"/>
                <a:ea typeface="Calibri" pitchFamily="34" charset="-122"/>
                <a:cs typeface="Calibri" pitchFamily="34" charset="-120"/>
              </a:rPr>
              <a:t>Hard to find food information quickly</a:t>
            </a:r>
            <a:endParaRPr lang="en-US" sz="1300" dirty="0"/>
          </a:p>
          <a:p>
            <a:pPr marL="342900" indent="-342900">
              <a:spcAft>
                <a:spcPts val="500"/>
              </a:spcAft>
              <a:buSzPct val="100000"/>
              <a:buChar char="•"/>
            </a:pPr>
            <a:r>
              <a:rPr lang="en-US" sz="1300" dirty="0">
                <a:solidFill>
                  <a:srgbClr val="475569"/>
                </a:solidFill>
                <a:latin typeface="Calibri" pitchFamily="34" charset="0"/>
                <a:ea typeface="Calibri" pitchFamily="34" charset="-122"/>
                <a:cs typeface="Calibri" pitchFamily="34" charset="-120"/>
              </a:rPr>
              <a:t>Orders are difficult to track</a:t>
            </a:r>
            <a:endParaRPr lang="en-US" sz="1300" dirty="0"/>
          </a:p>
          <a:p>
            <a:pPr marL="342900" indent="-342900">
              <a:spcAft>
                <a:spcPts val="500"/>
              </a:spcAft>
              <a:buSzPct val="100000"/>
              <a:buChar char="•"/>
            </a:pPr>
            <a:r>
              <a:rPr lang="en-US" sz="1300" dirty="0">
                <a:solidFill>
                  <a:srgbClr val="475569"/>
                </a:solidFill>
                <a:latin typeface="Calibri" pitchFamily="34" charset="0"/>
                <a:ea typeface="Calibri" pitchFamily="34" charset="-122"/>
                <a:cs typeface="Calibri" pitchFamily="34" charset="-120"/>
              </a:rPr>
              <a:t>We wanted to make it digital and easy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5E"/>
          </a:solidFill>
          <a:ln w="12700">
            <a:solidFill>
              <a:srgbClr val="1B2A5E"/>
            </a:solidFill>
            <a:prstDash val="solid"/>
          </a:ln>
        </p:spPr>
        <p:txBody>
          <a:bodyPr/>
          <a:lstStyle/>
          <a:p>
            <a:endParaRPr lang="en-US"/>
          </a:p>
        </p:txBody>
      </p:sp>
      <p:sp>
        <p:nvSpPr>
          <p:cNvPr id="3" name="Text 1"/>
          <p:cNvSpPr/>
          <p:nvPr/>
        </p:nvSpPr>
        <p:spPr>
          <a:xfrm>
            <a:off x="365760" y="73152"/>
            <a:ext cx="8412480" cy="768096"/>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Project Features</a:t>
            </a:r>
            <a:endParaRPr lang="en-US" sz="2800" dirty="0"/>
          </a:p>
        </p:txBody>
      </p:sp>
      <p:sp>
        <p:nvSpPr>
          <p:cNvPr id="4" name="Shape 2"/>
          <p:cNvSpPr/>
          <p:nvPr/>
        </p:nvSpPr>
        <p:spPr>
          <a:xfrm>
            <a:off x="320040" y="1078992"/>
            <a:ext cx="2011680" cy="1005840"/>
          </a:xfrm>
          <a:prstGeom prst="rect">
            <a:avLst/>
          </a:prstGeom>
          <a:solidFill>
            <a:srgbClr val="FFFFFF"/>
          </a:solidFill>
          <a:ln w="12700">
            <a:solidFill>
              <a:srgbClr val="0D9488"/>
            </a:solidFill>
            <a:prstDash val="solid"/>
          </a:ln>
          <a:effectLst>
            <a:outerShdw blurRad="50800" dist="25400" dir="8100000" algn="bl" rotWithShape="0">
              <a:srgbClr val="000000">
                <a:alpha val="7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457200" y="1335024"/>
            <a:ext cx="411480" cy="411480"/>
          </a:xfrm>
          <a:prstGeom prst="rect">
            <a:avLst/>
          </a:prstGeom>
        </p:spPr>
      </p:pic>
      <p:sp>
        <p:nvSpPr>
          <p:cNvPr id="6" name="Text 3"/>
          <p:cNvSpPr/>
          <p:nvPr/>
        </p:nvSpPr>
        <p:spPr>
          <a:xfrm>
            <a:off x="914400" y="1335024"/>
            <a:ext cx="1325880" cy="502920"/>
          </a:xfrm>
          <a:prstGeom prst="rect">
            <a:avLst/>
          </a:prstGeom>
          <a:noFill/>
          <a:ln/>
        </p:spPr>
        <p:txBody>
          <a:bodyPr wrap="square" lIns="0" tIns="0" rIns="0" bIns="0" rtlCol="0" anchor="ctr"/>
          <a:lstStyle/>
          <a:p>
            <a:pPr marL="0" indent="0">
              <a:buNone/>
            </a:pPr>
            <a:r>
              <a:rPr lang="en-US" sz="1200" b="1" dirty="0">
                <a:solidFill>
                  <a:srgbClr val="1B2A5E"/>
                </a:solidFill>
                <a:latin typeface="Calibri" pitchFamily="34" charset="0"/>
                <a:ea typeface="Calibri" pitchFamily="34" charset="-122"/>
                <a:cs typeface="Calibri" pitchFamily="34" charset="-120"/>
              </a:rPr>
              <a:t>Add Food Items</a:t>
            </a:r>
            <a:endParaRPr lang="en-US" sz="1200" dirty="0"/>
          </a:p>
        </p:txBody>
      </p:sp>
      <p:sp>
        <p:nvSpPr>
          <p:cNvPr id="7" name="Shape 4"/>
          <p:cNvSpPr/>
          <p:nvPr/>
        </p:nvSpPr>
        <p:spPr>
          <a:xfrm>
            <a:off x="2450592" y="1078992"/>
            <a:ext cx="2011680" cy="1005840"/>
          </a:xfrm>
          <a:prstGeom prst="rect">
            <a:avLst/>
          </a:prstGeom>
          <a:solidFill>
            <a:srgbClr val="FFFFFF"/>
          </a:solidFill>
          <a:ln w="12700">
            <a:solidFill>
              <a:srgbClr val="0D9488"/>
            </a:solidFill>
            <a:prstDash val="solid"/>
          </a:ln>
          <a:effectLst>
            <a:outerShdw blurRad="50800" dist="25400" dir="8100000" algn="bl" rotWithShape="0">
              <a:srgbClr val="000000">
                <a:alpha val="7000"/>
              </a:srgbClr>
            </a:outerShdw>
          </a:effectLst>
        </p:spPr>
        <p:txBody>
          <a:bodyPr/>
          <a:lstStyle/>
          <a:p>
            <a:endParaRPr lang="en-US"/>
          </a:p>
        </p:txBody>
      </p:sp>
      <p:pic>
        <p:nvPicPr>
          <p:cNvPr id="8" name="Image 1" descr="preencoded.png"/>
          <p:cNvPicPr>
            <a:picLocks noChangeAspect="1"/>
          </p:cNvPicPr>
          <p:nvPr/>
        </p:nvPicPr>
        <p:blipFill>
          <a:blip r:embed="rId4"/>
          <a:stretch>
            <a:fillRect/>
          </a:stretch>
        </p:blipFill>
        <p:spPr>
          <a:xfrm>
            <a:off x="2587752" y="1335024"/>
            <a:ext cx="411480" cy="411480"/>
          </a:xfrm>
          <a:prstGeom prst="rect">
            <a:avLst/>
          </a:prstGeom>
        </p:spPr>
      </p:pic>
      <p:sp>
        <p:nvSpPr>
          <p:cNvPr id="9" name="Text 5"/>
          <p:cNvSpPr/>
          <p:nvPr/>
        </p:nvSpPr>
        <p:spPr>
          <a:xfrm>
            <a:off x="3044952" y="1335024"/>
            <a:ext cx="1325880" cy="502920"/>
          </a:xfrm>
          <a:prstGeom prst="rect">
            <a:avLst/>
          </a:prstGeom>
          <a:noFill/>
          <a:ln/>
        </p:spPr>
        <p:txBody>
          <a:bodyPr wrap="square" lIns="0" tIns="0" rIns="0" bIns="0" rtlCol="0" anchor="ctr"/>
          <a:lstStyle/>
          <a:p>
            <a:pPr marL="0" indent="0">
              <a:buNone/>
            </a:pPr>
            <a:r>
              <a:rPr lang="en-US" sz="1200" b="1" dirty="0">
                <a:solidFill>
                  <a:srgbClr val="1B2A5E"/>
                </a:solidFill>
                <a:latin typeface="Calibri" pitchFamily="34" charset="0"/>
                <a:ea typeface="Calibri" pitchFamily="34" charset="-122"/>
                <a:cs typeface="Calibri" pitchFamily="34" charset="-120"/>
              </a:rPr>
              <a:t>Update Food Items</a:t>
            </a:r>
            <a:endParaRPr lang="en-US" sz="1200" dirty="0"/>
          </a:p>
        </p:txBody>
      </p:sp>
      <p:sp>
        <p:nvSpPr>
          <p:cNvPr id="10" name="Shape 6"/>
          <p:cNvSpPr/>
          <p:nvPr/>
        </p:nvSpPr>
        <p:spPr>
          <a:xfrm>
            <a:off x="4581144" y="1078992"/>
            <a:ext cx="2011680" cy="1005840"/>
          </a:xfrm>
          <a:prstGeom prst="rect">
            <a:avLst/>
          </a:prstGeom>
          <a:solidFill>
            <a:srgbClr val="FFFFFF"/>
          </a:solidFill>
          <a:ln w="12700">
            <a:solidFill>
              <a:srgbClr val="0D9488"/>
            </a:solidFill>
            <a:prstDash val="solid"/>
          </a:ln>
          <a:effectLst>
            <a:outerShdw blurRad="50800" dist="25400" dir="8100000" algn="bl" rotWithShape="0">
              <a:srgbClr val="000000">
                <a:alpha val="7000"/>
              </a:srgbClr>
            </a:outerShdw>
          </a:effectLst>
        </p:spPr>
        <p:txBody>
          <a:bodyPr/>
          <a:lstStyle/>
          <a:p>
            <a:endParaRPr lang="en-US"/>
          </a:p>
        </p:txBody>
      </p:sp>
      <p:pic>
        <p:nvPicPr>
          <p:cNvPr id="11" name="Image 2" descr="preencoded.png"/>
          <p:cNvPicPr>
            <a:picLocks noChangeAspect="1"/>
          </p:cNvPicPr>
          <p:nvPr/>
        </p:nvPicPr>
        <p:blipFill>
          <a:blip r:embed="rId5"/>
          <a:stretch>
            <a:fillRect/>
          </a:stretch>
        </p:blipFill>
        <p:spPr>
          <a:xfrm>
            <a:off x="4718304" y="1335024"/>
            <a:ext cx="411480" cy="411480"/>
          </a:xfrm>
          <a:prstGeom prst="rect">
            <a:avLst/>
          </a:prstGeom>
        </p:spPr>
      </p:pic>
      <p:sp>
        <p:nvSpPr>
          <p:cNvPr id="12" name="Text 7"/>
          <p:cNvSpPr/>
          <p:nvPr/>
        </p:nvSpPr>
        <p:spPr>
          <a:xfrm>
            <a:off x="5175504" y="1335024"/>
            <a:ext cx="1325880" cy="502920"/>
          </a:xfrm>
          <a:prstGeom prst="rect">
            <a:avLst/>
          </a:prstGeom>
          <a:noFill/>
          <a:ln/>
        </p:spPr>
        <p:txBody>
          <a:bodyPr wrap="square" lIns="0" tIns="0" rIns="0" bIns="0" rtlCol="0" anchor="ctr"/>
          <a:lstStyle/>
          <a:p>
            <a:pPr marL="0" indent="0">
              <a:buNone/>
            </a:pPr>
            <a:r>
              <a:rPr lang="en-US" sz="1200" b="1" dirty="0">
                <a:solidFill>
                  <a:srgbClr val="1B2A5E"/>
                </a:solidFill>
                <a:latin typeface="Calibri" pitchFamily="34" charset="0"/>
                <a:ea typeface="Calibri" pitchFamily="34" charset="-122"/>
                <a:cs typeface="Calibri" pitchFamily="34" charset="-120"/>
              </a:rPr>
              <a:t>Delete Food Items</a:t>
            </a:r>
            <a:endParaRPr lang="en-US" sz="1200" dirty="0"/>
          </a:p>
        </p:txBody>
      </p:sp>
      <p:sp>
        <p:nvSpPr>
          <p:cNvPr id="13" name="Shape 8"/>
          <p:cNvSpPr/>
          <p:nvPr/>
        </p:nvSpPr>
        <p:spPr>
          <a:xfrm>
            <a:off x="6711696" y="1078992"/>
            <a:ext cx="2011680" cy="1005840"/>
          </a:xfrm>
          <a:prstGeom prst="rect">
            <a:avLst/>
          </a:prstGeom>
          <a:solidFill>
            <a:srgbClr val="FFFFFF"/>
          </a:solidFill>
          <a:ln w="12700">
            <a:solidFill>
              <a:srgbClr val="0D9488"/>
            </a:solidFill>
            <a:prstDash val="solid"/>
          </a:ln>
          <a:effectLst>
            <a:outerShdw blurRad="50800" dist="25400" dir="8100000" algn="bl" rotWithShape="0">
              <a:srgbClr val="000000">
                <a:alpha val="7000"/>
              </a:srgbClr>
            </a:outerShdw>
          </a:effectLst>
        </p:spPr>
        <p:txBody>
          <a:bodyPr/>
          <a:lstStyle/>
          <a:p>
            <a:endParaRPr lang="en-US"/>
          </a:p>
        </p:txBody>
      </p:sp>
      <p:pic>
        <p:nvPicPr>
          <p:cNvPr id="14" name="Image 3" descr="preencoded.png"/>
          <p:cNvPicPr>
            <a:picLocks noChangeAspect="1"/>
          </p:cNvPicPr>
          <p:nvPr/>
        </p:nvPicPr>
        <p:blipFill>
          <a:blip r:embed="rId6"/>
          <a:stretch>
            <a:fillRect/>
          </a:stretch>
        </p:blipFill>
        <p:spPr>
          <a:xfrm>
            <a:off x="6848856" y="1335024"/>
            <a:ext cx="411480" cy="411480"/>
          </a:xfrm>
          <a:prstGeom prst="rect">
            <a:avLst/>
          </a:prstGeom>
        </p:spPr>
      </p:pic>
      <p:sp>
        <p:nvSpPr>
          <p:cNvPr id="15" name="Text 9"/>
          <p:cNvSpPr/>
          <p:nvPr/>
        </p:nvSpPr>
        <p:spPr>
          <a:xfrm>
            <a:off x="7306056" y="1335024"/>
            <a:ext cx="1325880" cy="502920"/>
          </a:xfrm>
          <a:prstGeom prst="rect">
            <a:avLst/>
          </a:prstGeom>
          <a:noFill/>
          <a:ln/>
        </p:spPr>
        <p:txBody>
          <a:bodyPr wrap="square" lIns="0" tIns="0" rIns="0" bIns="0" rtlCol="0" anchor="ctr"/>
          <a:lstStyle/>
          <a:p>
            <a:pPr marL="0" indent="0">
              <a:buNone/>
            </a:pPr>
            <a:r>
              <a:rPr lang="en-US" sz="1200" b="1" dirty="0">
                <a:solidFill>
                  <a:srgbClr val="1B2A5E"/>
                </a:solidFill>
                <a:latin typeface="Calibri" pitchFamily="34" charset="0"/>
                <a:ea typeface="Calibri" pitchFamily="34" charset="-122"/>
                <a:cs typeface="Calibri" pitchFamily="34" charset="-120"/>
              </a:rPr>
              <a:t>Search Food Items</a:t>
            </a:r>
            <a:endParaRPr lang="en-US" sz="1200" dirty="0"/>
          </a:p>
        </p:txBody>
      </p:sp>
      <p:sp>
        <p:nvSpPr>
          <p:cNvPr id="16" name="Shape 10"/>
          <p:cNvSpPr/>
          <p:nvPr/>
        </p:nvSpPr>
        <p:spPr>
          <a:xfrm>
            <a:off x="320040" y="2221992"/>
            <a:ext cx="2011680" cy="1005840"/>
          </a:xfrm>
          <a:prstGeom prst="rect">
            <a:avLst/>
          </a:prstGeom>
          <a:solidFill>
            <a:srgbClr val="FFFFFF"/>
          </a:solidFill>
          <a:ln w="12700">
            <a:solidFill>
              <a:srgbClr val="1B2A5E"/>
            </a:solidFill>
            <a:prstDash val="solid"/>
          </a:ln>
          <a:effectLst>
            <a:outerShdw blurRad="50800" dist="25400" dir="8100000" algn="bl" rotWithShape="0">
              <a:srgbClr val="000000">
                <a:alpha val="7000"/>
              </a:srgbClr>
            </a:outerShdw>
          </a:effectLst>
        </p:spPr>
        <p:txBody>
          <a:bodyPr/>
          <a:lstStyle/>
          <a:p>
            <a:endParaRPr lang="en-US"/>
          </a:p>
        </p:txBody>
      </p:sp>
      <p:pic>
        <p:nvPicPr>
          <p:cNvPr id="17" name="Image 4" descr="preencoded.png"/>
          <p:cNvPicPr>
            <a:picLocks noChangeAspect="1"/>
          </p:cNvPicPr>
          <p:nvPr/>
        </p:nvPicPr>
        <p:blipFill>
          <a:blip r:embed="rId7"/>
          <a:stretch>
            <a:fillRect/>
          </a:stretch>
        </p:blipFill>
        <p:spPr>
          <a:xfrm>
            <a:off x="457200" y="2478024"/>
            <a:ext cx="411480" cy="411480"/>
          </a:xfrm>
          <a:prstGeom prst="rect">
            <a:avLst/>
          </a:prstGeom>
        </p:spPr>
      </p:pic>
      <p:sp>
        <p:nvSpPr>
          <p:cNvPr id="18" name="Text 11"/>
          <p:cNvSpPr/>
          <p:nvPr/>
        </p:nvSpPr>
        <p:spPr>
          <a:xfrm>
            <a:off x="914400" y="2478024"/>
            <a:ext cx="1325880" cy="502920"/>
          </a:xfrm>
          <a:prstGeom prst="rect">
            <a:avLst/>
          </a:prstGeom>
          <a:noFill/>
          <a:ln/>
        </p:spPr>
        <p:txBody>
          <a:bodyPr wrap="square" lIns="0" tIns="0" rIns="0" bIns="0" rtlCol="0" anchor="ctr"/>
          <a:lstStyle/>
          <a:p>
            <a:pPr marL="0" indent="0">
              <a:buNone/>
            </a:pPr>
            <a:r>
              <a:rPr lang="en-US" sz="1200" b="1" dirty="0">
                <a:solidFill>
                  <a:srgbClr val="1B2A5E"/>
                </a:solidFill>
                <a:latin typeface="Calibri" pitchFamily="34" charset="0"/>
                <a:ea typeface="Calibri" pitchFamily="34" charset="-122"/>
                <a:cs typeface="Calibri" pitchFamily="34" charset="-120"/>
              </a:rPr>
              <a:t>Place Orders</a:t>
            </a:r>
            <a:endParaRPr lang="en-US" sz="1200" dirty="0"/>
          </a:p>
        </p:txBody>
      </p:sp>
      <p:sp>
        <p:nvSpPr>
          <p:cNvPr id="19" name="Shape 12"/>
          <p:cNvSpPr/>
          <p:nvPr/>
        </p:nvSpPr>
        <p:spPr>
          <a:xfrm>
            <a:off x="2450592" y="2221992"/>
            <a:ext cx="2011680" cy="1005840"/>
          </a:xfrm>
          <a:prstGeom prst="rect">
            <a:avLst/>
          </a:prstGeom>
          <a:solidFill>
            <a:srgbClr val="FFFFFF"/>
          </a:solidFill>
          <a:ln w="12700">
            <a:solidFill>
              <a:srgbClr val="1B2A5E"/>
            </a:solidFill>
            <a:prstDash val="solid"/>
          </a:ln>
          <a:effectLst>
            <a:outerShdw blurRad="50800" dist="25400" dir="8100000" algn="bl" rotWithShape="0">
              <a:srgbClr val="000000">
                <a:alpha val="7000"/>
              </a:srgbClr>
            </a:outerShdw>
          </a:effectLst>
        </p:spPr>
        <p:txBody>
          <a:bodyPr/>
          <a:lstStyle/>
          <a:p>
            <a:endParaRPr lang="en-US"/>
          </a:p>
        </p:txBody>
      </p:sp>
      <p:pic>
        <p:nvPicPr>
          <p:cNvPr id="20" name="Image 5" descr="preencoded.png"/>
          <p:cNvPicPr>
            <a:picLocks noChangeAspect="1"/>
          </p:cNvPicPr>
          <p:nvPr/>
        </p:nvPicPr>
        <p:blipFill>
          <a:blip r:embed="rId8"/>
          <a:stretch>
            <a:fillRect/>
          </a:stretch>
        </p:blipFill>
        <p:spPr>
          <a:xfrm>
            <a:off x="2587752" y="2478024"/>
            <a:ext cx="411480" cy="411480"/>
          </a:xfrm>
          <a:prstGeom prst="rect">
            <a:avLst/>
          </a:prstGeom>
        </p:spPr>
      </p:pic>
      <p:sp>
        <p:nvSpPr>
          <p:cNvPr id="21" name="Text 13"/>
          <p:cNvSpPr/>
          <p:nvPr/>
        </p:nvSpPr>
        <p:spPr>
          <a:xfrm>
            <a:off x="3044952" y="2478024"/>
            <a:ext cx="1325880" cy="502920"/>
          </a:xfrm>
          <a:prstGeom prst="rect">
            <a:avLst/>
          </a:prstGeom>
          <a:noFill/>
          <a:ln/>
        </p:spPr>
        <p:txBody>
          <a:bodyPr wrap="square" lIns="0" tIns="0" rIns="0" bIns="0" rtlCol="0" anchor="ctr"/>
          <a:lstStyle/>
          <a:p>
            <a:pPr marL="0" indent="0">
              <a:buNone/>
            </a:pPr>
            <a:r>
              <a:rPr lang="en-US" sz="1200" b="1" dirty="0">
                <a:solidFill>
                  <a:srgbClr val="1B2A5E"/>
                </a:solidFill>
                <a:latin typeface="Calibri" pitchFamily="34" charset="0"/>
                <a:ea typeface="Calibri" pitchFamily="34" charset="-122"/>
                <a:cs typeface="Calibri" pitchFamily="34" charset="-120"/>
              </a:rPr>
              <a:t>Multi-Item Cart</a:t>
            </a:r>
            <a:endParaRPr lang="en-US" sz="1200" dirty="0"/>
          </a:p>
        </p:txBody>
      </p:sp>
      <p:sp>
        <p:nvSpPr>
          <p:cNvPr id="22" name="Shape 14"/>
          <p:cNvSpPr/>
          <p:nvPr/>
        </p:nvSpPr>
        <p:spPr>
          <a:xfrm>
            <a:off x="4581144" y="2221992"/>
            <a:ext cx="2011680" cy="1005840"/>
          </a:xfrm>
          <a:prstGeom prst="rect">
            <a:avLst/>
          </a:prstGeom>
          <a:solidFill>
            <a:srgbClr val="FFFFFF"/>
          </a:solidFill>
          <a:ln w="12700">
            <a:solidFill>
              <a:srgbClr val="1B2A5E"/>
            </a:solidFill>
            <a:prstDash val="solid"/>
          </a:ln>
          <a:effectLst>
            <a:outerShdw blurRad="50800" dist="25400" dir="8100000" algn="bl" rotWithShape="0">
              <a:srgbClr val="000000">
                <a:alpha val="7000"/>
              </a:srgbClr>
            </a:outerShdw>
          </a:effectLst>
        </p:spPr>
        <p:txBody>
          <a:bodyPr/>
          <a:lstStyle/>
          <a:p>
            <a:endParaRPr lang="en-US"/>
          </a:p>
        </p:txBody>
      </p:sp>
      <p:pic>
        <p:nvPicPr>
          <p:cNvPr id="23" name="Image 6" descr="preencoded.png"/>
          <p:cNvPicPr>
            <a:picLocks noChangeAspect="1"/>
          </p:cNvPicPr>
          <p:nvPr/>
        </p:nvPicPr>
        <p:blipFill>
          <a:blip r:embed="rId9"/>
          <a:stretch>
            <a:fillRect/>
          </a:stretch>
        </p:blipFill>
        <p:spPr>
          <a:xfrm>
            <a:off x="4718304" y="2478024"/>
            <a:ext cx="411480" cy="411480"/>
          </a:xfrm>
          <a:prstGeom prst="rect">
            <a:avLst/>
          </a:prstGeom>
        </p:spPr>
      </p:pic>
      <p:sp>
        <p:nvSpPr>
          <p:cNvPr id="24" name="Text 15"/>
          <p:cNvSpPr/>
          <p:nvPr/>
        </p:nvSpPr>
        <p:spPr>
          <a:xfrm>
            <a:off x="5175504" y="2478024"/>
            <a:ext cx="1325880" cy="502920"/>
          </a:xfrm>
          <a:prstGeom prst="rect">
            <a:avLst/>
          </a:prstGeom>
          <a:noFill/>
          <a:ln/>
        </p:spPr>
        <p:txBody>
          <a:bodyPr wrap="square" lIns="0" tIns="0" rIns="0" bIns="0" rtlCol="0" anchor="ctr"/>
          <a:lstStyle/>
          <a:p>
            <a:pPr marL="0" indent="0">
              <a:buNone/>
            </a:pPr>
            <a:r>
              <a:rPr lang="en-US" sz="1200" b="1" dirty="0">
                <a:solidFill>
                  <a:srgbClr val="1B2A5E"/>
                </a:solidFill>
                <a:latin typeface="Calibri" pitchFamily="34" charset="0"/>
                <a:ea typeface="Calibri" pitchFamily="34" charset="-122"/>
                <a:cs typeface="Calibri" pitchFamily="34" charset="-120"/>
              </a:rPr>
              <a:t>Auto Bill Calculation</a:t>
            </a:r>
            <a:endParaRPr lang="en-US" sz="1200" dirty="0"/>
          </a:p>
        </p:txBody>
      </p:sp>
      <p:sp>
        <p:nvSpPr>
          <p:cNvPr id="25" name="Shape 16"/>
          <p:cNvSpPr/>
          <p:nvPr/>
        </p:nvSpPr>
        <p:spPr>
          <a:xfrm>
            <a:off x="6711696" y="2221992"/>
            <a:ext cx="2011680" cy="1005840"/>
          </a:xfrm>
          <a:prstGeom prst="rect">
            <a:avLst/>
          </a:prstGeom>
          <a:solidFill>
            <a:srgbClr val="FFFFFF"/>
          </a:solidFill>
          <a:ln w="12700">
            <a:solidFill>
              <a:srgbClr val="1B2A5E"/>
            </a:solidFill>
            <a:prstDash val="solid"/>
          </a:ln>
          <a:effectLst>
            <a:outerShdw blurRad="50800" dist="25400" dir="8100000" algn="bl" rotWithShape="0">
              <a:srgbClr val="000000">
                <a:alpha val="7000"/>
              </a:srgbClr>
            </a:outerShdw>
          </a:effectLst>
        </p:spPr>
        <p:txBody>
          <a:bodyPr/>
          <a:lstStyle/>
          <a:p>
            <a:endParaRPr lang="en-US"/>
          </a:p>
        </p:txBody>
      </p:sp>
      <p:pic>
        <p:nvPicPr>
          <p:cNvPr id="26" name="Image 7" descr="preencoded.png"/>
          <p:cNvPicPr>
            <a:picLocks noChangeAspect="1"/>
          </p:cNvPicPr>
          <p:nvPr/>
        </p:nvPicPr>
        <p:blipFill>
          <a:blip r:embed="rId10"/>
          <a:stretch>
            <a:fillRect/>
          </a:stretch>
        </p:blipFill>
        <p:spPr>
          <a:xfrm>
            <a:off x="6848856" y="2478024"/>
            <a:ext cx="411480" cy="411480"/>
          </a:xfrm>
          <a:prstGeom prst="rect">
            <a:avLst/>
          </a:prstGeom>
        </p:spPr>
      </p:pic>
      <p:sp>
        <p:nvSpPr>
          <p:cNvPr id="27" name="Text 17"/>
          <p:cNvSpPr/>
          <p:nvPr/>
        </p:nvSpPr>
        <p:spPr>
          <a:xfrm>
            <a:off x="7306056" y="2478024"/>
            <a:ext cx="1325880" cy="502920"/>
          </a:xfrm>
          <a:prstGeom prst="rect">
            <a:avLst/>
          </a:prstGeom>
          <a:noFill/>
          <a:ln/>
        </p:spPr>
        <p:txBody>
          <a:bodyPr wrap="square" lIns="0" tIns="0" rIns="0" bIns="0" rtlCol="0" anchor="ctr"/>
          <a:lstStyle/>
          <a:p>
            <a:pPr marL="0" indent="0">
              <a:buNone/>
            </a:pPr>
            <a:r>
              <a:rPr lang="en-US" sz="1200" b="1" dirty="0">
                <a:solidFill>
                  <a:srgbClr val="1B2A5E"/>
                </a:solidFill>
                <a:latin typeface="Calibri" pitchFamily="34" charset="0"/>
                <a:ea typeface="Calibri" pitchFamily="34" charset="-122"/>
                <a:cs typeface="Calibri" pitchFamily="34" charset="-120"/>
              </a:rPr>
              <a:t>Order Search</a:t>
            </a:r>
            <a:endParaRPr lang="en-US" sz="1200" dirty="0"/>
          </a:p>
        </p:txBody>
      </p:sp>
      <p:sp>
        <p:nvSpPr>
          <p:cNvPr id="28" name="Shape 18"/>
          <p:cNvSpPr/>
          <p:nvPr/>
        </p:nvSpPr>
        <p:spPr>
          <a:xfrm>
            <a:off x="320040" y="3364992"/>
            <a:ext cx="2011680" cy="1005840"/>
          </a:xfrm>
          <a:prstGeom prst="rect">
            <a:avLst/>
          </a:prstGeom>
          <a:solidFill>
            <a:srgbClr val="FFFFFF"/>
          </a:solidFill>
          <a:ln w="12700">
            <a:solidFill>
              <a:srgbClr val="F59E0B"/>
            </a:solidFill>
            <a:prstDash val="solid"/>
          </a:ln>
          <a:effectLst>
            <a:outerShdw blurRad="50800" dist="25400" dir="8100000" algn="bl" rotWithShape="0">
              <a:srgbClr val="000000">
                <a:alpha val="7000"/>
              </a:srgbClr>
            </a:outerShdw>
          </a:effectLst>
        </p:spPr>
        <p:txBody>
          <a:bodyPr/>
          <a:lstStyle/>
          <a:p>
            <a:endParaRPr lang="en-US"/>
          </a:p>
        </p:txBody>
      </p:sp>
      <p:pic>
        <p:nvPicPr>
          <p:cNvPr id="29" name="Image 8" descr="preencoded.png"/>
          <p:cNvPicPr>
            <a:picLocks noChangeAspect="1"/>
          </p:cNvPicPr>
          <p:nvPr/>
        </p:nvPicPr>
        <p:blipFill>
          <a:blip r:embed="rId11"/>
          <a:stretch>
            <a:fillRect/>
          </a:stretch>
        </p:blipFill>
        <p:spPr>
          <a:xfrm>
            <a:off x="457200" y="3621024"/>
            <a:ext cx="411480" cy="411480"/>
          </a:xfrm>
          <a:prstGeom prst="rect">
            <a:avLst/>
          </a:prstGeom>
        </p:spPr>
      </p:pic>
      <p:sp>
        <p:nvSpPr>
          <p:cNvPr id="30" name="Text 19"/>
          <p:cNvSpPr/>
          <p:nvPr/>
        </p:nvSpPr>
        <p:spPr>
          <a:xfrm>
            <a:off x="914400" y="3621024"/>
            <a:ext cx="1325880" cy="502920"/>
          </a:xfrm>
          <a:prstGeom prst="rect">
            <a:avLst/>
          </a:prstGeom>
          <a:noFill/>
          <a:ln/>
        </p:spPr>
        <p:txBody>
          <a:bodyPr wrap="square" lIns="0" tIns="0" rIns="0" bIns="0" rtlCol="0" anchor="ctr"/>
          <a:lstStyle/>
          <a:p>
            <a:pPr marL="0" indent="0">
              <a:buNone/>
            </a:pPr>
            <a:r>
              <a:rPr lang="en-US" sz="1200" b="1" dirty="0">
                <a:solidFill>
                  <a:srgbClr val="1B2A5E"/>
                </a:solidFill>
                <a:latin typeface="Calibri" pitchFamily="34" charset="0"/>
                <a:ea typeface="Calibri" pitchFamily="34" charset="-122"/>
                <a:cs typeface="Calibri" pitchFamily="34" charset="-120"/>
              </a:rPr>
              <a:t>File Data Storage</a:t>
            </a:r>
            <a:endParaRPr lang="en-US" sz="1200" dirty="0"/>
          </a:p>
        </p:txBody>
      </p:sp>
      <p:sp>
        <p:nvSpPr>
          <p:cNvPr id="31" name="Shape 20"/>
          <p:cNvSpPr/>
          <p:nvPr/>
        </p:nvSpPr>
        <p:spPr>
          <a:xfrm>
            <a:off x="2450592" y="3364992"/>
            <a:ext cx="2011680" cy="1005840"/>
          </a:xfrm>
          <a:prstGeom prst="rect">
            <a:avLst/>
          </a:prstGeom>
          <a:solidFill>
            <a:srgbClr val="FFFFFF"/>
          </a:solidFill>
          <a:ln w="12700">
            <a:solidFill>
              <a:srgbClr val="F59E0B"/>
            </a:solidFill>
            <a:prstDash val="solid"/>
          </a:ln>
          <a:effectLst>
            <a:outerShdw blurRad="50800" dist="25400" dir="8100000" algn="bl" rotWithShape="0">
              <a:srgbClr val="000000">
                <a:alpha val="7000"/>
              </a:srgbClr>
            </a:outerShdw>
          </a:effectLst>
        </p:spPr>
        <p:txBody>
          <a:bodyPr/>
          <a:lstStyle/>
          <a:p>
            <a:endParaRPr lang="en-US"/>
          </a:p>
        </p:txBody>
      </p:sp>
      <p:pic>
        <p:nvPicPr>
          <p:cNvPr id="32" name="Image 9" descr="preencoded.png"/>
          <p:cNvPicPr>
            <a:picLocks noChangeAspect="1"/>
          </p:cNvPicPr>
          <p:nvPr/>
        </p:nvPicPr>
        <p:blipFill>
          <a:blip r:embed="rId12"/>
          <a:stretch>
            <a:fillRect/>
          </a:stretch>
        </p:blipFill>
        <p:spPr>
          <a:xfrm>
            <a:off x="2587752" y="3621024"/>
            <a:ext cx="411480" cy="411480"/>
          </a:xfrm>
          <a:prstGeom prst="rect">
            <a:avLst/>
          </a:prstGeom>
        </p:spPr>
      </p:pic>
      <p:sp>
        <p:nvSpPr>
          <p:cNvPr id="33" name="Text 21"/>
          <p:cNvSpPr/>
          <p:nvPr/>
        </p:nvSpPr>
        <p:spPr>
          <a:xfrm>
            <a:off x="3044952" y="3621024"/>
            <a:ext cx="1325880" cy="502920"/>
          </a:xfrm>
          <a:prstGeom prst="rect">
            <a:avLst/>
          </a:prstGeom>
          <a:noFill/>
          <a:ln/>
        </p:spPr>
        <p:txBody>
          <a:bodyPr wrap="square" lIns="0" tIns="0" rIns="0" bIns="0" rtlCol="0" anchor="ctr"/>
          <a:lstStyle/>
          <a:p>
            <a:pPr marL="0" indent="0">
              <a:buNone/>
            </a:pPr>
            <a:r>
              <a:rPr lang="en-US" sz="1200" b="1" dirty="0">
                <a:solidFill>
                  <a:srgbClr val="1B2A5E"/>
                </a:solidFill>
                <a:latin typeface="Calibri" pitchFamily="34" charset="0"/>
                <a:ea typeface="Calibri" pitchFamily="34" charset="-122"/>
                <a:cs typeface="Calibri" pitchFamily="34" charset="-120"/>
              </a:rPr>
              <a:t>Input Validation</a:t>
            </a:r>
            <a:endParaRPr lang="en-US" sz="1200" dirty="0"/>
          </a:p>
        </p:txBody>
      </p:sp>
      <p:sp>
        <p:nvSpPr>
          <p:cNvPr id="34" name="Shape 22"/>
          <p:cNvSpPr/>
          <p:nvPr/>
        </p:nvSpPr>
        <p:spPr>
          <a:xfrm>
            <a:off x="4581144" y="3364992"/>
            <a:ext cx="2011680" cy="1005840"/>
          </a:xfrm>
          <a:prstGeom prst="rect">
            <a:avLst/>
          </a:prstGeom>
          <a:solidFill>
            <a:srgbClr val="FFFFFF"/>
          </a:solidFill>
          <a:ln w="12700">
            <a:solidFill>
              <a:srgbClr val="F59E0B"/>
            </a:solidFill>
            <a:prstDash val="solid"/>
          </a:ln>
          <a:effectLst>
            <a:outerShdw blurRad="50800" dist="25400" dir="8100000" algn="bl" rotWithShape="0">
              <a:srgbClr val="000000">
                <a:alpha val="7000"/>
              </a:srgbClr>
            </a:outerShdw>
          </a:effectLst>
        </p:spPr>
        <p:txBody>
          <a:bodyPr/>
          <a:lstStyle/>
          <a:p>
            <a:endParaRPr lang="en-US"/>
          </a:p>
        </p:txBody>
      </p:sp>
      <p:pic>
        <p:nvPicPr>
          <p:cNvPr id="35" name="Image 10" descr="preencoded.png"/>
          <p:cNvPicPr>
            <a:picLocks noChangeAspect="1"/>
          </p:cNvPicPr>
          <p:nvPr/>
        </p:nvPicPr>
        <p:blipFill>
          <a:blip r:embed="rId13"/>
          <a:stretch>
            <a:fillRect/>
          </a:stretch>
        </p:blipFill>
        <p:spPr>
          <a:xfrm>
            <a:off x="4718304" y="3621024"/>
            <a:ext cx="411480" cy="411480"/>
          </a:xfrm>
          <a:prstGeom prst="rect">
            <a:avLst/>
          </a:prstGeom>
        </p:spPr>
      </p:pic>
      <p:sp>
        <p:nvSpPr>
          <p:cNvPr id="36" name="Text 23"/>
          <p:cNvSpPr/>
          <p:nvPr/>
        </p:nvSpPr>
        <p:spPr>
          <a:xfrm>
            <a:off x="5175504" y="3621024"/>
            <a:ext cx="1325880" cy="502920"/>
          </a:xfrm>
          <a:prstGeom prst="rect">
            <a:avLst/>
          </a:prstGeom>
          <a:noFill/>
          <a:ln/>
        </p:spPr>
        <p:txBody>
          <a:bodyPr wrap="square" lIns="0" tIns="0" rIns="0" bIns="0" rtlCol="0" anchor="ctr"/>
          <a:lstStyle/>
          <a:p>
            <a:pPr marL="0" indent="0">
              <a:buNone/>
            </a:pPr>
            <a:r>
              <a:rPr lang="en-US" sz="1200" b="1" dirty="0">
                <a:solidFill>
                  <a:srgbClr val="1B2A5E"/>
                </a:solidFill>
                <a:latin typeface="Calibri" pitchFamily="34" charset="0"/>
                <a:ea typeface="Calibri" pitchFamily="34" charset="-122"/>
                <a:cs typeface="Calibri" pitchFamily="34" charset="-120"/>
              </a:rPr>
              <a:t>JTable CRUD</a:t>
            </a:r>
            <a:endParaRPr lang="en-US" sz="1200" dirty="0"/>
          </a:p>
        </p:txBody>
      </p:sp>
      <p:sp>
        <p:nvSpPr>
          <p:cNvPr id="37" name="Shape 24"/>
          <p:cNvSpPr/>
          <p:nvPr/>
        </p:nvSpPr>
        <p:spPr>
          <a:xfrm>
            <a:off x="6711696" y="3364992"/>
            <a:ext cx="2011680" cy="1005840"/>
          </a:xfrm>
          <a:prstGeom prst="rect">
            <a:avLst/>
          </a:prstGeom>
          <a:solidFill>
            <a:srgbClr val="FFFFFF"/>
          </a:solidFill>
          <a:ln w="12700">
            <a:solidFill>
              <a:srgbClr val="F59E0B"/>
            </a:solidFill>
            <a:prstDash val="solid"/>
          </a:ln>
          <a:effectLst>
            <a:outerShdw blurRad="50800" dist="25400" dir="8100000" algn="bl" rotWithShape="0">
              <a:srgbClr val="000000">
                <a:alpha val="7000"/>
              </a:srgbClr>
            </a:outerShdw>
          </a:effectLst>
        </p:spPr>
        <p:txBody>
          <a:bodyPr/>
          <a:lstStyle/>
          <a:p>
            <a:endParaRPr lang="en-US"/>
          </a:p>
        </p:txBody>
      </p:sp>
      <p:pic>
        <p:nvPicPr>
          <p:cNvPr id="38" name="Image 11" descr="preencoded.png"/>
          <p:cNvPicPr>
            <a:picLocks noChangeAspect="1"/>
          </p:cNvPicPr>
          <p:nvPr/>
        </p:nvPicPr>
        <p:blipFill>
          <a:blip r:embed="rId14"/>
          <a:stretch>
            <a:fillRect/>
          </a:stretch>
        </p:blipFill>
        <p:spPr>
          <a:xfrm>
            <a:off x="6848856" y="3621024"/>
            <a:ext cx="411480" cy="411480"/>
          </a:xfrm>
          <a:prstGeom prst="rect">
            <a:avLst/>
          </a:prstGeom>
        </p:spPr>
      </p:pic>
      <p:sp>
        <p:nvSpPr>
          <p:cNvPr id="39" name="Text 25"/>
          <p:cNvSpPr/>
          <p:nvPr/>
        </p:nvSpPr>
        <p:spPr>
          <a:xfrm>
            <a:off x="7306056" y="3621024"/>
            <a:ext cx="1325880" cy="502920"/>
          </a:xfrm>
          <a:prstGeom prst="rect">
            <a:avLst/>
          </a:prstGeom>
          <a:noFill/>
          <a:ln/>
        </p:spPr>
        <p:txBody>
          <a:bodyPr wrap="square" lIns="0" tIns="0" rIns="0" bIns="0" rtlCol="0" anchor="ctr"/>
          <a:lstStyle/>
          <a:p>
            <a:pPr marL="0" indent="0">
              <a:buNone/>
            </a:pPr>
            <a:r>
              <a:rPr lang="en-US" sz="1200" b="1" dirty="0">
                <a:solidFill>
                  <a:srgbClr val="1B2A5E"/>
                </a:solidFill>
                <a:latin typeface="Calibri" pitchFamily="34" charset="0"/>
                <a:ea typeface="Calibri" pitchFamily="34" charset="-122"/>
                <a:cs typeface="Calibri" pitchFamily="34" charset="-120"/>
              </a:rPr>
              <a:t>Menu Bar &amp; Dialogs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5E"/>
          </a:solidFill>
          <a:ln w="12700">
            <a:solidFill>
              <a:srgbClr val="1B2A5E"/>
            </a:solidFill>
            <a:prstDash val="solid"/>
          </a:ln>
        </p:spPr>
        <p:txBody>
          <a:bodyPr/>
          <a:lstStyle/>
          <a:p>
            <a:endParaRPr lang="en-US"/>
          </a:p>
        </p:txBody>
      </p:sp>
      <p:sp>
        <p:nvSpPr>
          <p:cNvPr id="3" name="Text 1"/>
          <p:cNvSpPr/>
          <p:nvPr/>
        </p:nvSpPr>
        <p:spPr>
          <a:xfrm>
            <a:off x="365760" y="73152"/>
            <a:ext cx="8412480" cy="768096"/>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Technologies Used</a:t>
            </a:r>
            <a:endParaRPr lang="en-US" sz="2800" dirty="0"/>
          </a:p>
        </p:txBody>
      </p:sp>
      <p:sp>
        <p:nvSpPr>
          <p:cNvPr id="4" name="Shape 2"/>
          <p:cNvSpPr/>
          <p:nvPr/>
        </p:nvSpPr>
        <p:spPr>
          <a:xfrm>
            <a:off x="320040" y="1051560"/>
            <a:ext cx="3977640" cy="822960"/>
          </a:xfrm>
          <a:prstGeom prst="rect">
            <a:avLst/>
          </a:prstGeom>
          <a:solidFill>
            <a:srgbClr val="FFFFFF"/>
          </a:solidFill>
          <a:ln w="12700">
            <a:solidFill>
              <a:srgbClr val="0D9488"/>
            </a:solidFill>
            <a:prstDash val="solid"/>
          </a:ln>
          <a:effectLst>
            <a:outerShdw blurRad="63500" dist="25400" dir="8100000" algn="bl" rotWithShape="0">
              <a:srgbClr val="000000">
                <a:alpha val="8000"/>
              </a:srgbClr>
            </a:outerShdw>
          </a:effectLst>
        </p:spPr>
        <p:txBody>
          <a:bodyPr/>
          <a:lstStyle/>
          <a:p>
            <a:endParaRPr lang="en-US"/>
          </a:p>
        </p:txBody>
      </p:sp>
      <p:sp>
        <p:nvSpPr>
          <p:cNvPr id="5" name="Shape 3"/>
          <p:cNvSpPr/>
          <p:nvPr/>
        </p:nvSpPr>
        <p:spPr>
          <a:xfrm>
            <a:off x="320040" y="1051560"/>
            <a:ext cx="640080" cy="822960"/>
          </a:xfrm>
          <a:prstGeom prst="rect">
            <a:avLst/>
          </a:prstGeom>
          <a:solidFill>
            <a:srgbClr val="0D9488"/>
          </a:solidFill>
          <a:ln w="12700">
            <a:solidFill>
              <a:srgbClr val="0D948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429768" y="1261872"/>
            <a:ext cx="402336" cy="402336"/>
          </a:xfrm>
          <a:prstGeom prst="rect">
            <a:avLst/>
          </a:prstGeom>
        </p:spPr>
      </p:pic>
      <p:sp>
        <p:nvSpPr>
          <p:cNvPr id="7" name="Text 4"/>
          <p:cNvSpPr/>
          <p:nvPr/>
        </p:nvSpPr>
        <p:spPr>
          <a:xfrm>
            <a:off x="1033272" y="1143000"/>
            <a:ext cx="3172968" cy="320040"/>
          </a:xfrm>
          <a:prstGeom prst="rect">
            <a:avLst/>
          </a:prstGeom>
          <a:noFill/>
          <a:ln/>
        </p:spPr>
        <p:txBody>
          <a:bodyPr wrap="square" lIns="0" tIns="0" rIns="0" bIns="0" rtlCol="0" anchor="ctr"/>
          <a:lstStyle/>
          <a:p>
            <a:pPr marL="0" indent="0">
              <a:buNone/>
            </a:pPr>
            <a:r>
              <a:rPr lang="en-US" sz="1400" b="1" dirty="0">
                <a:solidFill>
                  <a:srgbClr val="1B2A5E"/>
                </a:solidFill>
                <a:latin typeface="Calibri" pitchFamily="34" charset="0"/>
                <a:ea typeface="Calibri" pitchFamily="34" charset="-122"/>
                <a:cs typeface="Calibri" pitchFamily="34" charset="-120"/>
              </a:rPr>
              <a:t>Java</a:t>
            </a:r>
            <a:endParaRPr lang="en-US" sz="1400" dirty="0"/>
          </a:p>
        </p:txBody>
      </p:sp>
      <p:sp>
        <p:nvSpPr>
          <p:cNvPr id="8" name="Text 5"/>
          <p:cNvSpPr/>
          <p:nvPr/>
        </p:nvSpPr>
        <p:spPr>
          <a:xfrm>
            <a:off x="1033272" y="1453896"/>
            <a:ext cx="3172968" cy="347472"/>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Main programming language</a:t>
            </a:r>
            <a:endParaRPr lang="en-US" sz="1100" dirty="0"/>
          </a:p>
        </p:txBody>
      </p:sp>
      <p:sp>
        <p:nvSpPr>
          <p:cNvPr id="9" name="Shape 6"/>
          <p:cNvSpPr/>
          <p:nvPr/>
        </p:nvSpPr>
        <p:spPr>
          <a:xfrm>
            <a:off x="4754880" y="1051560"/>
            <a:ext cx="3977640" cy="822960"/>
          </a:xfrm>
          <a:prstGeom prst="rect">
            <a:avLst/>
          </a:prstGeom>
          <a:solidFill>
            <a:srgbClr val="FFFFFF"/>
          </a:solidFill>
          <a:ln w="12700">
            <a:solidFill>
              <a:srgbClr val="1B2A5E"/>
            </a:solidFill>
            <a:prstDash val="solid"/>
          </a:ln>
          <a:effectLst>
            <a:outerShdw blurRad="63500" dist="25400" dir="8100000" algn="bl" rotWithShape="0">
              <a:srgbClr val="000000">
                <a:alpha val="8000"/>
              </a:srgbClr>
            </a:outerShdw>
          </a:effectLst>
        </p:spPr>
        <p:txBody>
          <a:bodyPr/>
          <a:lstStyle/>
          <a:p>
            <a:endParaRPr lang="en-US"/>
          </a:p>
        </p:txBody>
      </p:sp>
      <p:sp>
        <p:nvSpPr>
          <p:cNvPr id="10" name="Shape 7"/>
          <p:cNvSpPr/>
          <p:nvPr/>
        </p:nvSpPr>
        <p:spPr>
          <a:xfrm>
            <a:off x="4754880" y="1051560"/>
            <a:ext cx="640080" cy="822960"/>
          </a:xfrm>
          <a:prstGeom prst="rect">
            <a:avLst/>
          </a:prstGeom>
          <a:solidFill>
            <a:srgbClr val="1B2A5E"/>
          </a:solidFill>
          <a:ln w="12700">
            <a:solidFill>
              <a:srgbClr val="1B2A5E"/>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864608" y="1261872"/>
            <a:ext cx="402336" cy="402336"/>
          </a:xfrm>
          <a:prstGeom prst="rect">
            <a:avLst/>
          </a:prstGeom>
        </p:spPr>
      </p:pic>
      <p:sp>
        <p:nvSpPr>
          <p:cNvPr id="12" name="Text 8"/>
          <p:cNvSpPr/>
          <p:nvPr/>
        </p:nvSpPr>
        <p:spPr>
          <a:xfrm>
            <a:off x="5468112" y="1143000"/>
            <a:ext cx="3172968" cy="320040"/>
          </a:xfrm>
          <a:prstGeom prst="rect">
            <a:avLst/>
          </a:prstGeom>
          <a:noFill/>
          <a:ln/>
        </p:spPr>
        <p:txBody>
          <a:bodyPr wrap="square" lIns="0" tIns="0" rIns="0" bIns="0" rtlCol="0" anchor="ctr"/>
          <a:lstStyle/>
          <a:p>
            <a:pPr marL="0" indent="0">
              <a:buNone/>
            </a:pPr>
            <a:r>
              <a:rPr lang="en-US" sz="1400" b="1" dirty="0">
                <a:solidFill>
                  <a:srgbClr val="1B2A5E"/>
                </a:solidFill>
                <a:latin typeface="Calibri" pitchFamily="34" charset="0"/>
                <a:ea typeface="Calibri" pitchFamily="34" charset="-122"/>
                <a:cs typeface="Calibri" pitchFamily="34" charset="-120"/>
              </a:rPr>
              <a:t>Java Swing</a:t>
            </a:r>
            <a:endParaRPr lang="en-US" sz="1400" dirty="0"/>
          </a:p>
        </p:txBody>
      </p:sp>
      <p:sp>
        <p:nvSpPr>
          <p:cNvPr id="13" name="Text 9"/>
          <p:cNvSpPr/>
          <p:nvPr/>
        </p:nvSpPr>
        <p:spPr>
          <a:xfrm>
            <a:off x="5468112" y="1453896"/>
            <a:ext cx="3172968" cy="347472"/>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For building the graphical user interface (GUI)</a:t>
            </a:r>
            <a:endParaRPr lang="en-US" sz="1100" dirty="0"/>
          </a:p>
        </p:txBody>
      </p:sp>
      <p:sp>
        <p:nvSpPr>
          <p:cNvPr id="14" name="Shape 10"/>
          <p:cNvSpPr/>
          <p:nvPr/>
        </p:nvSpPr>
        <p:spPr>
          <a:xfrm>
            <a:off x="320040" y="2075688"/>
            <a:ext cx="3977640" cy="822960"/>
          </a:xfrm>
          <a:prstGeom prst="rect">
            <a:avLst/>
          </a:prstGeom>
          <a:solidFill>
            <a:srgbClr val="FFFFFF"/>
          </a:solidFill>
          <a:ln w="12700">
            <a:solidFill>
              <a:srgbClr val="0D9488"/>
            </a:solidFill>
            <a:prstDash val="solid"/>
          </a:ln>
          <a:effectLst>
            <a:outerShdw blurRad="63500" dist="25400" dir="8100000" algn="bl" rotWithShape="0">
              <a:srgbClr val="000000">
                <a:alpha val="8000"/>
              </a:srgbClr>
            </a:outerShdw>
          </a:effectLst>
        </p:spPr>
        <p:txBody>
          <a:bodyPr/>
          <a:lstStyle/>
          <a:p>
            <a:endParaRPr lang="en-US"/>
          </a:p>
        </p:txBody>
      </p:sp>
      <p:sp>
        <p:nvSpPr>
          <p:cNvPr id="15" name="Shape 11"/>
          <p:cNvSpPr/>
          <p:nvPr/>
        </p:nvSpPr>
        <p:spPr>
          <a:xfrm>
            <a:off x="320040" y="2075688"/>
            <a:ext cx="640080" cy="822960"/>
          </a:xfrm>
          <a:prstGeom prst="rect">
            <a:avLst/>
          </a:prstGeom>
          <a:solidFill>
            <a:srgbClr val="0D9488"/>
          </a:solidFill>
          <a:ln w="12700">
            <a:solidFill>
              <a:srgbClr val="0D9488"/>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429768" y="2286000"/>
            <a:ext cx="402336" cy="402336"/>
          </a:xfrm>
          <a:prstGeom prst="rect">
            <a:avLst/>
          </a:prstGeom>
        </p:spPr>
      </p:pic>
      <p:sp>
        <p:nvSpPr>
          <p:cNvPr id="17" name="Text 12"/>
          <p:cNvSpPr/>
          <p:nvPr/>
        </p:nvSpPr>
        <p:spPr>
          <a:xfrm>
            <a:off x="1033272" y="2167128"/>
            <a:ext cx="3172968" cy="320040"/>
          </a:xfrm>
          <a:prstGeom prst="rect">
            <a:avLst/>
          </a:prstGeom>
          <a:noFill/>
          <a:ln/>
        </p:spPr>
        <p:txBody>
          <a:bodyPr wrap="square" lIns="0" tIns="0" rIns="0" bIns="0" rtlCol="0" anchor="ctr"/>
          <a:lstStyle/>
          <a:p>
            <a:pPr marL="0" indent="0">
              <a:buNone/>
            </a:pPr>
            <a:r>
              <a:rPr lang="en-US" sz="1400" b="1" dirty="0">
                <a:solidFill>
                  <a:srgbClr val="1B2A5E"/>
                </a:solidFill>
                <a:latin typeface="Calibri" pitchFamily="34" charset="0"/>
                <a:ea typeface="Calibri" pitchFamily="34" charset="-122"/>
                <a:cs typeface="Calibri" pitchFamily="34" charset="-120"/>
              </a:rPr>
              <a:t>JTable</a:t>
            </a:r>
            <a:endParaRPr lang="en-US" sz="1400" dirty="0"/>
          </a:p>
        </p:txBody>
      </p:sp>
      <p:sp>
        <p:nvSpPr>
          <p:cNvPr id="18" name="Text 13"/>
          <p:cNvSpPr/>
          <p:nvPr/>
        </p:nvSpPr>
        <p:spPr>
          <a:xfrm>
            <a:off x="1033272" y="2478024"/>
            <a:ext cx="3172968" cy="347472"/>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Displays data in rows and columns (like Excel)</a:t>
            </a:r>
            <a:endParaRPr lang="en-US" sz="1100" dirty="0"/>
          </a:p>
        </p:txBody>
      </p:sp>
      <p:sp>
        <p:nvSpPr>
          <p:cNvPr id="19" name="Shape 14"/>
          <p:cNvSpPr/>
          <p:nvPr/>
        </p:nvSpPr>
        <p:spPr>
          <a:xfrm>
            <a:off x="4754880" y="2075688"/>
            <a:ext cx="3977640" cy="822960"/>
          </a:xfrm>
          <a:prstGeom prst="rect">
            <a:avLst/>
          </a:prstGeom>
          <a:solidFill>
            <a:srgbClr val="FFFFFF"/>
          </a:solidFill>
          <a:ln w="12700">
            <a:solidFill>
              <a:srgbClr val="1B2A5E"/>
            </a:solidFill>
            <a:prstDash val="solid"/>
          </a:ln>
          <a:effectLst>
            <a:outerShdw blurRad="63500" dist="25400" dir="8100000" algn="bl" rotWithShape="0">
              <a:srgbClr val="000000">
                <a:alpha val="8000"/>
              </a:srgbClr>
            </a:outerShdw>
          </a:effectLst>
        </p:spPr>
        <p:txBody>
          <a:bodyPr/>
          <a:lstStyle/>
          <a:p>
            <a:endParaRPr lang="en-US"/>
          </a:p>
        </p:txBody>
      </p:sp>
      <p:sp>
        <p:nvSpPr>
          <p:cNvPr id="20" name="Shape 15"/>
          <p:cNvSpPr/>
          <p:nvPr/>
        </p:nvSpPr>
        <p:spPr>
          <a:xfrm>
            <a:off x="4754880" y="2075688"/>
            <a:ext cx="640080" cy="822960"/>
          </a:xfrm>
          <a:prstGeom prst="rect">
            <a:avLst/>
          </a:prstGeom>
          <a:solidFill>
            <a:srgbClr val="1B2A5E"/>
          </a:solidFill>
          <a:ln w="12700">
            <a:solidFill>
              <a:srgbClr val="1B2A5E"/>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4864608" y="2286000"/>
            <a:ext cx="402336" cy="402336"/>
          </a:xfrm>
          <a:prstGeom prst="rect">
            <a:avLst/>
          </a:prstGeom>
        </p:spPr>
      </p:pic>
      <p:sp>
        <p:nvSpPr>
          <p:cNvPr id="22" name="Text 16"/>
          <p:cNvSpPr/>
          <p:nvPr/>
        </p:nvSpPr>
        <p:spPr>
          <a:xfrm>
            <a:off x="5468112" y="2167128"/>
            <a:ext cx="3172968" cy="320040"/>
          </a:xfrm>
          <a:prstGeom prst="rect">
            <a:avLst/>
          </a:prstGeom>
          <a:noFill/>
          <a:ln/>
        </p:spPr>
        <p:txBody>
          <a:bodyPr wrap="square" lIns="0" tIns="0" rIns="0" bIns="0" rtlCol="0" anchor="ctr"/>
          <a:lstStyle/>
          <a:p>
            <a:pPr marL="0" indent="0">
              <a:buNone/>
            </a:pPr>
            <a:r>
              <a:rPr lang="en-US" sz="1400" b="1" dirty="0">
                <a:solidFill>
                  <a:srgbClr val="1B2A5E"/>
                </a:solidFill>
                <a:latin typeface="Calibri" pitchFamily="34" charset="0"/>
                <a:ea typeface="Calibri" pitchFamily="34" charset="-122"/>
                <a:cs typeface="Calibri" pitchFamily="34" charset="-120"/>
              </a:rPr>
              <a:t>ArrayList</a:t>
            </a:r>
            <a:endParaRPr lang="en-US" sz="1400" dirty="0"/>
          </a:p>
        </p:txBody>
      </p:sp>
      <p:sp>
        <p:nvSpPr>
          <p:cNvPr id="23" name="Text 17"/>
          <p:cNvSpPr/>
          <p:nvPr/>
        </p:nvSpPr>
        <p:spPr>
          <a:xfrm>
            <a:off x="5468112" y="2478024"/>
            <a:ext cx="3172968" cy="347472"/>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Stores food items and orders in memory</a:t>
            </a:r>
            <a:endParaRPr lang="en-US" sz="1100" dirty="0"/>
          </a:p>
        </p:txBody>
      </p:sp>
      <p:sp>
        <p:nvSpPr>
          <p:cNvPr id="24" name="Shape 18"/>
          <p:cNvSpPr/>
          <p:nvPr/>
        </p:nvSpPr>
        <p:spPr>
          <a:xfrm>
            <a:off x="320040" y="3099816"/>
            <a:ext cx="3977640" cy="822960"/>
          </a:xfrm>
          <a:prstGeom prst="rect">
            <a:avLst/>
          </a:prstGeom>
          <a:solidFill>
            <a:srgbClr val="FFFFFF"/>
          </a:solidFill>
          <a:ln w="12700">
            <a:solidFill>
              <a:srgbClr val="0D9488"/>
            </a:solidFill>
            <a:prstDash val="solid"/>
          </a:ln>
          <a:effectLst>
            <a:outerShdw blurRad="63500" dist="25400" dir="8100000" algn="bl" rotWithShape="0">
              <a:srgbClr val="000000">
                <a:alpha val="8000"/>
              </a:srgbClr>
            </a:outerShdw>
          </a:effectLst>
        </p:spPr>
        <p:txBody>
          <a:bodyPr/>
          <a:lstStyle/>
          <a:p>
            <a:endParaRPr lang="en-US"/>
          </a:p>
        </p:txBody>
      </p:sp>
      <p:sp>
        <p:nvSpPr>
          <p:cNvPr id="25" name="Shape 19"/>
          <p:cNvSpPr/>
          <p:nvPr/>
        </p:nvSpPr>
        <p:spPr>
          <a:xfrm>
            <a:off x="320040" y="3099816"/>
            <a:ext cx="640080" cy="822960"/>
          </a:xfrm>
          <a:prstGeom prst="rect">
            <a:avLst/>
          </a:prstGeom>
          <a:solidFill>
            <a:srgbClr val="0D9488"/>
          </a:solidFill>
          <a:ln w="12700">
            <a:solidFill>
              <a:srgbClr val="0D9488"/>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429768" y="3310128"/>
            <a:ext cx="402336" cy="402336"/>
          </a:xfrm>
          <a:prstGeom prst="rect">
            <a:avLst/>
          </a:prstGeom>
        </p:spPr>
      </p:pic>
      <p:sp>
        <p:nvSpPr>
          <p:cNvPr id="27" name="Text 20"/>
          <p:cNvSpPr/>
          <p:nvPr/>
        </p:nvSpPr>
        <p:spPr>
          <a:xfrm>
            <a:off x="1033272" y="3191256"/>
            <a:ext cx="3172968" cy="320040"/>
          </a:xfrm>
          <a:prstGeom prst="rect">
            <a:avLst/>
          </a:prstGeom>
          <a:noFill/>
          <a:ln/>
        </p:spPr>
        <p:txBody>
          <a:bodyPr wrap="square" lIns="0" tIns="0" rIns="0" bIns="0" rtlCol="0" anchor="ctr"/>
          <a:lstStyle/>
          <a:p>
            <a:pPr marL="0" indent="0">
              <a:buNone/>
            </a:pPr>
            <a:r>
              <a:rPr lang="en-US" sz="1400" b="1" dirty="0">
                <a:solidFill>
                  <a:srgbClr val="1B2A5E"/>
                </a:solidFill>
                <a:latin typeface="Calibri" pitchFamily="34" charset="0"/>
                <a:ea typeface="Calibri" pitchFamily="34" charset="-122"/>
                <a:cs typeface="Calibri" pitchFamily="34" charset="-120"/>
              </a:rPr>
              <a:t>File Handling</a:t>
            </a:r>
            <a:endParaRPr lang="en-US" sz="1400" dirty="0"/>
          </a:p>
        </p:txBody>
      </p:sp>
      <p:sp>
        <p:nvSpPr>
          <p:cNvPr id="28" name="Text 21"/>
          <p:cNvSpPr/>
          <p:nvPr/>
        </p:nvSpPr>
        <p:spPr>
          <a:xfrm>
            <a:off x="1033272" y="3502152"/>
            <a:ext cx="3172968" cy="347472"/>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Saves data permanently to files on disk</a:t>
            </a:r>
            <a:endParaRPr lang="en-US" sz="1100" dirty="0"/>
          </a:p>
        </p:txBody>
      </p:sp>
      <p:sp>
        <p:nvSpPr>
          <p:cNvPr id="29" name="Shape 22"/>
          <p:cNvSpPr/>
          <p:nvPr/>
        </p:nvSpPr>
        <p:spPr>
          <a:xfrm>
            <a:off x="4754880" y="3099816"/>
            <a:ext cx="3977640" cy="822960"/>
          </a:xfrm>
          <a:prstGeom prst="rect">
            <a:avLst/>
          </a:prstGeom>
          <a:solidFill>
            <a:srgbClr val="FFFFFF"/>
          </a:solidFill>
          <a:ln w="12700">
            <a:solidFill>
              <a:srgbClr val="1B2A5E"/>
            </a:solidFill>
            <a:prstDash val="solid"/>
          </a:ln>
          <a:effectLst>
            <a:outerShdw blurRad="63500" dist="25400" dir="8100000" algn="bl" rotWithShape="0">
              <a:srgbClr val="000000">
                <a:alpha val="8000"/>
              </a:srgbClr>
            </a:outerShdw>
          </a:effectLst>
        </p:spPr>
        <p:txBody>
          <a:bodyPr/>
          <a:lstStyle/>
          <a:p>
            <a:endParaRPr lang="en-US"/>
          </a:p>
        </p:txBody>
      </p:sp>
      <p:sp>
        <p:nvSpPr>
          <p:cNvPr id="30" name="Shape 23"/>
          <p:cNvSpPr/>
          <p:nvPr/>
        </p:nvSpPr>
        <p:spPr>
          <a:xfrm>
            <a:off x="4754880" y="3099816"/>
            <a:ext cx="640080" cy="822960"/>
          </a:xfrm>
          <a:prstGeom prst="rect">
            <a:avLst/>
          </a:prstGeom>
          <a:solidFill>
            <a:srgbClr val="1B2A5E"/>
          </a:solidFill>
          <a:ln w="12700">
            <a:solidFill>
              <a:srgbClr val="1B2A5E"/>
            </a:solidFill>
            <a:prstDash val="solid"/>
          </a:ln>
        </p:spPr>
        <p:txBody>
          <a:bodyPr/>
          <a:lstStyle/>
          <a:p>
            <a:endParaRPr lang="en-US"/>
          </a:p>
        </p:txBody>
      </p:sp>
      <p:pic>
        <p:nvPicPr>
          <p:cNvPr id="31" name="Image 5" descr="preencoded.png"/>
          <p:cNvPicPr>
            <a:picLocks noChangeAspect="1"/>
          </p:cNvPicPr>
          <p:nvPr/>
        </p:nvPicPr>
        <p:blipFill>
          <a:blip r:embed="rId8"/>
          <a:stretch>
            <a:fillRect/>
          </a:stretch>
        </p:blipFill>
        <p:spPr>
          <a:xfrm>
            <a:off x="4864608" y="3310128"/>
            <a:ext cx="402336" cy="402336"/>
          </a:xfrm>
          <a:prstGeom prst="rect">
            <a:avLst/>
          </a:prstGeom>
        </p:spPr>
      </p:pic>
      <p:sp>
        <p:nvSpPr>
          <p:cNvPr id="32" name="Text 24"/>
          <p:cNvSpPr/>
          <p:nvPr/>
        </p:nvSpPr>
        <p:spPr>
          <a:xfrm>
            <a:off x="5468112" y="3191256"/>
            <a:ext cx="3172968" cy="320040"/>
          </a:xfrm>
          <a:prstGeom prst="rect">
            <a:avLst/>
          </a:prstGeom>
          <a:noFill/>
          <a:ln/>
        </p:spPr>
        <p:txBody>
          <a:bodyPr wrap="square" lIns="0" tIns="0" rIns="0" bIns="0" rtlCol="0" anchor="ctr"/>
          <a:lstStyle/>
          <a:p>
            <a:pPr marL="0" indent="0">
              <a:buNone/>
            </a:pPr>
            <a:r>
              <a:rPr lang="en-US" sz="1400" b="1" dirty="0">
                <a:solidFill>
                  <a:srgbClr val="1B2A5E"/>
                </a:solidFill>
                <a:latin typeface="Calibri" pitchFamily="34" charset="0"/>
                <a:ea typeface="Calibri" pitchFamily="34" charset="-122"/>
                <a:cs typeface="Calibri" pitchFamily="34" charset="-120"/>
              </a:rPr>
              <a:t>OOP Concepts</a:t>
            </a:r>
            <a:endParaRPr lang="en-US" sz="1400" dirty="0"/>
          </a:p>
        </p:txBody>
      </p:sp>
      <p:sp>
        <p:nvSpPr>
          <p:cNvPr id="33" name="Text 25"/>
          <p:cNvSpPr/>
          <p:nvPr/>
        </p:nvSpPr>
        <p:spPr>
          <a:xfrm>
            <a:off x="5468112" y="3502152"/>
            <a:ext cx="3172968" cy="347472"/>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Classes, Inheritance, Polymorphism, Encapsulation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5E"/>
          </a:solidFill>
          <a:ln w="12700">
            <a:solidFill>
              <a:srgbClr val="1B2A5E"/>
            </a:solidFill>
            <a:prstDash val="solid"/>
          </a:ln>
        </p:spPr>
        <p:txBody>
          <a:bodyPr/>
          <a:lstStyle/>
          <a:p>
            <a:endParaRPr lang="en-US"/>
          </a:p>
        </p:txBody>
      </p:sp>
      <p:sp>
        <p:nvSpPr>
          <p:cNvPr id="3" name="Text 1"/>
          <p:cNvSpPr/>
          <p:nvPr/>
        </p:nvSpPr>
        <p:spPr>
          <a:xfrm>
            <a:off x="365760" y="73152"/>
            <a:ext cx="8412480" cy="768096"/>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System Workflow</a:t>
            </a:r>
            <a:endParaRPr lang="en-US" sz="2800" dirty="0"/>
          </a:p>
        </p:txBody>
      </p:sp>
      <p:sp>
        <p:nvSpPr>
          <p:cNvPr id="4" name="Shape 2"/>
          <p:cNvSpPr/>
          <p:nvPr/>
        </p:nvSpPr>
        <p:spPr>
          <a:xfrm>
            <a:off x="502920" y="1097280"/>
            <a:ext cx="1371600" cy="2103120"/>
          </a:xfrm>
          <a:prstGeom prst="rect">
            <a:avLst/>
          </a:prstGeom>
          <a:solidFill>
            <a:srgbClr val="FFFFFF"/>
          </a:solidFill>
          <a:ln w="12700">
            <a:solidFill>
              <a:srgbClr val="0D9488"/>
            </a:solidFill>
            <a:prstDash val="solid"/>
          </a:ln>
          <a:effectLst>
            <a:outerShdw blurRad="76200" dist="25400" dir="8100000" algn="bl" rotWithShape="0">
              <a:srgbClr val="000000">
                <a:alpha val="9000"/>
              </a:srgbClr>
            </a:outerShdw>
          </a:effectLst>
        </p:spPr>
        <p:txBody>
          <a:bodyPr/>
          <a:lstStyle/>
          <a:p>
            <a:endParaRPr lang="en-US"/>
          </a:p>
        </p:txBody>
      </p:sp>
      <p:sp>
        <p:nvSpPr>
          <p:cNvPr id="5" name="Shape 3"/>
          <p:cNvSpPr/>
          <p:nvPr/>
        </p:nvSpPr>
        <p:spPr>
          <a:xfrm>
            <a:off x="502920" y="1097280"/>
            <a:ext cx="1371600" cy="548640"/>
          </a:xfrm>
          <a:prstGeom prst="rect">
            <a:avLst/>
          </a:prstGeom>
          <a:solidFill>
            <a:srgbClr val="0D9488"/>
          </a:solidFill>
          <a:ln w="12700">
            <a:solidFill>
              <a:srgbClr val="0D948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82980" y="1170432"/>
            <a:ext cx="411480" cy="411480"/>
          </a:xfrm>
          <a:prstGeom prst="rect">
            <a:avLst/>
          </a:prstGeom>
        </p:spPr>
      </p:pic>
      <p:sp>
        <p:nvSpPr>
          <p:cNvPr id="7" name="Shape 4"/>
          <p:cNvSpPr/>
          <p:nvPr/>
        </p:nvSpPr>
        <p:spPr>
          <a:xfrm>
            <a:off x="301752" y="914400"/>
            <a:ext cx="402336" cy="402336"/>
          </a:xfrm>
          <a:prstGeom prst="ellipse">
            <a:avLst/>
          </a:prstGeom>
          <a:solidFill>
            <a:srgbClr val="0D9488"/>
          </a:solidFill>
          <a:ln w="12700">
            <a:solidFill>
              <a:srgbClr val="FFFFFF"/>
            </a:solidFill>
            <a:prstDash val="solid"/>
          </a:ln>
        </p:spPr>
        <p:txBody>
          <a:bodyPr/>
          <a:lstStyle/>
          <a:p>
            <a:endParaRPr lang="en-US"/>
          </a:p>
        </p:txBody>
      </p:sp>
      <p:sp>
        <p:nvSpPr>
          <p:cNvPr id="8" name="Text 5"/>
          <p:cNvSpPr/>
          <p:nvPr/>
        </p:nvSpPr>
        <p:spPr>
          <a:xfrm>
            <a:off x="301752" y="91440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p:nvPr/>
        </p:nvSpPr>
        <p:spPr>
          <a:xfrm>
            <a:off x="548640" y="1737360"/>
            <a:ext cx="1280160" cy="731520"/>
          </a:xfrm>
          <a:prstGeom prst="rect">
            <a:avLst/>
          </a:prstGeom>
          <a:noFill/>
          <a:ln/>
        </p:spPr>
        <p:txBody>
          <a:bodyPr wrap="square" rtlCol="0" anchor="ctr"/>
          <a:lstStyle/>
          <a:p>
            <a:pPr marL="0" indent="0" algn="ctr">
              <a:buNone/>
            </a:pPr>
            <a:r>
              <a:rPr lang="en-US" sz="1300" b="1" dirty="0">
                <a:solidFill>
                  <a:srgbClr val="1B2A5E"/>
                </a:solidFill>
                <a:latin typeface="Calibri" pitchFamily="34" charset="0"/>
                <a:ea typeface="Calibri" pitchFamily="34" charset="-122"/>
                <a:cs typeface="Calibri" pitchFamily="34" charset="-120"/>
              </a:rPr>
              <a:t>Food Item</a:t>
            </a:r>
            <a:endParaRPr lang="en-US" sz="1300" dirty="0"/>
          </a:p>
          <a:p>
            <a:pPr marL="0" indent="0" algn="ctr">
              <a:buNone/>
            </a:pPr>
            <a:r>
              <a:rPr lang="en-US" sz="1300" b="1" dirty="0">
                <a:solidFill>
                  <a:srgbClr val="1B2A5E"/>
                </a:solidFill>
                <a:latin typeface="Calibri" pitchFamily="34" charset="0"/>
                <a:ea typeface="Calibri" pitchFamily="34" charset="-122"/>
                <a:cs typeface="Calibri" pitchFamily="34" charset="-120"/>
              </a:rPr>
              <a:t>Management</a:t>
            </a:r>
            <a:endParaRPr lang="en-US" sz="1300" dirty="0"/>
          </a:p>
        </p:txBody>
      </p:sp>
      <p:sp>
        <p:nvSpPr>
          <p:cNvPr id="10" name="Text 7"/>
          <p:cNvSpPr/>
          <p:nvPr/>
        </p:nvSpPr>
        <p:spPr>
          <a:xfrm>
            <a:off x="548640" y="2468880"/>
            <a:ext cx="1280160" cy="621792"/>
          </a:xfrm>
          <a:prstGeom prst="rect">
            <a:avLst/>
          </a:prstGeom>
          <a:noFill/>
          <a:ln/>
        </p:spPr>
        <p:txBody>
          <a:bodyPr wrap="square" rtlCol="0" anchor="ctr"/>
          <a:lstStyle/>
          <a:p>
            <a:pPr marL="0" indent="0" algn="ctr">
              <a:buNone/>
            </a:pPr>
            <a:r>
              <a:rPr lang="en-US" sz="950" dirty="0">
                <a:solidFill>
                  <a:srgbClr val="475569"/>
                </a:solidFill>
                <a:latin typeface="Calibri" pitchFamily="34" charset="0"/>
                <a:ea typeface="Calibri" pitchFamily="34" charset="-122"/>
                <a:cs typeface="Calibri" pitchFamily="34" charset="-120"/>
              </a:rPr>
              <a:t>Add • Update • Delete • Search</a:t>
            </a:r>
            <a:endParaRPr lang="en-US" sz="950" dirty="0"/>
          </a:p>
        </p:txBody>
      </p:sp>
      <p:sp>
        <p:nvSpPr>
          <p:cNvPr id="11" name="Shape 8"/>
          <p:cNvSpPr/>
          <p:nvPr/>
        </p:nvSpPr>
        <p:spPr>
          <a:xfrm>
            <a:off x="1920240" y="2112264"/>
            <a:ext cx="219456" cy="73152"/>
          </a:xfrm>
          <a:prstGeom prst="rect">
            <a:avLst/>
          </a:prstGeom>
          <a:solidFill>
            <a:srgbClr val="94A3B8"/>
          </a:solidFill>
          <a:ln w="12700">
            <a:solidFill>
              <a:srgbClr val="94A3B8"/>
            </a:solidFill>
            <a:prstDash val="solid"/>
          </a:ln>
        </p:spPr>
        <p:txBody>
          <a:bodyPr/>
          <a:lstStyle/>
          <a:p>
            <a:endParaRPr lang="en-US"/>
          </a:p>
        </p:txBody>
      </p:sp>
      <p:sp>
        <p:nvSpPr>
          <p:cNvPr id="12" name="Text 9"/>
          <p:cNvSpPr/>
          <p:nvPr/>
        </p:nvSpPr>
        <p:spPr>
          <a:xfrm>
            <a:off x="2057400" y="1984248"/>
            <a:ext cx="228600" cy="329184"/>
          </a:xfrm>
          <a:prstGeom prst="rect">
            <a:avLst/>
          </a:prstGeom>
          <a:noFill/>
          <a:ln/>
        </p:spPr>
        <p:txBody>
          <a:bodyPr wrap="square" lIns="0" tIns="0" rIns="0" bIns="0" rtlCol="0" anchor="ctr"/>
          <a:lstStyle/>
          <a:p>
            <a:pPr marL="0" indent="0" algn="ctr">
              <a:buNone/>
            </a:pPr>
            <a:r>
              <a:rPr lang="en-US" sz="1300" dirty="0">
                <a:solidFill>
                  <a:srgbClr val="94A3B8"/>
                </a:solidFill>
                <a:latin typeface="Calibri" pitchFamily="34" charset="0"/>
                <a:ea typeface="Calibri" pitchFamily="34" charset="-122"/>
                <a:cs typeface="Calibri" pitchFamily="34" charset="-120"/>
              </a:rPr>
              <a:t>▶</a:t>
            </a:r>
            <a:endParaRPr lang="en-US" sz="1300" dirty="0"/>
          </a:p>
        </p:txBody>
      </p:sp>
      <p:sp>
        <p:nvSpPr>
          <p:cNvPr id="13" name="Shape 10"/>
          <p:cNvSpPr/>
          <p:nvPr/>
        </p:nvSpPr>
        <p:spPr>
          <a:xfrm>
            <a:off x="2203704" y="1097280"/>
            <a:ext cx="1371600" cy="2103120"/>
          </a:xfrm>
          <a:prstGeom prst="rect">
            <a:avLst/>
          </a:prstGeom>
          <a:solidFill>
            <a:srgbClr val="FFFFFF"/>
          </a:solidFill>
          <a:ln w="12700">
            <a:solidFill>
              <a:srgbClr val="0891B2"/>
            </a:solidFill>
            <a:prstDash val="solid"/>
          </a:ln>
          <a:effectLst>
            <a:outerShdw blurRad="76200" dist="25400" dir="8100000" algn="bl" rotWithShape="0">
              <a:srgbClr val="000000">
                <a:alpha val="9000"/>
              </a:srgbClr>
            </a:outerShdw>
          </a:effectLst>
        </p:spPr>
        <p:txBody>
          <a:bodyPr/>
          <a:lstStyle/>
          <a:p>
            <a:endParaRPr lang="en-US"/>
          </a:p>
        </p:txBody>
      </p:sp>
      <p:sp>
        <p:nvSpPr>
          <p:cNvPr id="14" name="Shape 11"/>
          <p:cNvSpPr/>
          <p:nvPr/>
        </p:nvSpPr>
        <p:spPr>
          <a:xfrm>
            <a:off x="2203704" y="1097280"/>
            <a:ext cx="1371600" cy="548640"/>
          </a:xfrm>
          <a:prstGeom prst="rect">
            <a:avLst/>
          </a:prstGeom>
          <a:solidFill>
            <a:srgbClr val="0891B2"/>
          </a:solidFill>
          <a:ln w="12700">
            <a:solidFill>
              <a:srgbClr val="0891B2"/>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2683764" y="1170432"/>
            <a:ext cx="411480" cy="411480"/>
          </a:xfrm>
          <a:prstGeom prst="rect">
            <a:avLst/>
          </a:prstGeom>
        </p:spPr>
      </p:pic>
      <p:sp>
        <p:nvSpPr>
          <p:cNvPr id="16" name="Shape 12"/>
          <p:cNvSpPr/>
          <p:nvPr/>
        </p:nvSpPr>
        <p:spPr>
          <a:xfrm>
            <a:off x="2002536" y="914400"/>
            <a:ext cx="402336" cy="402336"/>
          </a:xfrm>
          <a:prstGeom prst="ellipse">
            <a:avLst/>
          </a:prstGeom>
          <a:solidFill>
            <a:srgbClr val="0891B2"/>
          </a:solidFill>
          <a:ln w="12700">
            <a:solidFill>
              <a:srgbClr val="FFFFFF"/>
            </a:solidFill>
            <a:prstDash val="solid"/>
          </a:ln>
        </p:spPr>
        <p:txBody>
          <a:bodyPr/>
          <a:lstStyle/>
          <a:p>
            <a:endParaRPr lang="en-US"/>
          </a:p>
        </p:txBody>
      </p:sp>
      <p:sp>
        <p:nvSpPr>
          <p:cNvPr id="17" name="Text 13"/>
          <p:cNvSpPr/>
          <p:nvPr/>
        </p:nvSpPr>
        <p:spPr>
          <a:xfrm>
            <a:off x="2002536" y="91440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2249424" y="1737360"/>
            <a:ext cx="1280160" cy="731520"/>
          </a:xfrm>
          <a:prstGeom prst="rect">
            <a:avLst/>
          </a:prstGeom>
          <a:noFill/>
          <a:ln/>
        </p:spPr>
        <p:txBody>
          <a:bodyPr wrap="square" rtlCol="0" anchor="ctr"/>
          <a:lstStyle/>
          <a:p>
            <a:pPr marL="0" indent="0" algn="ctr">
              <a:buNone/>
            </a:pPr>
            <a:r>
              <a:rPr lang="en-US" sz="1300" b="1" dirty="0">
                <a:solidFill>
                  <a:srgbClr val="1B2A5E"/>
                </a:solidFill>
                <a:latin typeface="Calibri" pitchFamily="34" charset="0"/>
                <a:ea typeface="Calibri" pitchFamily="34" charset="-122"/>
                <a:cs typeface="Calibri" pitchFamily="34" charset="-120"/>
              </a:rPr>
              <a:t>Order</a:t>
            </a:r>
            <a:endParaRPr lang="en-US" sz="1300" dirty="0"/>
          </a:p>
          <a:p>
            <a:pPr marL="0" indent="0" algn="ctr">
              <a:buNone/>
            </a:pPr>
            <a:r>
              <a:rPr lang="en-US" sz="1300" b="1" dirty="0">
                <a:solidFill>
                  <a:srgbClr val="1B2A5E"/>
                </a:solidFill>
                <a:latin typeface="Calibri" pitchFamily="34" charset="0"/>
                <a:ea typeface="Calibri" pitchFamily="34" charset="-122"/>
                <a:cs typeface="Calibri" pitchFamily="34" charset="-120"/>
              </a:rPr>
              <a:t>Placement</a:t>
            </a:r>
            <a:endParaRPr lang="en-US" sz="1300" dirty="0"/>
          </a:p>
        </p:txBody>
      </p:sp>
      <p:sp>
        <p:nvSpPr>
          <p:cNvPr id="19" name="Text 15"/>
          <p:cNvSpPr/>
          <p:nvPr/>
        </p:nvSpPr>
        <p:spPr>
          <a:xfrm>
            <a:off x="2249424" y="2468880"/>
            <a:ext cx="1280160" cy="621792"/>
          </a:xfrm>
          <a:prstGeom prst="rect">
            <a:avLst/>
          </a:prstGeom>
          <a:noFill/>
          <a:ln/>
        </p:spPr>
        <p:txBody>
          <a:bodyPr wrap="square" rtlCol="0" anchor="ctr"/>
          <a:lstStyle/>
          <a:p>
            <a:pPr marL="0" indent="0" algn="ctr">
              <a:buNone/>
            </a:pPr>
            <a:r>
              <a:rPr lang="en-US" sz="950" dirty="0">
                <a:solidFill>
                  <a:srgbClr val="475569"/>
                </a:solidFill>
                <a:latin typeface="Calibri" pitchFamily="34" charset="0"/>
                <a:ea typeface="Calibri" pitchFamily="34" charset="-122"/>
                <a:cs typeface="Calibri" pitchFamily="34" charset="-120"/>
              </a:rPr>
              <a:t>Select Items • Add to Cart</a:t>
            </a:r>
            <a:endParaRPr lang="en-US" sz="950" dirty="0"/>
          </a:p>
        </p:txBody>
      </p:sp>
      <p:sp>
        <p:nvSpPr>
          <p:cNvPr id="20" name="Shape 16"/>
          <p:cNvSpPr/>
          <p:nvPr/>
        </p:nvSpPr>
        <p:spPr>
          <a:xfrm>
            <a:off x="3621024" y="2112264"/>
            <a:ext cx="219456" cy="73152"/>
          </a:xfrm>
          <a:prstGeom prst="rect">
            <a:avLst/>
          </a:prstGeom>
          <a:solidFill>
            <a:srgbClr val="94A3B8"/>
          </a:solidFill>
          <a:ln w="12700">
            <a:solidFill>
              <a:srgbClr val="94A3B8"/>
            </a:solidFill>
            <a:prstDash val="solid"/>
          </a:ln>
        </p:spPr>
        <p:txBody>
          <a:bodyPr/>
          <a:lstStyle/>
          <a:p>
            <a:endParaRPr lang="en-US"/>
          </a:p>
        </p:txBody>
      </p:sp>
      <p:sp>
        <p:nvSpPr>
          <p:cNvPr id="21" name="Text 17"/>
          <p:cNvSpPr/>
          <p:nvPr/>
        </p:nvSpPr>
        <p:spPr>
          <a:xfrm>
            <a:off x="3758184" y="1984248"/>
            <a:ext cx="228600" cy="329184"/>
          </a:xfrm>
          <a:prstGeom prst="rect">
            <a:avLst/>
          </a:prstGeom>
          <a:noFill/>
          <a:ln/>
        </p:spPr>
        <p:txBody>
          <a:bodyPr wrap="square" lIns="0" tIns="0" rIns="0" bIns="0" rtlCol="0" anchor="ctr"/>
          <a:lstStyle/>
          <a:p>
            <a:pPr marL="0" indent="0" algn="ctr">
              <a:buNone/>
            </a:pPr>
            <a:r>
              <a:rPr lang="en-US" sz="1300" dirty="0">
                <a:solidFill>
                  <a:srgbClr val="94A3B8"/>
                </a:solidFill>
                <a:latin typeface="Calibri" pitchFamily="34" charset="0"/>
                <a:ea typeface="Calibri" pitchFamily="34" charset="-122"/>
                <a:cs typeface="Calibri" pitchFamily="34" charset="-120"/>
              </a:rPr>
              <a:t>▶</a:t>
            </a:r>
            <a:endParaRPr lang="en-US" sz="1300" dirty="0"/>
          </a:p>
        </p:txBody>
      </p:sp>
      <p:sp>
        <p:nvSpPr>
          <p:cNvPr id="22" name="Shape 18"/>
          <p:cNvSpPr/>
          <p:nvPr/>
        </p:nvSpPr>
        <p:spPr>
          <a:xfrm>
            <a:off x="3904488" y="1097280"/>
            <a:ext cx="1371600" cy="2103120"/>
          </a:xfrm>
          <a:prstGeom prst="rect">
            <a:avLst/>
          </a:prstGeom>
          <a:solidFill>
            <a:srgbClr val="FFFFFF"/>
          </a:solidFill>
          <a:ln w="12700">
            <a:solidFill>
              <a:srgbClr val="1B2A5E"/>
            </a:solidFill>
            <a:prstDash val="solid"/>
          </a:ln>
          <a:effectLst>
            <a:outerShdw blurRad="76200" dist="25400" dir="8100000" algn="bl" rotWithShape="0">
              <a:srgbClr val="000000">
                <a:alpha val="9000"/>
              </a:srgbClr>
            </a:outerShdw>
          </a:effectLst>
        </p:spPr>
        <p:txBody>
          <a:bodyPr/>
          <a:lstStyle/>
          <a:p>
            <a:endParaRPr lang="en-US"/>
          </a:p>
        </p:txBody>
      </p:sp>
      <p:sp>
        <p:nvSpPr>
          <p:cNvPr id="23" name="Shape 19"/>
          <p:cNvSpPr/>
          <p:nvPr/>
        </p:nvSpPr>
        <p:spPr>
          <a:xfrm>
            <a:off x="3904488" y="1097280"/>
            <a:ext cx="1371600" cy="548640"/>
          </a:xfrm>
          <a:prstGeom prst="rect">
            <a:avLst/>
          </a:prstGeom>
          <a:solidFill>
            <a:srgbClr val="1B2A5E"/>
          </a:solidFill>
          <a:ln w="12700">
            <a:solidFill>
              <a:srgbClr val="1B2A5E"/>
            </a:solidFill>
            <a:prstDash val="solid"/>
          </a:ln>
        </p:spPr>
        <p:txBody>
          <a:bodyPr/>
          <a:lstStyle/>
          <a:p>
            <a:endParaRPr lang="en-US"/>
          </a:p>
        </p:txBody>
      </p:sp>
      <p:pic>
        <p:nvPicPr>
          <p:cNvPr id="24" name="Image 2" descr="preencoded.png"/>
          <p:cNvPicPr>
            <a:picLocks noChangeAspect="1"/>
          </p:cNvPicPr>
          <p:nvPr/>
        </p:nvPicPr>
        <p:blipFill>
          <a:blip r:embed="rId5"/>
          <a:stretch>
            <a:fillRect/>
          </a:stretch>
        </p:blipFill>
        <p:spPr>
          <a:xfrm>
            <a:off x="4384548" y="1170432"/>
            <a:ext cx="411480" cy="411480"/>
          </a:xfrm>
          <a:prstGeom prst="rect">
            <a:avLst/>
          </a:prstGeom>
        </p:spPr>
      </p:pic>
      <p:sp>
        <p:nvSpPr>
          <p:cNvPr id="25" name="Shape 20"/>
          <p:cNvSpPr/>
          <p:nvPr/>
        </p:nvSpPr>
        <p:spPr>
          <a:xfrm>
            <a:off x="3703320" y="914400"/>
            <a:ext cx="402336" cy="402336"/>
          </a:xfrm>
          <a:prstGeom prst="ellipse">
            <a:avLst/>
          </a:prstGeom>
          <a:solidFill>
            <a:srgbClr val="1B2A5E"/>
          </a:solidFill>
          <a:ln w="12700">
            <a:solidFill>
              <a:srgbClr val="FFFFFF"/>
            </a:solidFill>
            <a:prstDash val="solid"/>
          </a:ln>
        </p:spPr>
        <p:txBody>
          <a:bodyPr/>
          <a:lstStyle/>
          <a:p>
            <a:endParaRPr lang="en-US"/>
          </a:p>
        </p:txBody>
      </p:sp>
      <p:sp>
        <p:nvSpPr>
          <p:cNvPr id="26" name="Text 21"/>
          <p:cNvSpPr/>
          <p:nvPr/>
        </p:nvSpPr>
        <p:spPr>
          <a:xfrm>
            <a:off x="3703320" y="91440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7" name="Text 22"/>
          <p:cNvSpPr/>
          <p:nvPr/>
        </p:nvSpPr>
        <p:spPr>
          <a:xfrm>
            <a:off x="3950208" y="1737360"/>
            <a:ext cx="1280160" cy="731520"/>
          </a:xfrm>
          <a:prstGeom prst="rect">
            <a:avLst/>
          </a:prstGeom>
          <a:noFill/>
          <a:ln/>
        </p:spPr>
        <p:txBody>
          <a:bodyPr wrap="square" rtlCol="0" anchor="ctr"/>
          <a:lstStyle/>
          <a:p>
            <a:pPr marL="0" indent="0" algn="ctr">
              <a:buNone/>
            </a:pPr>
            <a:r>
              <a:rPr lang="en-US" sz="1300" b="1" dirty="0">
                <a:solidFill>
                  <a:srgbClr val="1B2A5E"/>
                </a:solidFill>
                <a:latin typeface="Calibri" pitchFamily="34" charset="0"/>
                <a:ea typeface="Calibri" pitchFamily="34" charset="-122"/>
                <a:cs typeface="Calibri" pitchFamily="34" charset="-120"/>
              </a:rPr>
              <a:t>Cart &amp; Bill</a:t>
            </a:r>
            <a:endParaRPr lang="en-US" sz="1300" dirty="0"/>
          </a:p>
          <a:p>
            <a:pPr marL="0" indent="0" algn="ctr">
              <a:buNone/>
            </a:pPr>
            <a:r>
              <a:rPr lang="en-US" sz="1300" b="1" dirty="0">
                <a:solidFill>
                  <a:srgbClr val="1B2A5E"/>
                </a:solidFill>
                <a:latin typeface="Calibri" pitchFamily="34" charset="0"/>
                <a:ea typeface="Calibri" pitchFamily="34" charset="-122"/>
                <a:cs typeface="Calibri" pitchFamily="34" charset="-120"/>
              </a:rPr>
              <a:t>Generation</a:t>
            </a:r>
            <a:endParaRPr lang="en-US" sz="1300" dirty="0"/>
          </a:p>
        </p:txBody>
      </p:sp>
      <p:sp>
        <p:nvSpPr>
          <p:cNvPr id="28" name="Text 23"/>
          <p:cNvSpPr/>
          <p:nvPr/>
        </p:nvSpPr>
        <p:spPr>
          <a:xfrm>
            <a:off x="3950208" y="2468880"/>
            <a:ext cx="1280160" cy="621792"/>
          </a:xfrm>
          <a:prstGeom prst="rect">
            <a:avLst/>
          </a:prstGeom>
          <a:noFill/>
          <a:ln/>
        </p:spPr>
        <p:txBody>
          <a:bodyPr wrap="square" rtlCol="0" anchor="ctr"/>
          <a:lstStyle/>
          <a:p>
            <a:pPr marL="0" indent="0" algn="ctr">
              <a:buNone/>
            </a:pPr>
            <a:r>
              <a:rPr lang="en-US" sz="950" dirty="0">
                <a:solidFill>
                  <a:srgbClr val="475569"/>
                </a:solidFill>
                <a:latin typeface="Calibri" pitchFamily="34" charset="0"/>
                <a:ea typeface="Calibri" pitchFamily="34" charset="-122"/>
                <a:cs typeface="Calibri" pitchFamily="34" charset="-120"/>
              </a:rPr>
              <a:t>Multi-Item • Auto Total</a:t>
            </a:r>
            <a:endParaRPr lang="en-US" sz="950" dirty="0"/>
          </a:p>
        </p:txBody>
      </p:sp>
      <p:sp>
        <p:nvSpPr>
          <p:cNvPr id="29" name="Shape 24"/>
          <p:cNvSpPr/>
          <p:nvPr/>
        </p:nvSpPr>
        <p:spPr>
          <a:xfrm>
            <a:off x="5321808" y="2112264"/>
            <a:ext cx="219456" cy="73152"/>
          </a:xfrm>
          <a:prstGeom prst="rect">
            <a:avLst/>
          </a:prstGeom>
          <a:solidFill>
            <a:srgbClr val="94A3B8"/>
          </a:solidFill>
          <a:ln w="12700">
            <a:solidFill>
              <a:srgbClr val="94A3B8"/>
            </a:solidFill>
            <a:prstDash val="solid"/>
          </a:ln>
        </p:spPr>
        <p:txBody>
          <a:bodyPr/>
          <a:lstStyle/>
          <a:p>
            <a:endParaRPr lang="en-US"/>
          </a:p>
        </p:txBody>
      </p:sp>
      <p:sp>
        <p:nvSpPr>
          <p:cNvPr id="30" name="Text 25"/>
          <p:cNvSpPr/>
          <p:nvPr/>
        </p:nvSpPr>
        <p:spPr>
          <a:xfrm>
            <a:off x="5458968" y="1984248"/>
            <a:ext cx="228600" cy="329184"/>
          </a:xfrm>
          <a:prstGeom prst="rect">
            <a:avLst/>
          </a:prstGeom>
          <a:noFill/>
          <a:ln/>
        </p:spPr>
        <p:txBody>
          <a:bodyPr wrap="square" lIns="0" tIns="0" rIns="0" bIns="0" rtlCol="0" anchor="ctr"/>
          <a:lstStyle/>
          <a:p>
            <a:pPr marL="0" indent="0" algn="ctr">
              <a:buNone/>
            </a:pPr>
            <a:r>
              <a:rPr lang="en-US" sz="1300" dirty="0">
                <a:solidFill>
                  <a:srgbClr val="94A3B8"/>
                </a:solidFill>
                <a:latin typeface="Calibri" pitchFamily="34" charset="0"/>
                <a:ea typeface="Calibri" pitchFamily="34" charset="-122"/>
                <a:cs typeface="Calibri" pitchFamily="34" charset="-120"/>
              </a:rPr>
              <a:t>▶</a:t>
            </a:r>
            <a:endParaRPr lang="en-US" sz="1300" dirty="0"/>
          </a:p>
        </p:txBody>
      </p:sp>
      <p:sp>
        <p:nvSpPr>
          <p:cNvPr id="31" name="Shape 26"/>
          <p:cNvSpPr/>
          <p:nvPr/>
        </p:nvSpPr>
        <p:spPr>
          <a:xfrm>
            <a:off x="5605272" y="1097280"/>
            <a:ext cx="1371600" cy="2103120"/>
          </a:xfrm>
          <a:prstGeom prst="rect">
            <a:avLst/>
          </a:prstGeom>
          <a:solidFill>
            <a:srgbClr val="FFFFFF"/>
          </a:solidFill>
          <a:ln w="12700">
            <a:solidFill>
              <a:srgbClr val="7C3AED"/>
            </a:solidFill>
            <a:prstDash val="solid"/>
          </a:ln>
          <a:effectLst>
            <a:outerShdw blurRad="76200" dist="25400" dir="8100000" algn="bl" rotWithShape="0">
              <a:srgbClr val="000000">
                <a:alpha val="9000"/>
              </a:srgbClr>
            </a:outerShdw>
          </a:effectLst>
        </p:spPr>
        <p:txBody>
          <a:bodyPr/>
          <a:lstStyle/>
          <a:p>
            <a:endParaRPr lang="en-US"/>
          </a:p>
        </p:txBody>
      </p:sp>
      <p:sp>
        <p:nvSpPr>
          <p:cNvPr id="32" name="Shape 27"/>
          <p:cNvSpPr/>
          <p:nvPr/>
        </p:nvSpPr>
        <p:spPr>
          <a:xfrm>
            <a:off x="5605272" y="1097280"/>
            <a:ext cx="1371600" cy="548640"/>
          </a:xfrm>
          <a:prstGeom prst="rect">
            <a:avLst/>
          </a:prstGeom>
          <a:solidFill>
            <a:srgbClr val="7C3AED"/>
          </a:solidFill>
          <a:ln w="12700">
            <a:solidFill>
              <a:srgbClr val="7C3AED"/>
            </a:solidFill>
            <a:prstDash val="solid"/>
          </a:ln>
        </p:spPr>
        <p:txBody>
          <a:bodyPr/>
          <a:lstStyle/>
          <a:p>
            <a:endParaRPr lang="en-US"/>
          </a:p>
        </p:txBody>
      </p:sp>
      <p:pic>
        <p:nvPicPr>
          <p:cNvPr id="33" name="Image 3" descr="preencoded.png"/>
          <p:cNvPicPr>
            <a:picLocks noChangeAspect="1"/>
          </p:cNvPicPr>
          <p:nvPr/>
        </p:nvPicPr>
        <p:blipFill>
          <a:blip r:embed="rId6"/>
          <a:stretch>
            <a:fillRect/>
          </a:stretch>
        </p:blipFill>
        <p:spPr>
          <a:xfrm>
            <a:off x="6085332" y="1170432"/>
            <a:ext cx="411480" cy="411480"/>
          </a:xfrm>
          <a:prstGeom prst="rect">
            <a:avLst/>
          </a:prstGeom>
        </p:spPr>
      </p:pic>
      <p:sp>
        <p:nvSpPr>
          <p:cNvPr id="34" name="Shape 28"/>
          <p:cNvSpPr/>
          <p:nvPr/>
        </p:nvSpPr>
        <p:spPr>
          <a:xfrm>
            <a:off x="5404104" y="914400"/>
            <a:ext cx="402336" cy="402336"/>
          </a:xfrm>
          <a:prstGeom prst="ellipse">
            <a:avLst/>
          </a:prstGeom>
          <a:solidFill>
            <a:srgbClr val="7C3AED"/>
          </a:solidFill>
          <a:ln w="12700">
            <a:solidFill>
              <a:srgbClr val="FFFFFF"/>
            </a:solidFill>
            <a:prstDash val="solid"/>
          </a:ln>
        </p:spPr>
        <p:txBody>
          <a:bodyPr/>
          <a:lstStyle/>
          <a:p>
            <a:endParaRPr lang="en-US"/>
          </a:p>
        </p:txBody>
      </p:sp>
      <p:sp>
        <p:nvSpPr>
          <p:cNvPr id="35" name="Text 29"/>
          <p:cNvSpPr/>
          <p:nvPr/>
        </p:nvSpPr>
        <p:spPr>
          <a:xfrm>
            <a:off x="5404104" y="91440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6" name="Text 30"/>
          <p:cNvSpPr/>
          <p:nvPr/>
        </p:nvSpPr>
        <p:spPr>
          <a:xfrm>
            <a:off x="5650992" y="1737360"/>
            <a:ext cx="1280160" cy="731520"/>
          </a:xfrm>
          <a:prstGeom prst="rect">
            <a:avLst/>
          </a:prstGeom>
          <a:noFill/>
          <a:ln/>
        </p:spPr>
        <p:txBody>
          <a:bodyPr wrap="square" rtlCol="0" anchor="ctr"/>
          <a:lstStyle/>
          <a:p>
            <a:pPr marL="0" indent="0" algn="ctr">
              <a:buNone/>
            </a:pPr>
            <a:r>
              <a:rPr lang="en-US" sz="1300" b="1" dirty="0">
                <a:solidFill>
                  <a:srgbClr val="1B2A5E"/>
                </a:solidFill>
                <a:latin typeface="Calibri" pitchFamily="34" charset="0"/>
                <a:ea typeface="Calibri" pitchFamily="34" charset="-122"/>
                <a:cs typeface="Calibri" pitchFamily="34" charset="-120"/>
              </a:rPr>
              <a:t>Data</a:t>
            </a:r>
            <a:endParaRPr lang="en-US" sz="1300" dirty="0"/>
          </a:p>
          <a:p>
            <a:pPr marL="0" indent="0" algn="ctr">
              <a:buNone/>
            </a:pPr>
            <a:r>
              <a:rPr lang="en-US" sz="1300" b="1" dirty="0">
                <a:solidFill>
                  <a:srgbClr val="1B2A5E"/>
                </a:solidFill>
                <a:latin typeface="Calibri" pitchFamily="34" charset="0"/>
                <a:ea typeface="Calibri" pitchFamily="34" charset="-122"/>
                <a:cs typeface="Calibri" pitchFamily="34" charset="-120"/>
              </a:rPr>
              <a:t>Storage</a:t>
            </a:r>
            <a:endParaRPr lang="en-US" sz="1300" dirty="0"/>
          </a:p>
        </p:txBody>
      </p:sp>
      <p:sp>
        <p:nvSpPr>
          <p:cNvPr id="37" name="Text 31"/>
          <p:cNvSpPr/>
          <p:nvPr/>
        </p:nvSpPr>
        <p:spPr>
          <a:xfrm>
            <a:off x="5650992" y="2468880"/>
            <a:ext cx="1280160" cy="621792"/>
          </a:xfrm>
          <a:prstGeom prst="rect">
            <a:avLst/>
          </a:prstGeom>
          <a:noFill/>
          <a:ln/>
        </p:spPr>
        <p:txBody>
          <a:bodyPr wrap="square" rtlCol="0" anchor="ctr"/>
          <a:lstStyle/>
          <a:p>
            <a:pPr marL="0" indent="0" algn="ctr">
              <a:buNone/>
            </a:pPr>
            <a:r>
              <a:rPr lang="en-US" sz="950" dirty="0">
                <a:solidFill>
                  <a:srgbClr val="475569"/>
                </a:solidFill>
                <a:latin typeface="Calibri" pitchFamily="34" charset="0"/>
                <a:ea typeface="Calibri" pitchFamily="34" charset="-122"/>
                <a:cs typeface="Calibri" pitchFamily="34" charset="-120"/>
              </a:rPr>
              <a:t>Save to File • Permanent Record</a:t>
            </a:r>
            <a:endParaRPr lang="en-US" sz="950" dirty="0"/>
          </a:p>
        </p:txBody>
      </p:sp>
      <p:sp>
        <p:nvSpPr>
          <p:cNvPr id="38" name="Shape 32"/>
          <p:cNvSpPr/>
          <p:nvPr/>
        </p:nvSpPr>
        <p:spPr>
          <a:xfrm>
            <a:off x="7022592" y="2112264"/>
            <a:ext cx="219456" cy="73152"/>
          </a:xfrm>
          <a:prstGeom prst="rect">
            <a:avLst/>
          </a:prstGeom>
          <a:solidFill>
            <a:srgbClr val="94A3B8"/>
          </a:solidFill>
          <a:ln w="12700">
            <a:solidFill>
              <a:srgbClr val="94A3B8"/>
            </a:solidFill>
            <a:prstDash val="solid"/>
          </a:ln>
        </p:spPr>
        <p:txBody>
          <a:bodyPr/>
          <a:lstStyle/>
          <a:p>
            <a:endParaRPr lang="en-US"/>
          </a:p>
        </p:txBody>
      </p:sp>
      <p:sp>
        <p:nvSpPr>
          <p:cNvPr id="39" name="Text 33"/>
          <p:cNvSpPr/>
          <p:nvPr/>
        </p:nvSpPr>
        <p:spPr>
          <a:xfrm>
            <a:off x="7159752" y="1984248"/>
            <a:ext cx="228600" cy="329184"/>
          </a:xfrm>
          <a:prstGeom prst="rect">
            <a:avLst/>
          </a:prstGeom>
          <a:noFill/>
          <a:ln/>
        </p:spPr>
        <p:txBody>
          <a:bodyPr wrap="square" lIns="0" tIns="0" rIns="0" bIns="0" rtlCol="0" anchor="ctr"/>
          <a:lstStyle/>
          <a:p>
            <a:pPr marL="0" indent="0" algn="ctr">
              <a:buNone/>
            </a:pPr>
            <a:r>
              <a:rPr lang="en-US" sz="1300" dirty="0">
                <a:solidFill>
                  <a:srgbClr val="94A3B8"/>
                </a:solidFill>
                <a:latin typeface="Calibri" pitchFamily="34" charset="0"/>
                <a:ea typeface="Calibri" pitchFamily="34" charset="-122"/>
                <a:cs typeface="Calibri" pitchFamily="34" charset="-120"/>
              </a:rPr>
              <a:t>▶</a:t>
            </a:r>
            <a:endParaRPr lang="en-US" sz="1300" dirty="0"/>
          </a:p>
        </p:txBody>
      </p:sp>
      <p:sp>
        <p:nvSpPr>
          <p:cNvPr id="40" name="Shape 34"/>
          <p:cNvSpPr/>
          <p:nvPr/>
        </p:nvSpPr>
        <p:spPr>
          <a:xfrm>
            <a:off x="7306056" y="1097280"/>
            <a:ext cx="1371600" cy="2103120"/>
          </a:xfrm>
          <a:prstGeom prst="rect">
            <a:avLst/>
          </a:prstGeom>
          <a:solidFill>
            <a:srgbClr val="FFFFFF"/>
          </a:solidFill>
          <a:ln w="12700">
            <a:solidFill>
              <a:srgbClr val="B45309"/>
            </a:solidFill>
            <a:prstDash val="solid"/>
          </a:ln>
          <a:effectLst>
            <a:outerShdw blurRad="76200" dist="25400" dir="8100000" algn="bl" rotWithShape="0">
              <a:srgbClr val="000000">
                <a:alpha val="9000"/>
              </a:srgbClr>
            </a:outerShdw>
          </a:effectLst>
        </p:spPr>
        <p:txBody>
          <a:bodyPr/>
          <a:lstStyle/>
          <a:p>
            <a:endParaRPr lang="en-US"/>
          </a:p>
        </p:txBody>
      </p:sp>
      <p:sp>
        <p:nvSpPr>
          <p:cNvPr id="41" name="Shape 35"/>
          <p:cNvSpPr/>
          <p:nvPr/>
        </p:nvSpPr>
        <p:spPr>
          <a:xfrm>
            <a:off x="7306056" y="1097280"/>
            <a:ext cx="1371600" cy="548640"/>
          </a:xfrm>
          <a:prstGeom prst="rect">
            <a:avLst/>
          </a:prstGeom>
          <a:solidFill>
            <a:srgbClr val="B45309"/>
          </a:solidFill>
          <a:ln w="12700">
            <a:solidFill>
              <a:srgbClr val="B45309"/>
            </a:solidFill>
            <a:prstDash val="solid"/>
          </a:ln>
        </p:spPr>
        <p:txBody>
          <a:bodyPr/>
          <a:lstStyle/>
          <a:p>
            <a:endParaRPr lang="en-US"/>
          </a:p>
        </p:txBody>
      </p:sp>
      <p:pic>
        <p:nvPicPr>
          <p:cNvPr id="42" name="Image 4" descr="preencoded.png"/>
          <p:cNvPicPr>
            <a:picLocks noChangeAspect="1"/>
          </p:cNvPicPr>
          <p:nvPr/>
        </p:nvPicPr>
        <p:blipFill>
          <a:blip r:embed="rId7"/>
          <a:stretch>
            <a:fillRect/>
          </a:stretch>
        </p:blipFill>
        <p:spPr>
          <a:xfrm>
            <a:off x="7786116" y="1170432"/>
            <a:ext cx="411480" cy="411480"/>
          </a:xfrm>
          <a:prstGeom prst="rect">
            <a:avLst/>
          </a:prstGeom>
        </p:spPr>
      </p:pic>
      <p:sp>
        <p:nvSpPr>
          <p:cNvPr id="43" name="Shape 36"/>
          <p:cNvSpPr/>
          <p:nvPr/>
        </p:nvSpPr>
        <p:spPr>
          <a:xfrm>
            <a:off x="7104888" y="914400"/>
            <a:ext cx="402336" cy="402336"/>
          </a:xfrm>
          <a:prstGeom prst="ellipse">
            <a:avLst/>
          </a:prstGeom>
          <a:solidFill>
            <a:srgbClr val="B45309"/>
          </a:solidFill>
          <a:ln w="12700">
            <a:solidFill>
              <a:srgbClr val="FFFFFF"/>
            </a:solidFill>
            <a:prstDash val="solid"/>
          </a:ln>
        </p:spPr>
        <p:txBody>
          <a:bodyPr/>
          <a:lstStyle/>
          <a:p>
            <a:endParaRPr lang="en-US"/>
          </a:p>
        </p:txBody>
      </p:sp>
      <p:sp>
        <p:nvSpPr>
          <p:cNvPr id="44" name="Text 37"/>
          <p:cNvSpPr/>
          <p:nvPr/>
        </p:nvSpPr>
        <p:spPr>
          <a:xfrm>
            <a:off x="7104888" y="91440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45" name="Text 38"/>
          <p:cNvSpPr/>
          <p:nvPr/>
        </p:nvSpPr>
        <p:spPr>
          <a:xfrm>
            <a:off x="7351776" y="1737360"/>
            <a:ext cx="1280160" cy="731520"/>
          </a:xfrm>
          <a:prstGeom prst="rect">
            <a:avLst/>
          </a:prstGeom>
          <a:noFill/>
          <a:ln/>
        </p:spPr>
        <p:txBody>
          <a:bodyPr wrap="square" rtlCol="0" anchor="ctr"/>
          <a:lstStyle/>
          <a:p>
            <a:pPr marL="0" indent="0" algn="ctr">
              <a:buNone/>
            </a:pPr>
            <a:r>
              <a:rPr lang="en-US" sz="1300" b="1" dirty="0">
                <a:solidFill>
                  <a:srgbClr val="1B2A5E"/>
                </a:solidFill>
                <a:latin typeface="Calibri" pitchFamily="34" charset="0"/>
                <a:ea typeface="Calibri" pitchFamily="34" charset="-122"/>
                <a:cs typeface="Calibri" pitchFamily="34" charset="-120"/>
              </a:rPr>
              <a:t>Order</a:t>
            </a:r>
            <a:endParaRPr lang="en-US" sz="1300" dirty="0"/>
          </a:p>
          <a:p>
            <a:pPr marL="0" indent="0" algn="ctr">
              <a:buNone/>
            </a:pPr>
            <a:r>
              <a:rPr lang="en-US" sz="1300" b="1" dirty="0">
                <a:solidFill>
                  <a:srgbClr val="1B2A5E"/>
                </a:solidFill>
                <a:latin typeface="Calibri" pitchFamily="34" charset="0"/>
                <a:ea typeface="Calibri" pitchFamily="34" charset="-122"/>
                <a:cs typeface="Calibri" pitchFamily="34" charset="-120"/>
              </a:rPr>
              <a:t>History</a:t>
            </a:r>
            <a:endParaRPr lang="en-US" sz="1300" dirty="0"/>
          </a:p>
        </p:txBody>
      </p:sp>
      <p:sp>
        <p:nvSpPr>
          <p:cNvPr id="46" name="Text 39"/>
          <p:cNvSpPr/>
          <p:nvPr/>
        </p:nvSpPr>
        <p:spPr>
          <a:xfrm>
            <a:off x="7351776" y="2468880"/>
            <a:ext cx="1280160" cy="621792"/>
          </a:xfrm>
          <a:prstGeom prst="rect">
            <a:avLst/>
          </a:prstGeom>
          <a:noFill/>
          <a:ln/>
        </p:spPr>
        <p:txBody>
          <a:bodyPr wrap="square" rtlCol="0" anchor="ctr"/>
          <a:lstStyle/>
          <a:p>
            <a:pPr marL="0" indent="0" algn="ctr">
              <a:buNone/>
            </a:pPr>
            <a:r>
              <a:rPr lang="en-US" sz="950" dirty="0">
                <a:solidFill>
                  <a:srgbClr val="475569"/>
                </a:solidFill>
                <a:latin typeface="Calibri" pitchFamily="34" charset="0"/>
                <a:ea typeface="Calibri" pitchFamily="34" charset="-122"/>
                <a:cs typeface="Calibri" pitchFamily="34" charset="-120"/>
              </a:rPr>
              <a:t>Search • View Past Orders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50000"/>
          </a:schemeClr>
        </a:solidFill>
        <a:effectLst/>
      </p:bgPr>
    </p:bg>
    <p:spTree>
      <p:nvGrpSpPr>
        <p:cNvPr id="1" name="">
          <a:extLst>
            <a:ext uri="{FF2B5EF4-FFF2-40B4-BE49-F238E27FC236}">
              <a16:creationId xmlns:a16="http://schemas.microsoft.com/office/drawing/2014/main" id="{916178FF-7E9E-ACF5-C25F-AF11733D9327}"/>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F5785525-D1C7-2F46-8178-5875ECEA8B73}"/>
              </a:ext>
            </a:extLst>
          </p:cNvPr>
          <p:cNvSpPr/>
          <p:nvPr/>
        </p:nvSpPr>
        <p:spPr>
          <a:xfrm>
            <a:off x="365760" y="73152"/>
            <a:ext cx="8412480" cy="768096"/>
          </a:xfrm>
          <a:prstGeom prst="rect">
            <a:avLst/>
          </a:prstGeom>
          <a:noFill/>
          <a:ln/>
        </p:spPr>
        <p:txBody>
          <a:bodyPr wrap="square" lIns="0" tIns="0" rIns="0" bIns="0" rtlCol="0" anchor="ctr"/>
          <a:lstStyle/>
          <a:p>
            <a:pPr marL="0" indent="0">
              <a:buNone/>
            </a:pPr>
            <a:endParaRPr lang="en-US" sz="2800" dirty="0"/>
          </a:p>
        </p:txBody>
      </p:sp>
      <p:sp>
        <p:nvSpPr>
          <p:cNvPr id="8" name="Text 5">
            <a:extLst>
              <a:ext uri="{FF2B5EF4-FFF2-40B4-BE49-F238E27FC236}">
                <a16:creationId xmlns:a16="http://schemas.microsoft.com/office/drawing/2014/main" id="{2A385661-9B55-3928-BE3A-C921C63AF288}"/>
              </a:ext>
            </a:extLst>
          </p:cNvPr>
          <p:cNvSpPr/>
          <p:nvPr/>
        </p:nvSpPr>
        <p:spPr>
          <a:xfrm>
            <a:off x="301752" y="91440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7" name="Text 13">
            <a:extLst>
              <a:ext uri="{FF2B5EF4-FFF2-40B4-BE49-F238E27FC236}">
                <a16:creationId xmlns:a16="http://schemas.microsoft.com/office/drawing/2014/main" id="{E5A382D7-A1A8-81D6-B5EF-62331C205561}"/>
              </a:ext>
            </a:extLst>
          </p:cNvPr>
          <p:cNvSpPr/>
          <p:nvPr/>
        </p:nvSpPr>
        <p:spPr>
          <a:xfrm>
            <a:off x="2002536" y="91440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6" name="Text 21">
            <a:extLst>
              <a:ext uri="{FF2B5EF4-FFF2-40B4-BE49-F238E27FC236}">
                <a16:creationId xmlns:a16="http://schemas.microsoft.com/office/drawing/2014/main" id="{B4481F17-9910-F8BE-540D-77117E632063}"/>
              </a:ext>
            </a:extLst>
          </p:cNvPr>
          <p:cNvSpPr/>
          <p:nvPr/>
        </p:nvSpPr>
        <p:spPr>
          <a:xfrm>
            <a:off x="3703320" y="91440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5" name="Text 29">
            <a:extLst>
              <a:ext uri="{FF2B5EF4-FFF2-40B4-BE49-F238E27FC236}">
                <a16:creationId xmlns:a16="http://schemas.microsoft.com/office/drawing/2014/main" id="{E84AFCDB-590D-E2BB-14B6-72F59BD0E192}"/>
              </a:ext>
            </a:extLst>
          </p:cNvPr>
          <p:cNvSpPr/>
          <p:nvPr/>
        </p:nvSpPr>
        <p:spPr>
          <a:xfrm>
            <a:off x="5404104" y="91440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44" name="Text 37">
            <a:extLst>
              <a:ext uri="{FF2B5EF4-FFF2-40B4-BE49-F238E27FC236}">
                <a16:creationId xmlns:a16="http://schemas.microsoft.com/office/drawing/2014/main" id="{05F2FFAF-F37C-CC5A-1B3D-297F18ECDCA0}"/>
              </a:ext>
            </a:extLst>
          </p:cNvPr>
          <p:cNvSpPr/>
          <p:nvPr/>
        </p:nvSpPr>
        <p:spPr>
          <a:xfrm>
            <a:off x="7104888" y="91440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pic>
        <p:nvPicPr>
          <p:cNvPr id="48" name="Picture 47" descr="A computer screen shot of a computer screen&#10;&#10;AI-generated content may be incorrect.">
            <a:extLst>
              <a:ext uri="{FF2B5EF4-FFF2-40B4-BE49-F238E27FC236}">
                <a16:creationId xmlns:a16="http://schemas.microsoft.com/office/drawing/2014/main" id="{D451528B-CDB4-1708-9CC3-1B08BDC9F4A5}"/>
              </a:ext>
            </a:extLst>
          </p:cNvPr>
          <p:cNvPicPr>
            <a:picLocks noChangeAspect="1"/>
          </p:cNvPicPr>
          <p:nvPr/>
        </p:nvPicPr>
        <p:blipFill>
          <a:blip r:embed="rId3"/>
          <a:stretch>
            <a:fillRect/>
          </a:stretch>
        </p:blipFill>
        <p:spPr>
          <a:xfrm>
            <a:off x="1802542" y="0"/>
            <a:ext cx="5536171" cy="5143500"/>
          </a:xfrm>
          <a:prstGeom prst="rect">
            <a:avLst/>
          </a:prstGeom>
        </p:spPr>
      </p:pic>
    </p:spTree>
    <p:extLst>
      <p:ext uri="{BB962C8B-B14F-4D97-AF65-F5344CB8AC3E}">
        <p14:creationId xmlns:p14="http://schemas.microsoft.com/office/powerpoint/2010/main" val="21849481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5E"/>
          </a:solidFill>
          <a:ln w="12700">
            <a:solidFill>
              <a:srgbClr val="1B2A5E"/>
            </a:solidFill>
            <a:prstDash val="solid"/>
          </a:ln>
        </p:spPr>
        <p:txBody>
          <a:bodyPr/>
          <a:lstStyle/>
          <a:p>
            <a:endParaRPr lang="en-US"/>
          </a:p>
        </p:txBody>
      </p:sp>
      <p:sp>
        <p:nvSpPr>
          <p:cNvPr id="3" name="Text 1"/>
          <p:cNvSpPr/>
          <p:nvPr/>
        </p:nvSpPr>
        <p:spPr>
          <a:xfrm>
            <a:off x="365760" y="73152"/>
            <a:ext cx="8412480" cy="768096"/>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OOP Concepts Used</a:t>
            </a:r>
            <a:endParaRPr lang="en-US" sz="2800" dirty="0"/>
          </a:p>
        </p:txBody>
      </p:sp>
      <p:sp>
        <p:nvSpPr>
          <p:cNvPr id="4" name="Shape 2"/>
          <p:cNvSpPr/>
          <p:nvPr/>
        </p:nvSpPr>
        <p:spPr>
          <a:xfrm>
            <a:off x="320040" y="1051560"/>
            <a:ext cx="3977640" cy="1783080"/>
          </a:xfrm>
          <a:prstGeom prst="rect">
            <a:avLst/>
          </a:prstGeom>
          <a:solidFill>
            <a:srgbClr val="FFFFFF"/>
          </a:solidFill>
          <a:ln w="12700">
            <a:solidFill>
              <a:srgbClr val="0D9488"/>
            </a:solidFill>
            <a:prstDash val="solid"/>
          </a:ln>
          <a:effectLst>
            <a:outerShdw blurRad="63500" dist="25400" dir="8100000" algn="bl" rotWithShape="0">
              <a:srgbClr val="000000">
                <a:alpha val="7000"/>
              </a:srgbClr>
            </a:outerShdw>
          </a:effectLst>
        </p:spPr>
        <p:txBody>
          <a:bodyPr/>
          <a:lstStyle/>
          <a:p>
            <a:endParaRPr lang="en-US"/>
          </a:p>
        </p:txBody>
      </p:sp>
      <p:sp>
        <p:nvSpPr>
          <p:cNvPr id="5" name="Shape 3"/>
          <p:cNvSpPr/>
          <p:nvPr/>
        </p:nvSpPr>
        <p:spPr>
          <a:xfrm>
            <a:off x="320040" y="1051560"/>
            <a:ext cx="594360" cy="1783080"/>
          </a:xfrm>
          <a:prstGeom prst="rect">
            <a:avLst/>
          </a:prstGeom>
          <a:solidFill>
            <a:srgbClr val="0D9488"/>
          </a:solidFill>
          <a:ln w="12700">
            <a:solidFill>
              <a:srgbClr val="0D948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411480" y="1741932"/>
            <a:ext cx="402336" cy="402336"/>
          </a:xfrm>
          <a:prstGeom prst="rect">
            <a:avLst/>
          </a:prstGeom>
        </p:spPr>
      </p:pic>
      <p:sp>
        <p:nvSpPr>
          <p:cNvPr id="7" name="Text 4"/>
          <p:cNvSpPr/>
          <p:nvPr/>
        </p:nvSpPr>
        <p:spPr>
          <a:xfrm>
            <a:off x="987552" y="1161288"/>
            <a:ext cx="3218688" cy="329184"/>
          </a:xfrm>
          <a:prstGeom prst="rect">
            <a:avLst/>
          </a:prstGeom>
          <a:noFill/>
          <a:ln/>
        </p:spPr>
        <p:txBody>
          <a:bodyPr wrap="square" lIns="0" tIns="0" rIns="0" bIns="0" rtlCol="0" anchor="ctr"/>
          <a:lstStyle/>
          <a:p>
            <a:pPr marL="0" indent="0">
              <a:buNone/>
            </a:pPr>
            <a:r>
              <a:rPr lang="en-US" sz="1500" b="1" dirty="0">
                <a:solidFill>
                  <a:srgbClr val="0D9488"/>
                </a:solidFill>
                <a:latin typeface="Calibri" pitchFamily="34" charset="0"/>
                <a:ea typeface="Calibri" pitchFamily="34" charset="-122"/>
                <a:cs typeface="Calibri" pitchFamily="34" charset="-120"/>
              </a:rPr>
              <a:t>Encapsulation</a:t>
            </a:r>
            <a:endParaRPr lang="en-US" sz="1500" dirty="0"/>
          </a:p>
        </p:txBody>
      </p:sp>
      <p:sp>
        <p:nvSpPr>
          <p:cNvPr id="8" name="Text 5"/>
          <p:cNvSpPr/>
          <p:nvPr/>
        </p:nvSpPr>
        <p:spPr>
          <a:xfrm>
            <a:off x="987552" y="1508760"/>
            <a:ext cx="3218688" cy="685800"/>
          </a:xfrm>
          <a:prstGeom prst="rect">
            <a:avLst/>
          </a:prstGeom>
          <a:noFill/>
          <a:ln/>
        </p:spPr>
        <p:txBody>
          <a:bodyPr wrap="square" lIns="0" tIns="0" rIns="0" bIns="0" rtlCol="0" anchor="ctr"/>
          <a:lstStyle/>
          <a:p>
            <a:pPr marL="0" indent="0">
              <a:buNone/>
            </a:pPr>
            <a:r>
              <a:rPr lang="en-US" sz="1150" dirty="0">
                <a:solidFill>
                  <a:srgbClr val="475569"/>
                </a:solidFill>
                <a:latin typeface="Calibri" pitchFamily="34" charset="0"/>
                <a:ea typeface="Calibri" pitchFamily="34" charset="-122"/>
                <a:cs typeface="Calibri" pitchFamily="34" charset="-120"/>
              </a:rPr>
              <a:t>Data is kept private inside classes.</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Getters and Setters are used to access it.</a:t>
            </a:r>
            <a:endParaRPr lang="en-US" sz="1150" dirty="0"/>
          </a:p>
        </p:txBody>
      </p:sp>
      <p:sp>
        <p:nvSpPr>
          <p:cNvPr id="9" name="Shape 6"/>
          <p:cNvSpPr/>
          <p:nvPr/>
        </p:nvSpPr>
        <p:spPr>
          <a:xfrm>
            <a:off x="987552" y="2267712"/>
            <a:ext cx="3200400" cy="402336"/>
          </a:xfrm>
          <a:prstGeom prst="rect">
            <a:avLst/>
          </a:prstGeom>
          <a:solidFill>
            <a:srgbClr val="F0FDFA"/>
          </a:solidFill>
          <a:ln w="12700">
            <a:solidFill>
              <a:srgbClr val="0D9488"/>
            </a:solidFill>
            <a:prstDash val="solid"/>
          </a:ln>
        </p:spPr>
        <p:txBody>
          <a:bodyPr/>
          <a:lstStyle/>
          <a:p>
            <a:endParaRPr lang="en-US"/>
          </a:p>
        </p:txBody>
      </p:sp>
      <p:sp>
        <p:nvSpPr>
          <p:cNvPr id="10" name="Text 7"/>
          <p:cNvSpPr/>
          <p:nvPr/>
        </p:nvSpPr>
        <p:spPr>
          <a:xfrm>
            <a:off x="1033272" y="2286000"/>
            <a:ext cx="3127248" cy="365760"/>
          </a:xfrm>
          <a:prstGeom prst="rect">
            <a:avLst/>
          </a:prstGeom>
          <a:noFill/>
          <a:ln/>
        </p:spPr>
        <p:txBody>
          <a:bodyPr wrap="square" lIns="0" tIns="0" rIns="0" bIns="0" rtlCol="0" anchor="ctr"/>
          <a:lstStyle/>
          <a:p>
            <a:pPr marL="0" indent="0">
              <a:buNone/>
            </a:pPr>
            <a:r>
              <a:rPr lang="en-US" sz="1050" dirty="0">
                <a:solidFill>
                  <a:srgbClr val="1B2A5E"/>
                </a:solidFill>
                <a:latin typeface="Consolas" pitchFamily="34" charset="0"/>
                <a:ea typeface="Consolas" pitchFamily="34" charset="-122"/>
                <a:cs typeface="Consolas" pitchFamily="34" charset="-120"/>
              </a:rPr>
              <a:t>📌  FoodItem.java  →  private String name;</a:t>
            </a:r>
            <a:endParaRPr lang="en-US" sz="1050" dirty="0"/>
          </a:p>
        </p:txBody>
      </p:sp>
      <p:sp>
        <p:nvSpPr>
          <p:cNvPr id="11" name="Shape 8"/>
          <p:cNvSpPr/>
          <p:nvPr/>
        </p:nvSpPr>
        <p:spPr>
          <a:xfrm>
            <a:off x="4754880" y="1051560"/>
            <a:ext cx="3977640" cy="1783080"/>
          </a:xfrm>
          <a:prstGeom prst="rect">
            <a:avLst/>
          </a:prstGeom>
          <a:solidFill>
            <a:srgbClr val="FFFFFF"/>
          </a:solidFill>
          <a:ln w="12700">
            <a:solidFill>
              <a:srgbClr val="1B2A5E"/>
            </a:solidFill>
            <a:prstDash val="solid"/>
          </a:ln>
          <a:effectLst>
            <a:outerShdw blurRad="63500" dist="25400" dir="8100000" algn="bl" rotWithShape="0">
              <a:srgbClr val="000000">
                <a:alpha val="7000"/>
              </a:srgbClr>
            </a:outerShdw>
          </a:effectLst>
        </p:spPr>
        <p:txBody>
          <a:bodyPr/>
          <a:lstStyle/>
          <a:p>
            <a:endParaRPr lang="en-US"/>
          </a:p>
        </p:txBody>
      </p:sp>
      <p:sp>
        <p:nvSpPr>
          <p:cNvPr id="12" name="Shape 9"/>
          <p:cNvSpPr/>
          <p:nvPr/>
        </p:nvSpPr>
        <p:spPr>
          <a:xfrm>
            <a:off x="4754880" y="1051560"/>
            <a:ext cx="594360" cy="1783080"/>
          </a:xfrm>
          <a:prstGeom prst="rect">
            <a:avLst/>
          </a:prstGeom>
          <a:solidFill>
            <a:srgbClr val="1B2A5E"/>
          </a:solidFill>
          <a:ln w="12700">
            <a:solidFill>
              <a:srgbClr val="1B2A5E"/>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846320" y="1741932"/>
            <a:ext cx="402336" cy="402336"/>
          </a:xfrm>
          <a:prstGeom prst="rect">
            <a:avLst/>
          </a:prstGeom>
        </p:spPr>
      </p:pic>
      <p:sp>
        <p:nvSpPr>
          <p:cNvPr id="14" name="Text 10"/>
          <p:cNvSpPr/>
          <p:nvPr/>
        </p:nvSpPr>
        <p:spPr>
          <a:xfrm>
            <a:off x="5422392" y="1161288"/>
            <a:ext cx="3218688" cy="329184"/>
          </a:xfrm>
          <a:prstGeom prst="rect">
            <a:avLst/>
          </a:prstGeom>
          <a:noFill/>
          <a:ln/>
        </p:spPr>
        <p:txBody>
          <a:bodyPr wrap="square" lIns="0" tIns="0" rIns="0" bIns="0" rtlCol="0" anchor="ctr"/>
          <a:lstStyle/>
          <a:p>
            <a:pPr marL="0" indent="0">
              <a:buNone/>
            </a:pPr>
            <a:r>
              <a:rPr lang="en-US" sz="1500" b="1" dirty="0">
                <a:solidFill>
                  <a:srgbClr val="1B2A5E"/>
                </a:solidFill>
                <a:latin typeface="Calibri" pitchFamily="34" charset="0"/>
                <a:ea typeface="Calibri" pitchFamily="34" charset="-122"/>
                <a:cs typeface="Calibri" pitchFamily="34" charset="-120"/>
              </a:rPr>
              <a:t>Inheritance</a:t>
            </a:r>
            <a:endParaRPr lang="en-US" sz="1500" dirty="0"/>
          </a:p>
        </p:txBody>
      </p:sp>
      <p:sp>
        <p:nvSpPr>
          <p:cNvPr id="15" name="Text 11"/>
          <p:cNvSpPr/>
          <p:nvPr/>
        </p:nvSpPr>
        <p:spPr>
          <a:xfrm>
            <a:off x="5422392" y="1508760"/>
            <a:ext cx="3218688" cy="685800"/>
          </a:xfrm>
          <a:prstGeom prst="rect">
            <a:avLst/>
          </a:prstGeom>
          <a:noFill/>
          <a:ln/>
        </p:spPr>
        <p:txBody>
          <a:bodyPr wrap="square" lIns="0" tIns="0" rIns="0" bIns="0" rtlCol="0" anchor="ctr"/>
          <a:lstStyle/>
          <a:p>
            <a:pPr marL="0" indent="0">
              <a:buNone/>
            </a:pPr>
            <a:r>
              <a:rPr lang="en-US" sz="1150" dirty="0">
                <a:solidFill>
                  <a:srgbClr val="475569"/>
                </a:solidFill>
                <a:latin typeface="Calibri" pitchFamily="34" charset="0"/>
                <a:ea typeface="Calibri" pitchFamily="34" charset="-122"/>
                <a:cs typeface="Calibri" pitchFamily="34" charset="-120"/>
              </a:rPr>
              <a:t>Child class reuses code from Parent class.</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Reduces code repetition.</a:t>
            </a:r>
            <a:endParaRPr lang="en-US" sz="1150" dirty="0"/>
          </a:p>
        </p:txBody>
      </p:sp>
      <p:sp>
        <p:nvSpPr>
          <p:cNvPr id="16" name="Shape 12"/>
          <p:cNvSpPr/>
          <p:nvPr/>
        </p:nvSpPr>
        <p:spPr>
          <a:xfrm>
            <a:off x="5422392" y="2267712"/>
            <a:ext cx="3200400" cy="402336"/>
          </a:xfrm>
          <a:prstGeom prst="rect">
            <a:avLst/>
          </a:prstGeom>
          <a:solidFill>
            <a:srgbClr val="F0FDFA"/>
          </a:solidFill>
          <a:ln w="12700">
            <a:solidFill>
              <a:srgbClr val="1B2A5E"/>
            </a:solidFill>
            <a:prstDash val="solid"/>
          </a:ln>
        </p:spPr>
        <p:txBody>
          <a:bodyPr/>
          <a:lstStyle/>
          <a:p>
            <a:endParaRPr lang="en-US"/>
          </a:p>
        </p:txBody>
      </p:sp>
      <p:sp>
        <p:nvSpPr>
          <p:cNvPr id="17" name="Text 13"/>
          <p:cNvSpPr/>
          <p:nvPr/>
        </p:nvSpPr>
        <p:spPr>
          <a:xfrm>
            <a:off x="5468112" y="2286000"/>
            <a:ext cx="3127248" cy="365760"/>
          </a:xfrm>
          <a:prstGeom prst="rect">
            <a:avLst/>
          </a:prstGeom>
          <a:noFill/>
          <a:ln/>
        </p:spPr>
        <p:txBody>
          <a:bodyPr wrap="square" lIns="0" tIns="0" rIns="0" bIns="0" rtlCol="0" anchor="ctr"/>
          <a:lstStyle/>
          <a:p>
            <a:pPr marL="0" indent="0">
              <a:buNone/>
            </a:pPr>
            <a:r>
              <a:rPr lang="en-US" sz="1050" dirty="0">
                <a:solidFill>
                  <a:srgbClr val="1B2A5E"/>
                </a:solidFill>
                <a:latin typeface="Consolas" pitchFamily="34" charset="0"/>
                <a:ea typeface="Consolas" pitchFamily="34" charset="-122"/>
                <a:cs typeface="Consolas" pitchFamily="34" charset="-120"/>
              </a:rPr>
              <a:t>📌  Customer extends User</a:t>
            </a:r>
            <a:endParaRPr lang="en-US" sz="1050" dirty="0"/>
          </a:p>
        </p:txBody>
      </p:sp>
      <p:sp>
        <p:nvSpPr>
          <p:cNvPr id="18" name="Shape 14"/>
          <p:cNvSpPr/>
          <p:nvPr/>
        </p:nvSpPr>
        <p:spPr>
          <a:xfrm>
            <a:off x="320040" y="3090672"/>
            <a:ext cx="3977640" cy="1783080"/>
          </a:xfrm>
          <a:prstGeom prst="rect">
            <a:avLst/>
          </a:prstGeom>
          <a:solidFill>
            <a:srgbClr val="FFFFFF"/>
          </a:solidFill>
          <a:ln w="12700">
            <a:solidFill>
              <a:srgbClr val="7C3AED"/>
            </a:solidFill>
            <a:prstDash val="solid"/>
          </a:ln>
          <a:effectLst>
            <a:outerShdw blurRad="63500" dist="25400" dir="8100000" algn="bl" rotWithShape="0">
              <a:srgbClr val="000000">
                <a:alpha val="7000"/>
              </a:srgbClr>
            </a:outerShdw>
          </a:effectLst>
        </p:spPr>
        <p:txBody>
          <a:bodyPr/>
          <a:lstStyle/>
          <a:p>
            <a:endParaRPr lang="en-US"/>
          </a:p>
        </p:txBody>
      </p:sp>
      <p:sp>
        <p:nvSpPr>
          <p:cNvPr id="19" name="Shape 15"/>
          <p:cNvSpPr/>
          <p:nvPr/>
        </p:nvSpPr>
        <p:spPr>
          <a:xfrm>
            <a:off x="320040" y="3090672"/>
            <a:ext cx="594360" cy="1783080"/>
          </a:xfrm>
          <a:prstGeom prst="rect">
            <a:avLst/>
          </a:prstGeom>
          <a:solidFill>
            <a:srgbClr val="7C3AED"/>
          </a:solidFill>
          <a:ln w="12700">
            <a:solidFill>
              <a:srgbClr val="7C3AED"/>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411480" y="3781044"/>
            <a:ext cx="402336" cy="402336"/>
          </a:xfrm>
          <a:prstGeom prst="rect">
            <a:avLst/>
          </a:prstGeom>
        </p:spPr>
      </p:pic>
      <p:sp>
        <p:nvSpPr>
          <p:cNvPr id="21" name="Text 16"/>
          <p:cNvSpPr/>
          <p:nvPr/>
        </p:nvSpPr>
        <p:spPr>
          <a:xfrm>
            <a:off x="987552" y="3200400"/>
            <a:ext cx="3218688" cy="329184"/>
          </a:xfrm>
          <a:prstGeom prst="rect">
            <a:avLst/>
          </a:prstGeom>
          <a:noFill/>
          <a:ln/>
        </p:spPr>
        <p:txBody>
          <a:bodyPr wrap="square" lIns="0" tIns="0" rIns="0" bIns="0" rtlCol="0" anchor="ctr"/>
          <a:lstStyle/>
          <a:p>
            <a:pPr marL="0" indent="0">
              <a:buNone/>
            </a:pPr>
            <a:r>
              <a:rPr lang="en-US" sz="1500" b="1" dirty="0">
                <a:solidFill>
                  <a:srgbClr val="7C3AED"/>
                </a:solidFill>
                <a:latin typeface="Calibri" pitchFamily="34" charset="0"/>
                <a:ea typeface="Calibri" pitchFamily="34" charset="-122"/>
                <a:cs typeface="Calibri" pitchFamily="34" charset="-120"/>
              </a:rPr>
              <a:t>Abstraction</a:t>
            </a:r>
            <a:endParaRPr lang="en-US" sz="1500" dirty="0"/>
          </a:p>
        </p:txBody>
      </p:sp>
      <p:sp>
        <p:nvSpPr>
          <p:cNvPr id="22" name="Text 17"/>
          <p:cNvSpPr/>
          <p:nvPr/>
        </p:nvSpPr>
        <p:spPr>
          <a:xfrm>
            <a:off x="987552" y="3547872"/>
            <a:ext cx="3218688" cy="685800"/>
          </a:xfrm>
          <a:prstGeom prst="rect">
            <a:avLst/>
          </a:prstGeom>
          <a:noFill/>
          <a:ln/>
        </p:spPr>
        <p:txBody>
          <a:bodyPr wrap="square" lIns="0" tIns="0" rIns="0" bIns="0" rtlCol="0" anchor="ctr"/>
          <a:lstStyle/>
          <a:p>
            <a:pPr marL="0" indent="0">
              <a:buNone/>
            </a:pPr>
            <a:r>
              <a:rPr lang="en-US" sz="1150" dirty="0">
                <a:solidFill>
                  <a:srgbClr val="475569"/>
                </a:solidFill>
                <a:latin typeface="Calibri" pitchFamily="34" charset="0"/>
                <a:ea typeface="Calibri" pitchFamily="34" charset="-122"/>
                <a:cs typeface="Calibri" pitchFamily="34" charset="-120"/>
              </a:rPr>
              <a:t>We hide complex details and only show what is needed.</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Abstract classes define structure.</a:t>
            </a:r>
            <a:endParaRPr lang="en-US" sz="1150" dirty="0"/>
          </a:p>
        </p:txBody>
      </p:sp>
      <p:sp>
        <p:nvSpPr>
          <p:cNvPr id="23" name="Shape 18"/>
          <p:cNvSpPr/>
          <p:nvPr/>
        </p:nvSpPr>
        <p:spPr>
          <a:xfrm>
            <a:off x="987552" y="4306824"/>
            <a:ext cx="3200400" cy="402336"/>
          </a:xfrm>
          <a:prstGeom prst="rect">
            <a:avLst/>
          </a:prstGeom>
          <a:solidFill>
            <a:srgbClr val="F0FDFA"/>
          </a:solidFill>
          <a:ln w="12700">
            <a:solidFill>
              <a:srgbClr val="7C3AED"/>
            </a:solidFill>
            <a:prstDash val="solid"/>
          </a:ln>
        </p:spPr>
        <p:txBody>
          <a:bodyPr/>
          <a:lstStyle/>
          <a:p>
            <a:endParaRPr lang="en-US"/>
          </a:p>
        </p:txBody>
      </p:sp>
      <p:sp>
        <p:nvSpPr>
          <p:cNvPr id="24" name="Text 19"/>
          <p:cNvSpPr/>
          <p:nvPr/>
        </p:nvSpPr>
        <p:spPr>
          <a:xfrm>
            <a:off x="1033272" y="4325112"/>
            <a:ext cx="3127248" cy="365760"/>
          </a:xfrm>
          <a:prstGeom prst="rect">
            <a:avLst/>
          </a:prstGeom>
          <a:noFill/>
          <a:ln/>
        </p:spPr>
        <p:txBody>
          <a:bodyPr wrap="square" lIns="0" tIns="0" rIns="0" bIns="0" rtlCol="0" anchor="ctr"/>
          <a:lstStyle/>
          <a:p>
            <a:pPr marL="0" indent="0">
              <a:buNone/>
            </a:pPr>
            <a:r>
              <a:rPr lang="en-US" sz="1050" dirty="0">
                <a:solidFill>
                  <a:srgbClr val="1B2A5E"/>
                </a:solidFill>
                <a:latin typeface="Consolas" pitchFamily="34" charset="0"/>
                <a:ea typeface="Consolas" pitchFamily="34" charset="-122"/>
                <a:cs typeface="Consolas" pitchFamily="34" charset="-120"/>
              </a:rPr>
              <a:t>📌  User.java is an Abstract class</a:t>
            </a:r>
            <a:endParaRPr lang="en-US" sz="1050" dirty="0"/>
          </a:p>
        </p:txBody>
      </p:sp>
      <p:sp>
        <p:nvSpPr>
          <p:cNvPr id="25" name="Shape 20"/>
          <p:cNvSpPr/>
          <p:nvPr/>
        </p:nvSpPr>
        <p:spPr>
          <a:xfrm>
            <a:off x="4754880" y="3090672"/>
            <a:ext cx="3977640" cy="1783080"/>
          </a:xfrm>
          <a:prstGeom prst="rect">
            <a:avLst/>
          </a:prstGeom>
          <a:solidFill>
            <a:srgbClr val="FFFFFF"/>
          </a:solidFill>
          <a:ln w="12700">
            <a:solidFill>
              <a:srgbClr val="B45309"/>
            </a:solidFill>
            <a:prstDash val="solid"/>
          </a:ln>
          <a:effectLst>
            <a:outerShdw blurRad="63500" dist="25400" dir="8100000" algn="bl" rotWithShape="0">
              <a:srgbClr val="000000">
                <a:alpha val="7000"/>
              </a:srgbClr>
            </a:outerShdw>
          </a:effectLst>
        </p:spPr>
        <p:txBody>
          <a:bodyPr/>
          <a:lstStyle/>
          <a:p>
            <a:endParaRPr lang="en-US"/>
          </a:p>
        </p:txBody>
      </p:sp>
      <p:sp>
        <p:nvSpPr>
          <p:cNvPr id="26" name="Shape 21"/>
          <p:cNvSpPr/>
          <p:nvPr/>
        </p:nvSpPr>
        <p:spPr>
          <a:xfrm>
            <a:off x="4754880" y="3090672"/>
            <a:ext cx="594360" cy="1783080"/>
          </a:xfrm>
          <a:prstGeom prst="rect">
            <a:avLst/>
          </a:prstGeom>
          <a:solidFill>
            <a:srgbClr val="B45309"/>
          </a:solidFill>
          <a:ln w="12700">
            <a:solidFill>
              <a:srgbClr val="B45309"/>
            </a:solidFill>
            <a:prstDash val="solid"/>
          </a:ln>
        </p:spPr>
        <p:txBody>
          <a:bodyPr/>
          <a:lstStyle/>
          <a:p>
            <a:endParaRPr lang="en-US"/>
          </a:p>
        </p:txBody>
      </p:sp>
      <p:pic>
        <p:nvPicPr>
          <p:cNvPr id="27" name="Image 3" descr="preencoded.png"/>
          <p:cNvPicPr>
            <a:picLocks noChangeAspect="1"/>
          </p:cNvPicPr>
          <p:nvPr/>
        </p:nvPicPr>
        <p:blipFill>
          <a:blip r:embed="rId6"/>
          <a:stretch>
            <a:fillRect/>
          </a:stretch>
        </p:blipFill>
        <p:spPr>
          <a:xfrm>
            <a:off x="4846320" y="3781044"/>
            <a:ext cx="402336" cy="402336"/>
          </a:xfrm>
          <a:prstGeom prst="rect">
            <a:avLst/>
          </a:prstGeom>
        </p:spPr>
      </p:pic>
      <p:sp>
        <p:nvSpPr>
          <p:cNvPr id="28" name="Text 22"/>
          <p:cNvSpPr/>
          <p:nvPr/>
        </p:nvSpPr>
        <p:spPr>
          <a:xfrm>
            <a:off x="5422392" y="3200400"/>
            <a:ext cx="3218688" cy="329184"/>
          </a:xfrm>
          <a:prstGeom prst="rect">
            <a:avLst/>
          </a:prstGeom>
          <a:noFill/>
          <a:ln/>
        </p:spPr>
        <p:txBody>
          <a:bodyPr wrap="square" lIns="0" tIns="0" rIns="0" bIns="0" rtlCol="0" anchor="ctr"/>
          <a:lstStyle/>
          <a:p>
            <a:pPr marL="0" indent="0">
              <a:buNone/>
            </a:pPr>
            <a:r>
              <a:rPr lang="en-US" sz="1500" b="1" dirty="0">
                <a:solidFill>
                  <a:srgbClr val="B45309"/>
                </a:solidFill>
                <a:latin typeface="Calibri" pitchFamily="34" charset="0"/>
                <a:ea typeface="Calibri" pitchFamily="34" charset="-122"/>
                <a:cs typeface="Calibri" pitchFamily="34" charset="-120"/>
              </a:rPr>
              <a:t>Polymorphism</a:t>
            </a:r>
            <a:endParaRPr lang="en-US" sz="1500" dirty="0"/>
          </a:p>
        </p:txBody>
      </p:sp>
      <p:sp>
        <p:nvSpPr>
          <p:cNvPr id="29" name="Text 23"/>
          <p:cNvSpPr/>
          <p:nvPr/>
        </p:nvSpPr>
        <p:spPr>
          <a:xfrm>
            <a:off x="5422392" y="3547872"/>
            <a:ext cx="3218688" cy="685800"/>
          </a:xfrm>
          <a:prstGeom prst="rect">
            <a:avLst/>
          </a:prstGeom>
          <a:noFill/>
          <a:ln/>
        </p:spPr>
        <p:txBody>
          <a:bodyPr wrap="square" lIns="0" tIns="0" rIns="0" bIns="0" rtlCol="0" anchor="ctr"/>
          <a:lstStyle/>
          <a:p>
            <a:pPr marL="0" indent="0">
              <a:buNone/>
            </a:pPr>
            <a:r>
              <a:rPr lang="en-US" sz="1150" dirty="0">
                <a:solidFill>
                  <a:srgbClr val="475569"/>
                </a:solidFill>
                <a:latin typeface="Calibri" pitchFamily="34" charset="0"/>
                <a:ea typeface="Calibri" pitchFamily="34" charset="-122"/>
                <a:cs typeface="Calibri" pitchFamily="34" charset="-120"/>
              </a:rPr>
              <a:t>Same method name, different behavior.</a:t>
            </a:r>
            <a:endParaRPr lang="en-US" sz="1150" dirty="0"/>
          </a:p>
          <a:p>
            <a:pPr marL="0" indent="0">
              <a:buNone/>
            </a:pPr>
            <a:r>
              <a:rPr lang="en-US" sz="1150" dirty="0">
                <a:solidFill>
                  <a:srgbClr val="475569"/>
                </a:solidFill>
                <a:latin typeface="Calibri" pitchFamily="34" charset="0"/>
                <a:ea typeface="Calibri" pitchFamily="34" charset="-122"/>
                <a:cs typeface="Calibri" pitchFamily="34" charset="-120"/>
              </a:rPr>
              <a:t>Makes code flexible and reusable.</a:t>
            </a:r>
            <a:endParaRPr lang="en-US" sz="1150" dirty="0"/>
          </a:p>
        </p:txBody>
      </p:sp>
      <p:sp>
        <p:nvSpPr>
          <p:cNvPr id="30" name="Shape 24"/>
          <p:cNvSpPr/>
          <p:nvPr/>
        </p:nvSpPr>
        <p:spPr>
          <a:xfrm>
            <a:off x="5422392" y="4306824"/>
            <a:ext cx="3200400" cy="402336"/>
          </a:xfrm>
          <a:prstGeom prst="rect">
            <a:avLst/>
          </a:prstGeom>
          <a:solidFill>
            <a:srgbClr val="F0FDFA"/>
          </a:solidFill>
          <a:ln w="12700">
            <a:solidFill>
              <a:srgbClr val="B45309"/>
            </a:solidFill>
            <a:prstDash val="solid"/>
          </a:ln>
        </p:spPr>
        <p:txBody>
          <a:bodyPr/>
          <a:lstStyle/>
          <a:p>
            <a:endParaRPr lang="en-US"/>
          </a:p>
        </p:txBody>
      </p:sp>
      <p:sp>
        <p:nvSpPr>
          <p:cNvPr id="31" name="Text 25"/>
          <p:cNvSpPr/>
          <p:nvPr/>
        </p:nvSpPr>
        <p:spPr>
          <a:xfrm>
            <a:off x="5468112" y="4325112"/>
            <a:ext cx="3127248" cy="365760"/>
          </a:xfrm>
          <a:prstGeom prst="rect">
            <a:avLst/>
          </a:prstGeom>
          <a:noFill/>
          <a:ln/>
        </p:spPr>
        <p:txBody>
          <a:bodyPr wrap="square" lIns="0" tIns="0" rIns="0" bIns="0" rtlCol="0" anchor="ctr"/>
          <a:lstStyle/>
          <a:p>
            <a:pPr marL="0" indent="0">
              <a:buNone/>
            </a:pPr>
            <a:r>
              <a:rPr lang="en-US" sz="1050" dirty="0">
                <a:solidFill>
                  <a:srgbClr val="1B2A5E"/>
                </a:solidFill>
                <a:latin typeface="Consolas" pitchFamily="34" charset="0"/>
                <a:ea typeface="Consolas" pitchFamily="34" charset="-122"/>
                <a:cs typeface="Consolas" pitchFamily="34" charset="-120"/>
              </a:rPr>
              <a:t>📌  Method Overriding in Child classes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5E"/>
          </a:solidFill>
          <a:ln w="12700">
            <a:solidFill>
              <a:srgbClr val="1B2A5E"/>
            </a:solidFill>
            <a:prstDash val="solid"/>
          </a:ln>
        </p:spPr>
        <p:txBody>
          <a:bodyPr/>
          <a:lstStyle/>
          <a:p>
            <a:endParaRPr lang="en-US"/>
          </a:p>
        </p:txBody>
      </p:sp>
      <p:sp>
        <p:nvSpPr>
          <p:cNvPr id="3" name="Text 1"/>
          <p:cNvSpPr/>
          <p:nvPr/>
        </p:nvSpPr>
        <p:spPr>
          <a:xfrm>
            <a:off x="365760" y="73152"/>
            <a:ext cx="8412480" cy="768096"/>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Project Summary</a:t>
            </a:r>
            <a:endParaRPr lang="en-US" sz="2800" dirty="0"/>
          </a:p>
        </p:txBody>
      </p:sp>
      <p:sp>
        <p:nvSpPr>
          <p:cNvPr id="4" name="Shape 2"/>
          <p:cNvSpPr/>
          <p:nvPr/>
        </p:nvSpPr>
        <p:spPr>
          <a:xfrm>
            <a:off x="320040" y="1005840"/>
            <a:ext cx="8503920" cy="594360"/>
          </a:xfrm>
          <a:prstGeom prst="rect">
            <a:avLst/>
          </a:prstGeom>
          <a:solidFill>
            <a:srgbClr val="CCFBF1"/>
          </a:solidFill>
          <a:ln w="12700">
            <a:solidFill>
              <a:srgbClr val="0D9488"/>
            </a:solidFill>
            <a:prstDash val="solid"/>
          </a:ln>
        </p:spPr>
        <p:txBody>
          <a:bodyPr/>
          <a:lstStyle/>
          <a:p>
            <a:endParaRPr lang="en-US"/>
          </a:p>
        </p:txBody>
      </p:sp>
      <p:sp>
        <p:nvSpPr>
          <p:cNvPr id="5" name="Text 3"/>
          <p:cNvSpPr/>
          <p:nvPr/>
        </p:nvSpPr>
        <p:spPr>
          <a:xfrm>
            <a:off x="411480" y="1024128"/>
            <a:ext cx="8321040" cy="548640"/>
          </a:xfrm>
          <a:prstGeom prst="rect">
            <a:avLst/>
          </a:prstGeom>
          <a:noFill/>
          <a:ln/>
        </p:spPr>
        <p:txBody>
          <a:bodyPr wrap="square" lIns="0" tIns="0" rIns="0" bIns="0" rtlCol="0" anchor="ctr"/>
          <a:lstStyle/>
          <a:p>
            <a:pPr marL="0" indent="0">
              <a:buNone/>
            </a:pPr>
            <a:r>
              <a:rPr lang="en-US" sz="1200" dirty="0">
                <a:solidFill>
                  <a:srgbClr val="1B2A5E"/>
                </a:solidFill>
                <a:latin typeface="Calibri" pitchFamily="34" charset="0"/>
                <a:ea typeface="Calibri" pitchFamily="34" charset="-122"/>
                <a:cs typeface="Calibri" pitchFamily="34" charset="-120"/>
              </a:rPr>
              <a:t>The Campus Cafeteria Management System is a Java Swing desktop application that simplifies cafeteria operations for both staff and customers.</a:t>
            </a:r>
            <a:endParaRPr lang="en-US" sz="1200" dirty="0"/>
          </a:p>
        </p:txBody>
      </p:sp>
      <p:sp>
        <p:nvSpPr>
          <p:cNvPr id="6" name="Shape 4"/>
          <p:cNvSpPr/>
          <p:nvPr/>
        </p:nvSpPr>
        <p:spPr>
          <a:xfrm>
            <a:off x="320040" y="1737360"/>
            <a:ext cx="4023360" cy="2651760"/>
          </a:xfrm>
          <a:prstGeom prst="rect">
            <a:avLst/>
          </a:prstGeom>
          <a:solidFill>
            <a:srgbClr val="FFFFFF"/>
          </a:solidFill>
          <a:ln w="12700">
            <a:solidFill>
              <a:srgbClr val="0D9488"/>
            </a:solidFill>
            <a:prstDash val="solid"/>
          </a:ln>
          <a:effectLst>
            <a:outerShdw blurRad="63500" dist="25400" dir="8100000" algn="bl" rotWithShape="0">
              <a:srgbClr val="000000">
                <a:alpha val="7000"/>
              </a:srgbClr>
            </a:outerShdw>
          </a:effectLst>
        </p:spPr>
        <p:txBody>
          <a:bodyPr/>
          <a:lstStyle/>
          <a:p>
            <a:endParaRPr lang="en-US"/>
          </a:p>
        </p:txBody>
      </p:sp>
      <p:sp>
        <p:nvSpPr>
          <p:cNvPr id="7" name="Shape 5"/>
          <p:cNvSpPr/>
          <p:nvPr/>
        </p:nvSpPr>
        <p:spPr>
          <a:xfrm>
            <a:off x="320040" y="1737360"/>
            <a:ext cx="4023360" cy="420624"/>
          </a:xfrm>
          <a:prstGeom prst="rect">
            <a:avLst/>
          </a:prstGeom>
          <a:solidFill>
            <a:srgbClr val="0D9488"/>
          </a:solidFill>
          <a:ln w="12700">
            <a:solidFill>
              <a:srgbClr val="0D9488"/>
            </a:solidFill>
            <a:prstDash val="solid"/>
          </a:ln>
        </p:spPr>
        <p:txBody>
          <a:bodyPr/>
          <a:lstStyle/>
          <a:p>
            <a:endParaRPr lang="en-US"/>
          </a:p>
        </p:txBody>
      </p:sp>
      <p:sp>
        <p:nvSpPr>
          <p:cNvPr id="8" name="Text 6"/>
          <p:cNvSpPr/>
          <p:nvPr/>
        </p:nvSpPr>
        <p:spPr>
          <a:xfrm>
            <a:off x="411480" y="1737360"/>
            <a:ext cx="3840480" cy="42062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Main Capabilities</a:t>
            </a:r>
            <a:endParaRPr lang="en-US" sz="1300" dirty="0"/>
          </a:p>
        </p:txBody>
      </p:sp>
      <p:sp>
        <p:nvSpPr>
          <p:cNvPr id="9" name="Text 7"/>
          <p:cNvSpPr/>
          <p:nvPr/>
        </p:nvSpPr>
        <p:spPr>
          <a:xfrm>
            <a:off x="457200" y="2212848"/>
            <a:ext cx="3749040" cy="2103120"/>
          </a:xfrm>
          <a:prstGeom prst="rect">
            <a:avLst/>
          </a:prstGeom>
          <a:noFill/>
          <a:ln/>
        </p:spPr>
        <p:txBody>
          <a:bodyPr wrap="square" rtlCol="0" anchor="ctr"/>
          <a:lstStyle/>
          <a:p>
            <a:pPr marL="342900" indent="-342900">
              <a:spcAft>
                <a:spcPts val="300"/>
              </a:spcAft>
              <a:buSzPct val="100000"/>
              <a:buChar char="•"/>
            </a:pPr>
            <a:r>
              <a:rPr lang="en-US" sz="1150" dirty="0">
                <a:solidFill>
                  <a:srgbClr val="475569"/>
                </a:solidFill>
                <a:latin typeface="Calibri" pitchFamily="34" charset="0"/>
                <a:ea typeface="Calibri" pitchFamily="34" charset="-122"/>
                <a:cs typeface="Calibri" pitchFamily="34" charset="-120"/>
              </a:rPr>
              <a:t>Food Item Management (Add, Edit, Delete, Search)</a:t>
            </a:r>
            <a:endParaRPr lang="en-US" sz="1150" dirty="0"/>
          </a:p>
          <a:p>
            <a:pPr marL="342900" indent="-342900">
              <a:spcAft>
                <a:spcPts val="300"/>
              </a:spcAft>
              <a:buSzPct val="100000"/>
              <a:buChar char="•"/>
            </a:pPr>
            <a:r>
              <a:rPr lang="en-US" sz="1150" dirty="0">
                <a:solidFill>
                  <a:srgbClr val="475569"/>
                </a:solidFill>
                <a:latin typeface="Calibri" pitchFamily="34" charset="0"/>
                <a:ea typeface="Calibri" pitchFamily="34" charset="-122"/>
                <a:cs typeface="Calibri" pitchFamily="34" charset="-120"/>
              </a:rPr>
              <a:t>Order Management</a:t>
            </a:r>
            <a:endParaRPr lang="en-US" sz="1150" dirty="0"/>
          </a:p>
          <a:p>
            <a:pPr marL="342900" indent="-342900">
              <a:spcAft>
                <a:spcPts val="300"/>
              </a:spcAft>
              <a:buSzPct val="100000"/>
              <a:buChar char="•"/>
            </a:pPr>
            <a:r>
              <a:rPr lang="en-US" sz="1150" dirty="0">
                <a:solidFill>
                  <a:srgbClr val="475569"/>
                </a:solidFill>
                <a:latin typeface="Calibri" pitchFamily="34" charset="0"/>
                <a:ea typeface="Calibri" pitchFamily="34" charset="-122"/>
                <a:cs typeface="Calibri" pitchFamily="34" charset="-120"/>
              </a:rPr>
              <a:t>Multi-Item Cart System</a:t>
            </a:r>
            <a:endParaRPr lang="en-US" sz="1150" dirty="0"/>
          </a:p>
          <a:p>
            <a:pPr marL="342900" indent="-342900">
              <a:spcAft>
                <a:spcPts val="300"/>
              </a:spcAft>
              <a:buSzPct val="100000"/>
              <a:buChar char="•"/>
            </a:pPr>
            <a:r>
              <a:rPr lang="en-US" sz="1150" dirty="0">
                <a:solidFill>
                  <a:srgbClr val="475569"/>
                </a:solidFill>
                <a:latin typeface="Calibri" pitchFamily="34" charset="0"/>
                <a:ea typeface="Calibri" pitchFamily="34" charset="-122"/>
                <a:cs typeface="Calibri" pitchFamily="34" charset="-120"/>
              </a:rPr>
              <a:t>Automatic Bill Calculation</a:t>
            </a:r>
            <a:endParaRPr lang="en-US" sz="1150" dirty="0"/>
          </a:p>
          <a:p>
            <a:pPr marL="342900" indent="-342900">
              <a:spcAft>
                <a:spcPts val="300"/>
              </a:spcAft>
              <a:buSzPct val="100000"/>
              <a:buChar char="•"/>
            </a:pPr>
            <a:r>
              <a:rPr lang="en-US" sz="1150" dirty="0">
                <a:solidFill>
                  <a:srgbClr val="475569"/>
                </a:solidFill>
                <a:latin typeface="Calibri" pitchFamily="34" charset="0"/>
                <a:ea typeface="Calibri" pitchFamily="34" charset="-122"/>
                <a:cs typeface="Calibri" pitchFamily="34" charset="-120"/>
              </a:rPr>
              <a:t>File Storage for Permanent Data</a:t>
            </a:r>
            <a:endParaRPr lang="en-US" sz="1150" dirty="0"/>
          </a:p>
          <a:p>
            <a:pPr marL="342900" indent="-342900">
              <a:spcAft>
                <a:spcPts val="300"/>
              </a:spcAft>
              <a:buSzPct val="100000"/>
              <a:buChar char="•"/>
            </a:pPr>
            <a:r>
              <a:rPr lang="en-US" sz="1150" dirty="0">
                <a:solidFill>
                  <a:srgbClr val="475569"/>
                </a:solidFill>
                <a:latin typeface="Calibri" pitchFamily="34" charset="0"/>
                <a:ea typeface="Calibri" pitchFamily="34" charset="-122"/>
                <a:cs typeface="Calibri" pitchFamily="34" charset="-120"/>
              </a:rPr>
              <a:t>User-Friendly Graphical Interface</a:t>
            </a:r>
            <a:endParaRPr lang="en-US" sz="1150" dirty="0"/>
          </a:p>
        </p:txBody>
      </p:sp>
      <p:sp>
        <p:nvSpPr>
          <p:cNvPr id="10" name="Shape 8"/>
          <p:cNvSpPr/>
          <p:nvPr/>
        </p:nvSpPr>
        <p:spPr>
          <a:xfrm>
            <a:off x="4800600" y="1737360"/>
            <a:ext cx="4023360" cy="2651760"/>
          </a:xfrm>
          <a:prstGeom prst="rect">
            <a:avLst/>
          </a:prstGeom>
          <a:solidFill>
            <a:srgbClr val="FFFFFF"/>
          </a:solidFill>
          <a:ln w="12700">
            <a:solidFill>
              <a:srgbClr val="F59E0B"/>
            </a:solidFill>
            <a:prstDash val="solid"/>
          </a:ln>
          <a:effectLst>
            <a:outerShdw blurRad="63500" dist="25400" dir="8100000" algn="bl" rotWithShape="0">
              <a:srgbClr val="000000">
                <a:alpha val="7000"/>
              </a:srgbClr>
            </a:outerShdw>
          </a:effectLst>
        </p:spPr>
        <p:txBody>
          <a:bodyPr/>
          <a:lstStyle/>
          <a:p>
            <a:endParaRPr lang="en-US"/>
          </a:p>
        </p:txBody>
      </p:sp>
      <p:sp>
        <p:nvSpPr>
          <p:cNvPr id="11" name="Shape 9"/>
          <p:cNvSpPr/>
          <p:nvPr/>
        </p:nvSpPr>
        <p:spPr>
          <a:xfrm>
            <a:off x="4800600" y="1737360"/>
            <a:ext cx="4023360" cy="420624"/>
          </a:xfrm>
          <a:prstGeom prst="rect">
            <a:avLst/>
          </a:prstGeom>
          <a:solidFill>
            <a:srgbClr val="F59E0B"/>
          </a:solidFill>
          <a:ln w="12700">
            <a:solidFill>
              <a:srgbClr val="F59E0B"/>
            </a:solidFill>
            <a:prstDash val="solid"/>
          </a:ln>
        </p:spPr>
        <p:txBody>
          <a:bodyPr/>
          <a:lstStyle/>
          <a:p>
            <a:endParaRPr lang="en-US"/>
          </a:p>
        </p:txBody>
      </p:sp>
      <p:sp>
        <p:nvSpPr>
          <p:cNvPr id="12" name="Text 10"/>
          <p:cNvSpPr/>
          <p:nvPr/>
        </p:nvSpPr>
        <p:spPr>
          <a:xfrm>
            <a:off x="4892040" y="1737360"/>
            <a:ext cx="3840480" cy="42062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Benefits</a:t>
            </a:r>
            <a:endParaRPr lang="en-US" sz="1300" dirty="0"/>
          </a:p>
        </p:txBody>
      </p:sp>
      <p:sp>
        <p:nvSpPr>
          <p:cNvPr id="13" name="Text 11"/>
          <p:cNvSpPr/>
          <p:nvPr/>
        </p:nvSpPr>
        <p:spPr>
          <a:xfrm>
            <a:off x="4937760" y="2212848"/>
            <a:ext cx="3749040" cy="2103120"/>
          </a:xfrm>
          <a:prstGeom prst="rect">
            <a:avLst/>
          </a:prstGeom>
          <a:noFill/>
          <a:ln/>
        </p:spPr>
        <p:txBody>
          <a:bodyPr wrap="square" rtlCol="0" anchor="ctr"/>
          <a:lstStyle/>
          <a:p>
            <a:pPr marL="342900" indent="-342900">
              <a:spcAft>
                <a:spcPts val="300"/>
              </a:spcAft>
              <a:buSzPct val="100000"/>
              <a:buChar char="•"/>
            </a:pPr>
            <a:r>
              <a:rPr lang="en-US" sz="1150" dirty="0">
                <a:solidFill>
                  <a:srgbClr val="475569"/>
                </a:solidFill>
                <a:latin typeface="Calibri" pitchFamily="34" charset="0"/>
                <a:ea typeface="Calibri" pitchFamily="34" charset="-122"/>
                <a:cs typeface="Calibri" pitchFamily="34" charset="-120"/>
              </a:rPr>
              <a:t>Reduces manual work and paperwork</a:t>
            </a:r>
            <a:endParaRPr lang="en-US" sz="1150" dirty="0"/>
          </a:p>
          <a:p>
            <a:pPr marL="342900" indent="-342900">
              <a:spcAft>
                <a:spcPts val="300"/>
              </a:spcAft>
              <a:buSzPct val="100000"/>
              <a:buChar char="•"/>
            </a:pPr>
            <a:r>
              <a:rPr lang="en-US" sz="1150" dirty="0">
                <a:solidFill>
                  <a:srgbClr val="475569"/>
                </a:solidFill>
                <a:latin typeface="Calibri" pitchFamily="34" charset="0"/>
                <a:ea typeface="Calibri" pitchFamily="34" charset="-122"/>
                <a:cs typeface="Calibri" pitchFamily="34" charset="-120"/>
              </a:rPr>
              <a:t>Organizes food information in one place</a:t>
            </a:r>
            <a:endParaRPr lang="en-US" sz="1150" dirty="0"/>
          </a:p>
          <a:p>
            <a:pPr marL="342900" indent="-342900">
              <a:spcAft>
                <a:spcPts val="300"/>
              </a:spcAft>
              <a:buSzPct val="100000"/>
              <a:buChar char="•"/>
            </a:pPr>
            <a:r>
              <a:rPr lang="en-US" sz="1150" dirty="0">
                <a:solidFill>
                  <a:srgbClr val="475569"/>
                </a:solidFill>
                <a:latin typeface="Calibri" pitchFamily="34" charset="0"/>
                <a:ea typeface="Calibri" pitchFamily="34" charset="-122"/>
                <a:cs typeface="Calibri" pitchFamily="34" charset="-120"/>
              </a:rPr>
              <a:t>Stores records permanently</a:t>
            </a:r>
            <a:endParaRPr lang="en-US" sz="1150" dirty="0"/>
          </a:p>
          <a:p>
            <a:pPr marL="342900" indent="-342900">
              <a:spcAft>
                <a:spcPts val="300"/>
              </a:spcAft>
              <a:buSzPct val="100000"/>
              <a:buChar char="•"/>
            </a:pPr>
            <a:r>
              <a:rPr lang="en-US" sz="1150" dirty="0">
                <a:solidFill>
                  <a:srgbClr val="475569"/>
                </a:solidFill>
                <a:latin typeface="Calibri" pitchFamily="34" charset="0"/>
                <a:ea typeface="Calibri" pitchFamily="34" charset="-122"/>
                <a:cs typeface="Calibri" pitchFamily="34" charset="-120"/>
              </a:rPr>
              <a:t>Faster order processing</a:t>
            </a:r>
            <a:endParaRPr lang="en-US" sz="1150" dirty="0"/>
          </a:p>
          <a:p>
            <a:pPr marL="342900" indent="-342900">
              <a:spcAft>
                <a:spcPts val="300"/>
              </a:spcAft>
              <a:buSzPct val="100000"/>
              <a:buChar char="•"/>
            </a:pPr>
            <a:r>
              <a:rPr lang="en-US" sz="1150" dirty="0">
                <a:solidFill>
                  <a:srgbClr val="475569"/>
                </a:solidFill>
                <a:latin typeface="Calibri" pitchFamily="34" charset="0"/>
                <a:ea typeface="Calibri" pitchFamily="34" charset="-122"/>
                <a:cs typeface="Calibri" pitchFamily="34" charset="-120"/>
              </a:rPr>
              <a:t>Easy to use for all users</a:t>
            </a:r>
            <a:endParaRPr lang="en-US" sz="1150" dirty="0"/>
          </a:p>
          <a:p>
            <a:pPr marL="342900" indent="-342900">
              <a:spcAft>
                <a:spcPts val="300"/>
              </a:spcAft>
              <a:buSzPct val="100000"/>
              <a:buChar char="•"/>
            </a:pPr>
            <a:r>
              <a:rPr lang="en-US" sz="1150" dirty="0">
                <a:solidFill>
                  <a:srgbClr val="475569"/>
                </a:solidFill>
                <a:latin typeface="Calibri" pitchFamily="34" charset="0"/>
                <a:ea typeface="Calibri" pitchFamily="34" charset="-122"/>
                <a:cs typeface="Calibri" pitchFamily="34" charset="-120"/>
              </a:rPr>
              <a:t>Error prevention through input validation</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365760" y="73152"/>
            <a:ext cx="8412480" cy="4572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Nurjahan Khanom Mim</a:t>
            </a:r>
            <a:endParaRPr lang="en-US" sz="2200" dirty="0"/>
          </a:p>
        </p:txBody>
      </p:sp>
      <p:sp>
        <p:nvSpPr>
          <p:cNvPr id="4" name="Text 2"/>
          <p:cNvSpPr/>
          <p:nvPr/>
        </p:nvSpPr>
        <p:spPr>
          <a:xfrm>
            <a:off x="365760" y="521208"/>
            <a:ext cx="8412480" cy="320040"/>
          </a:xfrm>
          <a:prstGeom prst="rect">
            <a:avLst/>
          </a:prstGeom>
          <a:noFill/>
          <a:ln/>
        </p:spPr>
        <p:txBody>
          <a:bodyPr wrap="square" lIns="0" tIns="0" rIns="0" bIns="0" rtlCol="0" anchor="ctr"/>
          <a:lstStyle/>
          <a:p>
            <a:pPr marL="0" indent="0">
              <a:buNone/>
            </a:pPr>
            <a:r>
              <a:rPr lang="en-US" sz="1300" dirty="0">
                <a:solidFill>
                  <a:srgbClr val="CCFBF1"/>
                </a:solidFill>
                <a:latin typeface="Calibri" pitchFamily="34" charset="0"/>
                <a:ea typeface="Calibri" pitchFamily="34" charset="-122"/>
                <a:cs typeface="Calibri" pitchFamily="34" charset="-120"/>
              </a:rPr>
              <a:t>Role: Project Startup &amp; Main Window</a:t>
            </a:r>
            <a:endParaRPr lang="en-US" sz="1300" dirty="0"/>
          </a:p>
        </p:txBody>
      </p:sp>
      <p:sp>
        <p:nvSpPr>
          <p:cNvPr id="5" name="Shape 3"/>
          <p:cNvSpPr/>
          <p:nvPr/>
        </p:nvSpPr>
        <p:spPr>
          <a:xfrm>
            <a:off x="320040" y="1005840"/>
            <a:ext cx="2286000" cy="2560320"/>
          </a:xfrm>
          <a:prstGeom prst="rect">
            <a:avLst/>
          </a:prstGeom>
          <a:solidFill>
            <a:srgbClr val="FFFFFF"/>
          </a:solidFill>
          <a:ln w="12700">
            <a:solidFill>
              <a:srgbClr val="0D9488"/>
            </a:solidFill>
            <a:prstDash val="solid"/>
          </a:ln>
          <a:effectLst>
            <a:outerShdw blurRad="63500" dist="25400" dir="8100000" algn="bl" rotWithShape="0">
              <a:srgbClr val="000000">
                <a:alpha val="8000"/>
              </a:srgbClr>
            </a:outerShdw>
          </a:effectLst>
        </p:spPr>
        <p:txBody>
          <a:bodyPr/>
          <a:lstStyle/>
          <a:p>
            <a:endParaRPr lang="en-US"/>
          </a:p>
        </p:txBody>
      </p:sp>
      <p:sp>
        <p:nvSpPr>
          <p:cNvPr id="6" name="Shape 4"/>
          <p:cNvSpPr/>
          <p:nvPr/>
        </p:nvSpPr>
        <p:spPr>
          <a:xfrm>
            <a:off x="320040" y="1005840"/>
            <a:ext cx="2286000" cy="420624"/>
          </a:xfrm>
          <a:prstGeom prst="rect">
            <a:avLst/>
          </a:prstGeom>
          <a:solidFill>
            <a:srgbClr val="0D9488"/>
          </a:solidFill>
          <a:ln w="12700">
            <a:solidFill>
              <a:srgbClr val="0D9488"/>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438912" y="1042416"/>
            <a:ext cx="310896" cy="310896"/>
          </a:xfrm>
          <a:prstGeom prst="rect">
            <a:avLst/>
          </a:prstGeom>
        </p:spPr>
      </p:pic>
      <p:sp>
        <p:nvSpPr>
          <p:cNvPr id="8" name="Text 5"/>
          <p:cNvSpPr/>
          <p:nvPr/>
        </p:nvSpPr>
        <p:spPr>
          <a:xfrm>
            <a:off x="804672" y="1042416"/>
            <a:ext cx="173736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My Files</a:t>
            </a:r>
            <a:endParaRPr lang="en-US" sz="1300" dirty="0"/>
          </a:p>
        </p:txBody>
      </p:sp>
      <p:sp>
        <p:nvSpPr>
          <p:cNvPr id="9" name="Text 6"/>
          <p:cNvSpPr/>
          <p:nvPr/>
        </p:nvSpPr>
        <p:spPr>
          <a:xfrm>
            <a:off x="411480" y="1481328"/>
            <a:ext cx="2084832" cy="2011680"/>
          </a:xfrm>
          <a:prstGeom prst="rect">
            <a:avLst/>
          </a:prstGeom>
          <a:noFill/>
          <a:ln/>
        </p:spPr>
        <p:txBody>
          <a:bodyPr wrap="square" rtlCol="0" anchor="ctr"/>
          <a:lstStyle/>
          <a:p>
            <a:pPr marL="0" indent="0">
              <a:buNone/>
            </a:pPr>
            <a:r>
              <a:rPr lang="en-US" sz="1300" b="1" dirty="0">
                <a:solidFill>
                  <a:srgbClr val="1B2A5E"/>
                </a:solidFill>
                <a:latin typeface="Calibri" pitchFamily="34" charset="0"/>
                <a:ea typeface="Calibri" pitchFamily="34" charset="-122"/>
                <a:cs typeface="Calibri" pitchFamily="34" charset="-120"/>
              </a:rPr>
              <a:t>📄  Main.java</a:t>
            </a:r>
            <a:endParaRPr lang="en-US" sz="1300" dirty="0"/>
          </a:p>
          <a:p>
            <a:pPr marL="0" indent="0">
              <a:buNone/>
            </a:pPr>
            <a:r>
              <a:rPr lang="en-US" sz="1100" dirty="0">
                <a:solidFill>
                  <a:srgbClr val="475569"/>
                </a:solidFill>
                <a:latin typeface="Calibri" pitchFamily="34" charset="0"/>
                <a:ea typeface="Calibri" pitchFamily="34" charset="-122"/>
                <a:cs typeface="Calibri" pitchFamily="34" charset="-120"/>
              </a:rPr>
              <a:t>• Program entry point
• Starts the application
• Creates the main window
</a:t>
            </a:r>
            <a:endParaRPr lang="en-US" sz="1300" dirty="0"/>
          </a:p>
          <a:p>
            <a:pPr marL="0" indent="0">
              <a:buNone/>
            </a:pPr>
            <a:r>
              <a:rPr lang="en-US" sz="1300" b="1" dirty="0">
                <a:solidFill>
                  <a:srgbClr val="1B2A5E"/>
                </a:solidFill>
                <a:latin typeface="Calibri" pitchFamily="34" charset="0"/>
                <a:ea typeface="Calibri" pitchFamily="34" charset="-122"/>
                <a:cs typeface="Calibri" pitchFamily="34" charset="-120"/>
              </a:rPr>
              <a:t>📄  AppMenuBar.java</a:t>
            </a:r>
            <a:endParaRPr lang="en-US" sz="1300" dirty="0"/>
          </a:p>
          <a:p>
            <a:pPr marL="0" indent="0">
              <a:buNone/>
            </a:pPr>
            <a:r>
              <a:rPr lang="en-US" sz="1100" dirty="0">
                <a:solidFill>
                  <a:srgbClr val="475569"/>
                </a:solidFill>
                <a:latin typeface="Calibri" pitchFamily="34" charset="0"/>
                <a:ea typeface="Calibri" pitchFamily="34" charset="-122"/>
                <a:cs typeface="Calibri" pitchFamily="34" charset="-120"/>
              </a:rPr>
              <a:t>• Creates the top menu bar</a:t>
            </a:r>
            <a:endParaRPr lang="en-US" sz="1300" dirty="0"/>
          </a:p>
          <a:p>
            <a:pPr marL="0" indent="0">
              <a:buNone/>
            </a:pPr>
            <a:r>
              <a:rPr lang="en-US" sz="1100" dirty="0">
                <a:solidFill>
                  <a:srgbClr val="475569"/>
                </a:solidFill>
                <a:latin typeface="Calibri" pitchFamily="34" charset="0"/>
                <a:ea typeface="Calibri" pitchFamily="34" charset="-122"/>
                <a:cs typeface="Calibri" pitchFamily="34" charset="-120"/>
              </a:rPr>
              <a:t>• Has About and Exit options</a:t>
            </a:r>
            <a:endParaRPr lang="en-US" sz="1300" dirty="0"/>
          </a:p>
          <a:p>
            <a:pPr marL="0" indent="0">
              <a:buNone/>
            </a:pPr>
            <a:r>
              <a:rPr lang="en-US" sz="1100" dirty="0">
                <a:solidFill>
                  <a:srgbClr val="475569"/>
                </a:solidFill>
                <a:latin typeface="Calibri" pitchFamily="34" charset="0"/>
                <a:ea typeface="Calibri" pitchFamily="34" charset="-122"/>
                <a:cs typeface="Calibri" pitchFamily="34" charset="-120"/>
              </a:rPr>
              <a:t>• Handles menu actions</a:t>
            </a:r>
            <a:endParaRPr lang="en-US" sz="1300" dirty="0"/>
          </a:p>
        </p:txBody>
      </p:sp>
      <p:sp>
        <p:nvSpPr>
          <p:cNvPr id="10" name="Shape 7"/>
          <p:cNvSpPr/>
          <p:nvPr/>
        </p:nvSpPr>
        <p:spPr>
          <a:xfrm>
            <a:off x="2834640" y="1005840"/>
            <a:ext cx="5989320" cy="2560320"/>
          </a:xfrm>
          <a:prstGeom prst="rect">
            <a:avLst/>
          </a:prstGeom>
          <a:solidFill>
            <a:srgbClr val="FFFFFF"/>
          </a:solidFill>
          <a:ln w="12700">
            <a:solidFill>
              <a:srgbClr val="1B2A5E"/>
            </a:solidFill>
            <a:prstDash val="solid"/>
          </a:ln>
          <a:effectLst>
            <a:outerShdw blurRad="63500" dist="25400" dir="8100000" algn="bl" rotWithShape="0">
              <a:srgbClr val="000000">
                <a:alpha val="8000"/>
              </a:srgbClr>
            </a:outerShdw>
          </a:effectLst>
        </p:spPr>
        <p:txBody>
          <a:bodyPr/>
          <a:lstStyle/>
          <a:p>
            <a:endParaRPr lang="en-US"/>
          </a:p>
        </p:txBody>
      </p:sp>
      <p:sp>
        <p:nvSpPr>
          <p:cNvPr id="11" name="Shape 8"/>
          <p:cNvSpPr/>
          <p:nvPr/>
        </p:nvSpPr>
        <p:spPr>
          <a:xfrm>
            <a:off x="2834640" y="1005840"/>
            <a:ext cx="5989320" cy="420624"/>
          </a:xfrm>
          <a:prstGeom prst="rect">
            <a:avLst/>
          </a:prstGeom>
          <a:solidFill>
            <a:srgbClr val="1B2A5E"/>
          </a:solidFill>
          <a:ln w="12700">
            <a:solidFill>
              <a:srgbClr val="1B2A5E"/>
            </a:solidFill>
            <a:prstDash val="solid"/>
          </a:ln>
        </p:spPr>
        <p:txBody>
          <a:bodyPr/>
          <a:lstStyle/>
          <a:p>
            <a:endParaRPr lang="en-US"/>
          </a:p>
        </p:txBody>
      </p:sp>
      <p:sp>
        <p:nvSpPr>
          <p:cNvPr id="12" name="Text 9"/>
          <p:cNvSpPr/>
          <p:nvPr/>
        </p:nvSpPr>
        <p:spPr>
          <a:xfrm>
            <a:off x="2971800" y="1042416"/>
            <a:ext cx="566928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What I Implemented</a:t>
            </a:r>
            <a:endParaRPr lang="en-US" sz="1300" dirty="0"/>
          </a:p>
        </p:txBody>
      </p:sp>
      <p:sp>
        <p:nvSpPr>
          <p:cNvPr id="13" name="Text 10"/>
          <p:cNvSpPr/>
          <p:nvPr/>
        </p:nvSpPr>
        <p:spPr>
          <a:xfrm>
            <a:off x="2926080" y="1481328"/>
            <a:ext cx="5760720" cy="2011680"/>
          </a:xfrm>
          <a:prstGeom prst="rect">
            <a:avLst/>
          </a:prstGeom>
          <a:noFill/>
          <a:ln/>
        </p:spPr>
        <p:txBody>
          <a:bodyPr wrap="square" rtlCol="0" anchor="ctr"/>
          <a:lstStyle/>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Main.java is the starting point of our entire project. When you run the program, it starts here.</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It creates the main application window using Java Swing's JFrame.</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The window contains tabs — one for Food Item Management and one for Order Management.</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AppMenuBar.java creates the top menu bar with File and Help menus.</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The menu includes an About option (shows project info) and an Exit option (closes the app).</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I also handled the window layout so all panels fit together properly.</a:t>
            </a:r>
            <a:endParaRPr lang="en-US" sz="1200" dirty="0"/>
          </a:p>
        </p:txBody>
      </p:sp>
      <p:sp>
        <p:nvSpPr>
          <p:cNvPr id="14" name="Shape 11"/>
          <p:cNvSpPr/>
          <p:nvPr/>
        </p:nvSpPr>
        <p:spPr>
          <a:xfrm>
            <a:off x="320040" y="3730752"/>
            <a:ext cx="8503920" cy="365760"/>
          </a:xfrm>
          <a:prstGeom prst="rect">
            <a:avLst/>
          </a:prstGeom>
          <a:solidFill>
            <a:srgbClr val="CCFBF1"/>
          </a:solidFill>
          <a:ln w="12700">
            <a:solidFill>
              <a:srgbClr val="0D9488"/>
            </a:solidFill>
            <a:prstDash val="solid"/>
          </a:ln>
        </p:spPr>
        <p:txBody>
          <a:bodyPr/>
          <a:lstStyle/>
          <a:p>
            <a:endParaRPr lang="en-US"/>
          </a:p>
        </p:txBody>
      </p:sp>
      <p:sp>
        <p:nvSpPr>
          <p:cNvPr id="15" name="Text 12"/>
          <p:cNvSpPr/>
          <p:nvPr/>
        </p:nvSpPr>
        <p:spPr>
          <a:xfrm>
            <a:off x="411480" y="3749040"/>
            <a:ext cx="8321040" cy="329184"/>
          </a:xfrm>
          <a:prstGeom prst="rect">
            <a:avLst/>
          </a:prstGeom>
          <a:noFill/>
          <a:ln/>
        </p:spPr>
        <p:txBody>
          <a:bodyPr wrap="square" lIns="0" tIns="0" rIns="0" bIns="0" rtlCol="0" anchor="ctr"/>
          <a:lstStyle/>
          <a:p>
            <a:pPr marL="0" indent="0">
              <a:buNone/>
            </a:pPr>
            <a:r>
              <a:rPr lang="en-US" sz="1100" dirty="0">
                <a:solidFill>
                  <a:srgbClr val="1B2A5E"/>
                </a:solidFill>
                <a:latin typeface="Calibri" pitchFamily="34" charset="0"/>
                <a:ea typeface="Calibri" pitchFamily="34" charset="-122"/>
                <a:cs typeface="Calibri" pitchFamily="34" charset="-120"/>
              </a:rPr>
              <a:t>Key Concept:  Main class is the gateway of the application — without it, nothing runs.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891B2"/>
          </a:solidFill>
          <a:ln w="12700">
            <a:solidFill>
              <a:srgbClr val="0891B2"/>
            </a:solidFill>
            <a:prstDash val="solid"/>
          </a:ln>
        </p:spPr>
        <p:txBody>
          <a:bodyPr/>
          <a:lstStyle/>
          <a:p>
            <a:endParaRPr lang="en-US"/>
          </a:p>
        </p:txBody>
      </p:sp>
      <p:sp>
        <p:nvSpPr>
          <p:cNvPr id="3" name="Text 1"/>
          <p:cNvSpPr/>
          <p:nvPr/>
        </p:nvSpPr>
        <p:spPr>
          <a:xfrm>
            <a:off x="365760" y="73152"/>
            <a:ext cx="8412480" cy="4572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Oyshie Ahmed</a:t>
            </a:r>
            <a:endParaRPr lang="en-US" sz="2200" dirty="0"/>
          </a:p>
        </p:txBody>
      </p:sp>
      <p:sp>
        <p:nvSpPr>
          <p:cNvPr id="4" name="Text 2"/>
          <p:cNvSpPr/>
          <p:nvPr/>
        </p:nvSpPr>
        <p:spPr>
          <a:xfrm>
            <a:off x="365760" y="521208"/>
            <a:ext cx="8412480" cy="320040"/>
          </a:xfrm>
          <a:prstGeom prst="rect">
            <a:avLst/>
          </a:prstGeom>
          <a:noFill/>
          <a:ln/>
        </p:spPr>
        <p:txBody>
          <a:bodyPr wrap="square" lIns="0" tIns="0" rIns="0" bIns="0" rtlCol="0" anchor="ctr"/>
          <a:lstStyle/>
          <a:p>
            <a:pPr marL="0" indent="0">
              <a:buNone/>
            </a:pPr>
            <a:r>
              <a:rPr lang="en-US" sz="1300" dirty="0">
                <a:solidFill>
                  <a:srgbClr val="BAE6FD"/>
                </a:solidFill>
                <a:latin typeface="Calibri" pitchFamily="34" charset="0"/>
                <a:ea typeface="Calibri" pitchFamily="34" charset="-122"/>
                <a:cs typeface="Calibri" pitchFamily="34" charset="-120"/>
              </a:rPr>
              <a:t>Role: Model Classes &amp; Data Structure</a:t>
            </a:r>
            <a:endParaRPr lang="en-US" sz="1300" dirty="0"/>
          </a:p>
        </p:txBody>
      </p:sp>
      <p:sp>
        <p:nvSpPr>
          <p:cNvPr id="5" name="Shape 3"/>
          <p:cNvSpPr/>
          <p:nvPr/>
        </p:nvSpPr>
        <p:spPr>
          <a:xfrm>
            <a:off x="320040" y="1005840"/>
            <a:ext cx="2286000" cy="2560320"/>
          </a:xfrm>
          <a:prstGeom prst="rect">
            <a:avLst/>
          </a:prstGeom>
          <a:solidFill>
            <a:srgbClr val="FFFFFF"/>
          </a:solidFill>
          <a:ln w="12700">
            <a:solidFill>
              <a:srgbClr val="0891B2"/>
            </a:solidFill>
            <a:prstDash val="solid"/>
          </a:ln>
          <a:effectLst>
            <a:outerShdw blurRad="63500" dist="25400" dir="8100000" algn="bl" rotWithShape="0">
              <a:srgbClr val="000000">
                <a:alpha val="8000"/>
              </a:srgbClr>
            </a:outerShdw>
          </a:effectLst>
        </p:spPr>
        <p:txBody>
          <a:bodyPr/>
          <a:lstStyle/>
          <a:p>
            <a:endParaRPr lang="en-US"/>
          </a:p>
        </p:txBody>
      </p:sp>
      <p:sp>
        <p:nvSpPr>
          <p:cNvPr id="6" name="Shape 4"/>
          <p:cNvSpPr/>
          <p:nvPr/>
        </p:nvSpPr>
        <p:spPr>
          <a:xfrm>
            <a:off x="320040" y="1005840"/>
            <a:ext cx="2286000" cy="420624"/>
          </a:xfrm>
          <a:prstGeom prst="rect">
            <a:avLst/>
          </a:prstGeom>
          <a:solidFill>
            <a:srgbClr val="0891B2"/>
          </a:solidFill>
          <a:ln w="12700">
            <a:solidFill>
              <a:srgbClr val="0891B2"/>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438912" y="1042416"/>
            <a:ext cx="310896" cy="310896"/>
          </a:xfrm>
          <a:prstGeom prst="rect">
            <a:avLst/>
          </a:prstGeom>
        </p:spPr>
      </p:pic>
      <p:sp>
        <p:nvSpPr>
          <p:cNvPr id="8" name="Text 5"/>
          <p:cNvSpPr/>
          <p:nvPr/>
        </p:nvSpPr>
        <p:spPr>
          <a:xfrm>
            <a:off x="804672" y="1042416"/>
            <a:ext cx="173736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My Files</a:t>
            </a:r>
            <a:endParaRPr lang="en-US" sz="1300" dirty="0"/>
          </a:p>
        </p:txBody>
      </p:sp>
      <p:sp>
        <p:nvSpPr>
          <p:cNvPr id="9" name="Text 6"/>
          <p:cNvSpPr/>
          <p:nvPr/>
        </p:nvSpPr>
        <p:spPr>
          <a:xfrm>
            <a:off x="411480" y="1481328"/>
            <a:ext cx="2084832" cy="2011680"/>
          </a:xfrm>
          <a:prstGeom prst="rect">
            <a:avLst/>
          </a:prstGeom>
          <a:noFill/>
          <a:ln/>
        </p:spPr>
        <p:txBody>
          <a:bodyPr wrap="square" rtlCol="0" anchor="ctr"/>
          <a:lstStyle/>
          <a:p>
            <a:pPr marL="0" indent="0">
              <a:buNone/>
            </a:pPr>
            <a:r>
              <a:rPr lang="en-US" sz="1300" b="1" dirty="0">
                <a:solidFill>
                  <a:srgbClr val="1B2A5E"/>
                </a:solidFill>
                <a:latin typeface="Calibri" pitchFamily="34" charset="0"/>
                <a:ea typeface="Calibri" pitchFamily="34" charset="-122"/>
                <a:cs typeface="Calibri" pitchFamily="34" charset="-120"/>
              </a:rPr>
              <a:t>📄  FoodItem.java</a:t>
            </a:r>
            <a:endParaRPr lang="en-US" sz="1300" dirty="0"/>
          </a:p>
          <a:p>
            <a:pPr marL="0" indent="0">
              <a:buNone/>
            </a:pPr>
            <a:r>
              <a:rPr lang="en-US" sz="1100" dirty="0">
                <a:solidFill>
                  <a:srgbClr val="475569"/>
                </a:solidFill>
                <a:latin typeface="Calibri" pitchFamily="34" charset="0"/>
                <a:ea typeface="Calibri" pitchFamily="34" charset="-122"/>
                <a:cs typeface="Calibri" pitchFamily="34" charset="-120"/>
              </a:rPr>
              <a:t>• Stores food item data
• Name, Price, Category, ID
• Getters and Setters
</a:t>
            </a:r>
            <a:endParaRPr lang="en-US" sz="1300" dirty="0"/>
          </a:p>
          <a:p>
            <a:pPr marL="0" indent="0">
              <a:buNone/>
            </a:pPr>
            <a:r>
              <a:rPr lang="en-US" sz="1300" b="1" dirty="0">
                <a:solidFill>
                  <a:srgbClr val="1B2A5E"/>
                </a:solidFill>
                <a:latin typeface="Calibri" pitchFamily="34" charset="0"/>
                <a:ea typeface="Calibri" pitchFamily="34" charset="-122"/>
                <a:cs typeface="Calibri" pitchFamily="34" charset="-120"/>
              </a:rPr>
              <a:t>📄  Order.java</a:t>
            </a:r>
            <a:endParaRPr lang="en-US" sz="1300" dirty="0"/>
          </a:p>
          <a:p>
            <a:pPr marL="0" indent="0">
              <a:buNone/>
            </a:pPr>
            <a:r>
              <a:rPr lang="en-US" sz="1100" dirty="0">
                <a:solidFill>
                  <a:srgbClr val="475569"/>
                </a:solidFill>
                <a:latin typeface="Calibri" pitchFamily="34" charset="0"/>
                <a:ea typeface="Calibri" pitchFamily="34" charset="-122"/>
                <a:cs typeface="Calibri" pitchFamily="34" charset="-120"/>
              </a:rPr>
              <a:t>• Stores order data</a:t>
            </a:r>
            <a:endParaRPr lang="en-US" sz="1300" dirty="0"/>
          </a:p>
          <a:p>
            <a:pPr marL="0" indent="0">
              <a:buNone/>
            </a:pPr>
            <a:r>
              <a:rPr lang="en-US" sz="1100" dirty="0">
                <a:solidFill>
                  <a:srgbClr val="475569"/>
                </a:solidFill>
                <a:latin typeface="Calibri" pitchFamily="34" charset="0"/>
                <a:ea typeface="Calibri" pitchFamily="34" charset="-122"/>
                <a:cs typeface="Calibri" pitchFamily="34" charset="-120"/>
              </a:rPr>
              <a:t>• Order ID, Items, Total</a:t>
            </a:r>
            <a:endParaRPr lang="en-US" sz="1300" dirty="0"/>
          </a:p>
          <a:p>
            <a:pPr marL="0" indent="0">
              <a:buNone/>
            </a:pPr>
            <a:r>
              <a:rPr lang="en-US" sz="1100" dirty="0">
                <a:solidFill>
                  <a:srgbClr val="475569"/>
                </a:solidFill>
                <a:latin typeface="Calibri" pitchFamily="34" charset="0"/>
                <a:ea typeface="Calibri" pitchFamily="34" charset="-122"/>
                <a:cs typeface="Calibri" pitchFamily="34" charset="-120"/>
              </a:rPr>
              <a:t>• Constructors included</a:t>
            </a:r>
            <a:endParaRPr lang="en-US" sz="1300" dirty="0"/>
          </a:p>
        </p:txBody>
      </p:sp>
      <p:sp>
        <p:nvSpPr>
          <p:cNvPr id="10" name="Shape 7"/>
          <p:cNvSpPr/>
          <p:nvPr/>
        </p:nvSpPr>
        <p:spPr>
          <a:xfrm>
            <a:off x="2834640" y="1005840"/>
            <a:ext cx="5989320" cy="2560320"/>
          </a:xfrm>
          <a:prstGeom prst="rect">
            <a:avLst/>
          </a:prstGeom>
          <a:solidFill>
            <a:srgbClr val="FFFFFF"/>
          </a:solidFill>
          <a:ln w="12700">
            <a:solidFill>
              <a:srgbClr val="1B2A5E"/>
            </a:solidFill>
            <a:prstDash val="solid"/>
          </a:ln>
          <a:effectLst>
            <a:outerShdw blurRad="63500" dist="25400" dir="8100000" algn="bl" rotWithShape="0">
              <a:srgbClr val="000000">
                <a:alpha val="8000"/>
              </a:srgbClr>
            </a:outerShdw>
          </a:effectLst>
        </p:spPr>
        <p:txBody>
          <a:bodyPr/>
          <a:lstStyle/>
          <a:p>
            <a:endParaRPr lang="en-US"/>
          </a:p>
        </p:txBody>
      </p:sp>
      <p:sp>
        <p:nvSpPr>
          <p:cNvPr id="11" name="Shape 8"/>
          <p:cNvSpPr/>
          <p:nvPr/>
        </p:nvSpPr>
        <p:spPr>
          <a:xfrm>
            <a:off x="2834640" y="1005840"/>
            <a:ext cx="5989320" cy="420624"/>
          </a:xfrm>
          <a:prstGeom prst="rect">
            <a:avLst/>
          </a:prstGeom>
          <a:solidFill>
            <a:srgbClr val="1B2A5E"/>
          </a:solidFill>
          <a:ln w="12700">
            <a:solidFill>
              <a:srgbClr val="1B2A5E"/>
            </a:solidFill>
            <a:prstDash val="solid"/>
          </a:ln>
        </p:spPr>
        <p:txBody>
          <a:bodyPr/>
          <a:lstStyle/>
          <a:p>
            <a:endParaRPr lang="en-US"/>
          </a:p>
        </p:txBody>
      </p:sp>
      <p:sp>
        <p:nvSpPr>
          <p:cNvPr id="12" name="Text 9"/>
          <p:cNvSpPr/>
          <p:nvPr/>
        </p:nvSpPr>
        <p:spPr>
          <a:xfrm>
            <a:off x="2971800" y="1042416"/>
            <a:ext cx="566928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What I Implemented</a:t>
            </a:r>
            <a:endParaRPr lang="en-US" sz="1300" dirty="0"/>
          </a:p>
        </p:txBody>
      </p:sp>
      <p:sp>
        <p:nvSpPr>
          <p:cNvPr id="13" name="Text 10"/>
          <p:cNvSpPr/>
          <p:nvPr/>
        </p:nvSpPr>
        <p:spPr>
          <a:xfrm>
            <a:off x="2926080" y="1481328"/>
            <a:ext cx="5760720" cy="2011680"/>
          </a:xfrm>
          <a:prstGeom prst="rect">
            <a:avLst/>
          </a:prstGeom>
          <a:noFill/>
          <a:ln/>
        </p:spPr>
        <p:txBody>
          <a:bodyPr wrap="square" rtlCol="0" anchor="ctr"/>
          <a:lstStyle/>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FoodItem.java is a model class. It defines what a food item looks like — name, price, category, and ID.</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It uses Encapsulation — all attributes are private. We use getters and setters to read or change them.</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Order.java is also a model class. It stores all details of a placed order.</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It holds the order ID, the list of food items ordered, and the total price.</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Both classes have Constructors — they make creating new objects easy.</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These are the foundation of the whole project — every other class depends on them.</a:t>
            </a:r>
            <a:endParaRPr lang="en-US" sz="1200" dirty="0"/>
          </a:p>
        </p:txBody>
      </p:sp>
      <p:sp>
        <p:nvSpPr>
          <p:cNvPr id="14" name="Shape 11"/>
          <p:cNvSpPr/>
          <p:nvPr/>
        </p:nvSpPr>
        <p:spPr>
          <a:xfrm>
            <a:off x="320040" y="3730752"/>
            <a:ext cx="8503920" cy="365760"/>
          </a:xfrm>
          <a:prstGeom prst="rect">
            <a:avLst/>
          </a:prstGeom>
          <a:solidFill>
            <a:srgbClr val="E0F2FE"/>
          </a:solidFill>
          <a:ln w="12700">
            <a:solidFill>
              <a:srgbClr val="0891B2"/>
            </a:solidFill>
            <a:prstDash val="solid"/>
          </a:ln>
        </p:spPr>
        <p:txBody>
          <a:bodyPr/>
          <a:lstStyle/>
          <a:p>
            <a:endParaRPr lang="en-US"/>
          </a:p>
        </p:txBody>
      </p:sp>
      <p:sp>
        <p:nvSpPr>
          <p:cNvPr id="15" name="Text 12"/>
          <p:cNvSpPr/>
          <p:nvPr/>
        </p:nvSpPr>
        <p:spPr>
          <a:xfrm>
            <a:off x="411480" y="3749040"/>
            <a:ext cx="8321040" cy="329184"/>
          </a:xfrm>
          <a:prstGeom prst="rect">
            <a:avLst/>
          </a:prstGeom>
          <a:noFill/>
          <a:ln/>
        </p:spPr>
        <p:txBody>
          <a:bodyPr wrap="square" lIns="0" tIns="0" rIns="0" bIns="0" rtlCol="0" anchor="ctr"/>
          <a:lstStyle/>
          <a:p>
            <a:pPr marL="0" indent="0">
              <a:buNone/>
            </a:pPr>
            <a:r>
              <a:rPr lang="en-US" sz="1100" dirty="0">
                <a:solidFill>
                  <a:srgbClr val="1B2A5E"/>
                </a:solidFill>
                <a:latin typeface="Calibri" pitchFamily="34" charset="0"/>
                <a:ea typeface="Calibri" pitchFamily="34" charset="-122"/>
                <a:cs typeface="Calibri" pitchFamily="34" charset="-120"/>
              </a:rPr>
              <a:t>Key Concept:  Model classes define the DATA STRUCTURE — they are the blueprint for every food item and order.</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7C3AED"/>
          </a:solidFill>
          <a:ln w="12700">
            <a:solidFill>
              <a:srgbClr val="7C3AED"/>
            </a:solidFill>
            <a:prstDash val="solid"/>
          </a:ln>
        </p:spPr>
        <p:txBody>
          <a:bodyPr/>
          <a:lstStyle/>
          <a:p>
            <a:endParaRPr lang="en-US"/>
          </a:p>
        </p:txBody>
      </p:sp>
      <p:sp>
        <p:nvSpPr>
          <p:cNvPr id="3" name="Text 1"/>
          <p:cNvSpPr/>
          <p:nvPr/>
        </p:nvSpPr>
        <p:spPr>
          <a:xfrm>
            <a:off x="365760" y="73152"/>
            <a:ext cx="8412480" cy="4572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Sharzid Ahamed Ratul</a:t>
            </a:r>
            <a:endParaRPr lang="en-US" sz="2200" dirty="0"/>
          </a:p>
        </p:txBody>
      </p:sp>
      <p:sp>
        <p:nvSpPr>
          <p:cNvPr id="4" name="Text 2"/>
          <p:cNvSpPr/>
          <p:nvPr/>
        </p:nvSpPr>
        <p:spPr>
          <a:xfrm>
            <a:off x="365760" y="521208"/>
            <a:ext cx="8412480" cy="320040"/>
          </a:xfrm>
          <a:prstGeom prst="rect">
            <a:avLst/>
          </a:prstGeom>
          <a:noFill/>
          <a:ln/>
        </p:spPr>
        <p:txBody>
          <a:bodyPr wrap="square" lIns="0" tIns="0" rIns="0" bIns="0" rtlCol="0" anchor="ctr"/>
          <a:lstStyle/>
          <a:p>
            <a:pPr marL="0" indent="0">
              <a:buNone/>
            </a:pPr>
            <a:r>
              <a:rPr lang="en-US" sz="1300" dirty="0">
                <a:solidFill>
                  <a:srgbClr val="DDD6FE"/>
                </a:solidFill>
                <a:latin typeface="Calibri" pitchFamily="34" charset="0"/>
                <a:ea typeface="Calibri" pitchFamily="34" charset="-122"/>
                <a:cs typeface="Calibri" pitchFamily="34" charset="-120"/>
              </a:rPr>
              <a:t>Role: OOP Implementation – Inheritance &amp; Abstraction</a:t>
            </a:r>
            <a:endParaRPr lang="en-US" sz="1300" dirty="0"/>
          </a:p>
        </p:txBody>
      </p:sp>
      <p:sp>
        <p:nvSpPr>
          <p:cNvPr id="5" name="Shape 3"/>
          <p:cNvSpPr/>
          <p:nvPr/>
        </p:nvSpPr>
        <p:spPr>
          <a:xfrm>
            <a:off x="320040" y="1005840"/>
            <a:ext cx="2286000" cy="2560320"/>
          </a:xfrm>
          <a:prstGeom prst="rect">
            <a:avLst/>
          </a:prstGeom>
          <a:solidFill>
            <a:srgbClr val="FFFFFF"/>
          </a:solidFill>
          <a:ln w="12700">
            <a:solidFill>
              <a:srgbClr val="7C3AED"/>
            </a:solidFill>
            <a:prstDash val="solid"/>
          </a:ln>
          <a:effectLst>
            <a:outerShdw blurRad="63500" dist="25400" dir="8100000" algn="bl" rotWithShape="0">
              <a:srgbClr val="000000">
                <a:alpha val="8000"/>
              </a:srgbClr>
            </a:outerShdw>
          </a:effectLst>
        </p:spPr>
        <p:txBody>
          <a:bodyPr/>
          <a:lstStyle/>
          <a:p>
            <a:endParaRPr lang="en-US"/>
          </a:p>
        </p:txBody>
      </p:sp>
      <p:sp>
        <p:nvSpPr>
          <p:cNvPr id="6" name="Shape 4"/>
          <p:cNvSpPr/>
          <p:nvPr/>
        </p:nvSpPr>
        <p:spPr>
          <a:xfrm>
            <a:off x="320040" y="1005840"/>
            <a:ext cx="2286000" cy="420624"/>
          </a:xfrm>
          <a:prstGeom prst="rect">
            <a:avLst/>
          </a:prstGeom>
          <a:solidFill>
            <a:srgbClr val="7C3AED"/>
          </a:solidFill>
          <a:ln w="12700">
            <a:solidFill>
              <a:srgbClr val="7C3AED"/>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438912" y="1042416"/>
            <a:ext cx="310896" cy="310896"/>
          </a:xfrm>
          <a:prstGeom prst="rect">
            <a:avLst/>
          </a:prstGeom>
        </p:spPr>
      </p:pic>
      <p:sp>
        <p:nvSpPr>
          <p:cNvPr id="8" name="Text 5"/>
          <p:cNvSpPr/>
          <p:nvPr/>
        </p:nvSpPr>
        <p:spPr>
          <a:xfrm>
            <a:off x="804672" y="1042416"/>
            <a:ext cx="173736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My Files</a:t>
            </a:r>
            <a:endParaRPr lang="en-US" sz="1300" dirty="0"/>
          </a:p>
        </p:txBody>
      </p:sp>
      <p:sp>
        <p:nvSpPr>
          <p:cNvPr id="9" name="Text 6"/>
          <p:cNvSpPr/>
          <p:nvPr/>
        </p:nvSpPr>
        <p:spPr>
          <a:xfrm>
            <a:off x="411480" y="1481328"/>
            <a:ext cx="2084832" cy="2011680"/>
          </a:xfrm>
          <a:prstGeom prst="rect">
            <a:avLst/>
          </a:prstGeom>
          <a:noFill/>
          <a:ln/>
        </p:spPr>
        <p:txBody>
          <a:bodyPr wrap="square" rtlCol="0" anchor="ctr"/>
          <a:lstStyle/>
          <a:p>
            <a:pPr marL="0" indent="0">
              <a:buNone/>
            </a:pPr>
            <a:r>
              <a:rPr lang="en-US" sz="1300" b="1" dirty="0">
                <a:solidFill>
                  <a:srgbClr val="1B2A5E"/>
                </a:solidFill>
                <a:latin typeface="Calibri" pitchFamily="34" charset="0"/>
                <a:ea typeface="Calibri" pitchFamily="34" charset="-122"/>
                <a:cs typeface="Calibri" pitchFamily="34" charset="-120"/>
              </a:rPr>
              <a:t>📄  User.java</a:t>
            </a:r>
            <a:endParaRPr lang="en-US" sz="1300" dirty="0"/>
          </a:p>
          <a:p>
            <a:pPr marL="0" indent="0">
              <a:buNone/>
            </a:pPr>
            <a:r>
              <a:rPr lang="en-US" sz="1100" dirty="0">
                <a:solidFill>
                  <a:srgbClr val="475569"/>
                </a:solidFill>
                <a:latin typeface="Calibri" pitchFamily="34" charset="0"/>
                <a:ea typeface="Calibri" pitchFamily="34" charset="-122"/>
                <a:cs typeface="Calibri" pitchFamily="34" charset="-120"/>
              </a:rPr>
              <a:t>• Abstract parent class
• Common user attributes
• Abstract method defined
</a:t>
            </a:r>
            <a:endParaRPr lang="en-US" sz="1300" dirty="0"/>
          </a:p>
          <a:p>
            <a:pPr marL="0" indent="0">
              <a:buNone/>
            </a:pPr>
            <a:r>
              <a:rPr lang="en-US" sz="1300" b="1" dirty="0">
                <a:solidFill>
                  <a:srgbClr val="1B2A5E"/>
                </a:solidFill>
                <a:latin typeface="Calibri" pitchFamily="34" charset="0"/>
                <a:ea typeface="Calibri" pitchFamily="34" charset="-122"/>
                <a:cs typeface="Calibri" pitchFamily="34" charset="-120"/>
              </a:rPr>
              <a:t>📄  Customer.java</a:t>
            </a:r>
            <a:endParaRPr lang="en-US" sz="1300" dirty="0"/>
          </a:p>
          <a:p>
            <a:pPr marL="0" indent="0">
              <a:buNone/>
            </a:pPr>
            <a:r>
              <a:rPr lang="en-US" sz="1100" dirty="0">
                <a:solidFill>
                  <a:srgbClr val="475569"/>
                </a:solidFill>
                <a:latin typeface="Calibri" pitchFamily="34" charset="0"/>
                <a:ea typeface="Calibri" pitchFamily="34" charset="-122"/>
                <a:cs typeface="Calibri" pitchFamily="34" charset="-120"/>
              </a:rPr>
              <a:t>• Extends User class</a:t>
            </a:r>
            <a:endParaRPr lang="en-US" sz="1300" dirty="0"/>
          </a:p>
          <a:p>
            <a:pPr marL="0" indent="0">
              <a:buNone/>
            </a:pPr>
            <a:r>
              <a:rPr lang="en-US" sz="1100" dirty="0">
                <a:solidFill>
                  <a:srgbClr val="475569"/>
                </a:solidFill>
                <a:latin typeface="Calibri" pitchFamily="34" charset="0"/>
                <a:ea typeface="Calibri" pitchFamily="34" charset="-122"/>
                <a:cs typeface="Calibri" pitchFamily="34" charset="-120"/>
              </a:rPr>
              <a:t>• Adds customer info</a:t>
            </a:r>
            <a:endParaRPr lang="en-US" sz="1300" dirty="0"/>
          </a:p>
          <a:p>
            <a:pPr marL="0" indent="0">
              <a:buNone/>
            </a:pPr>
            <a:r>
              <a:rPr lang="en-US" sz="1100" dirty="0">
                <a:solidFill>
                  <a:srgbClr val="475569"/>
                </a:solidFill>
                <a:latin typeface="Calibri" pitchFamily="34" charset="0"/>
                <a:ea typeface="Calibri" pitchFamily="34" charset="-122"/>
                <a:cs typeface="Calibri" pitchFamily="34" charset="-120"/>
              </a:rPr>
              <a:t>• Overrides abstract method</a:t>
            </a:r>
            <a:endParaRPr lang="en-US" sz="1300" dirty="0"/>
          </a:p>
        </p:txBody>
      </p:sp>
      <p:sp>
        <p:nvSpPr>
          <p:cNvPr id="10" name="Shape 7"/>
          <p:cNvSpPr/>
          <p:nvPr/>
        </p:nvSpPr>
        <p:spPr>
          <a:xfrm>
            <a:off x="2834640" y="1005840"/>
            <a:ext cx="5989320" cy="2560320"/>
          </a:xfrm>
          <a:prstGeom prst="rect">
            <a:avLst/>
          </a:prstGeom>
          <a:solidFill>
            <a:srgbClr val="FFFFFF"/>
          </a:solidFill>
          <a:ln w="12700">
            <a:solidFill>
              <a:srgbClr val="1B2A5E"/>
            </a:solidFill>
            <a:prstDash val="solid"/>
          </a:ln>
          <a:effectLst>
            <a:outerShdw blurRad="63500" dist="25400" dir="8100000" algn="bl" rotWithShape="0">
              <a:srgbClr val="000000">
                <a:alpha val="8000"/>
              </a:srgbClr>
            </a:outerShdw>
          </a:effectLst>
        </p:spPr>
        <p:txBody>
          <a:bodyPr/>
          <a:lstStyle/>
          <a:p>
            <a:endParaRPr lang="en-US"/>
          </a:p>
        </p:txBody>
      </p:sp>
      <p:sp>
        <p:nvSpPr>
          <p:cNvPr id="11" name="Shape 8"/>
          <p:cNvSpPr/>
          <p:nvPr/>
        </p:nvSpPr>
        <p:spPr>
          <a:xfrm>
            <a:off x="2834640" y="1005840"/>
            <a:ext cx="5989320" cy="420624"/>
          </a:xfrm>
          <a:prstGeom prst="rect">
            <a:avLst/>
          </a:prstGeom>
          <a:solidFill>
            <a:srgbClr val="1B2A5E"/>
          </a:solidFill>
          <a:ln w="12700">
            <a:solidFill>
              <a:srgbClr val="1B2A5E"/>
            </a:solidFill>
            <a:prstDash val="solid"/>
          </a:ln>
        </p:spPr>
        <p:txBody>
          <a:bodyPr/>
          <a:lstStyle/>
          <a:p>
            <a:endParaRPr lang="en-US"/>
          </a:p>
        </p:txBody>
      </p:sp>
      <p:sp>
        <p:nvSpPr>
          <p:cNvPr id="12" name="Text 9"/>
          <p:cNvSpPr/>
          <p:nvPr/>
        </p:nvSpPr>
        <p:spPr>
          <a:xfrm>
            <a:off x="2971800" y="1042416"/>
            <a:ext cx="566928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What I Implemented</a:t>
            </a:r>
            <a:endParaRPr lang="en-US" sz="1300" dirty="0"/>
          </a:p>
        </p:txBody>
      </p:sp>
      <p:sp>
        <p:nvSpPr>
          <p:cNvPr id="13" name="Text 10"/>
          <p:cNvSpPr/>
          <p:nvPr/>
        </p:nvSpPr>
        <p:spPr>
          <a:xfrm>
            <a:off x="2926080" y="1481328"/>
            <a:ext cx="5760720" cy="2011680"/>
          </a:xfrm>
          <a:prstGeom prst="rect">
            <a:avLst/>
          </a:prstGeom>
          <a:noFill/>
          <a:ln/>
        </p:spPr>
        <p:txBody>
          <a:bodyPr wrap="square" rtlCol="0" anchor="ctr"/>
          <a:lstStyle/>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User.java is an abstract parent class. It defines common attributes like name and ID that all users share.</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It also defines an abstract method — a rule that all child classes must follow.</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Abstraction: We hide the implementation details inside User and only expose what is needed.</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Customer.java extends User — meaning it inherits everything from User automatically.</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Inheritance: Customer does not need to rewrite common code — it just uses what User already has.</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Customer also overrides the abstract method — this is Polymorphism in action.</a:t>
            </a:r>
            <a:endParaRPr lang="en-US" sz="1200" dirty="0"/>
          </a:p>
        </p:txBody>
      </p:sp>
      <p:sp>
        <p:nvSpPr>
          <p:cNvPr id="14" name="Shape 11"/>
          <p:cNvSpPr/>
          <p:nvPr/>
        </p:nvSpPr>
        <p:spPr>
          <a:xfrm>
            <a:off x="320040" y="3730752"/>
            <a:ext cx="8503920" cy="365760"/>
          </a:xfrm>
          <a:prstGeom prst="rect">
            <a:avLst/>
          </a:prstGeom>
          <a:solidFill>
            <a:srgbClr val="EDE9FE"/>
          </a:solidFill>
          <a:ln w="12700">
            <a:solidFill>
              <a:srgbClr val="7C3AED"/>
            </a:solidFill>
            <a:prstDash val="solid"/>
          </a:ln>
        </p:spPr>
        <p:txBody>
          <a:bodyPr/>
          <a:lstStyle/>
          <a:p>
            <a:endParaRPr lang="en-US"/>
          </a:p>
        </p:txBody>
      </p:sp>
      <p:sp>
        <p:nvSpPr>
          <p:cNvPr id="15" name="Text 12"/>
          <p:cNvSpPr/>
          <p:nvPr/>
        </p:nvSpPr>
        <p:spPr>
          <a:xfrm>
            <a:off x="411480" y="3749040"/>
            <a:ext cx="8321040" cy="329184"/>
          </a:xfrm>
          <a:prstGeom prst="rect">
            <a:avLst/>
          </a:prstGeom>
          <a:noFill/>
          <a:ln/>
        </p:spPr>
        <p:txBody>
          <a:bodyPr wrap="square" lIns="0" tIns="0" rIns="0" bIns="0" rtlCol="0" anchor="ctr"/>
          <a:lstStyle/>
          <a:p>
            <a:pPr marL="0" indent="0">
              <a:buNone/>
            </a:pPr>
            <a:r>
              <a:rPr lang="en-US" sz="1100" dirty="0">
                <a:solidFill>
                  <a:srgbClr val="1B2A5E"/>
                </a:solidFill>
                <a:latin typeface="Calibri" pitchFamily="34" charset="0"/>
                <a:ea typeface="Calibri" pitchFamily="34" charset="-122"/>
                <a:cs typeface="Calibri" pitchFamily="34" charset="-120"/>
              </a:rPr>
              <a:t>OOP in action:  User (Abstract Parent)  →  Customer (Child)  →  Inheritance + Abstraction + Polymorphism</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B45309"/>
          </a:solidFill>
          <a:ln w="12700">
            <a:solidFill>
              <a:srgbClr val="B45309"/>
            </a:solidFill>
            <a:prstDash val="solid"/>
          </a:ln>
        </p:spPr>
        <p:txBody>
          <a:bodyPr/>
          <a:lstStyle/>
          <a:p>
            <a:endParaRPr lang="en-US"/>
          </a:p>
        </p:txBody>
      </p:sp>
      <p:sp>
        <p:nvSpPr>
          <p:cNvPr id="3" name="Text 1"/>
          <p:cNvSpPr/>
          <p:nvPr/>
        </p:nvSpPr>
        <p:spPr>
          <a:xfrm>
            <a:off x="365760" y="73152"/>
            <a:ext cx="8412480" cy="4572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Mst. Saima Jahan Satu</a:t>
            </a:r>
            <a:endParaRPr lang="en-US" sz="2200" dirty="0"/>
          </a:p>
        </p:txBody>
      </p:sp>
      <p:sp>
        <p:nvSpPr>
          <p:cNvPr id="4" name="Text 2"/>
          <p:cNvSpPr/>
          <p:nvPr/>
        </p:nvSpPr>
        <p:spPr>
          <a:xfrm>
            <a:off x="365760" y="521208"/>
            <a:ext cx="8412480" cy="320040"/>
          </a:xfrm>
          <a:prstGeom prst="rect">
            <a:avLst/>
          </a:prstGeom>
          <a:noFill/>
          <a:ln/>
        </p:spPr>
        <p:txBody>
          <a:bodyPr wrap="square" lIns="0" tIns="0" rIns="0" bIns="0" rtlCol="0" anchor="ctr"/>
          <a:lstStyle/>
          <a:p>
            <a:pPr marL="0" indent="0">
              <a:buNone/>
            </a:pPr>
            <a:r>
              <a:rPr lang="en-US" sz="1300" dirty="0">
                <a:solidFill>
                  <a:srgbClr val="FEF3C7"/>
                </a:solidFill>
                <a:latin typeface="Calibri" pitchFamily="34" charset="0"/>
                <a:ea typeface="Calibri" pitchFamily="34" charset="-122"/>
                <a:cs typeface="Calibri" pitchFamily="34" charset="-120"/>
              </a:rPr>
              <a:t>Role: Data Management – CRUD, ArrayList &amp; File Handling</a:t>
            </a:r>
            <a:endParaRPr lang="en-US" sz="1300" dirty="0"/>
          </a:p>
        </p:txBody>
      </p:sp>
      <p:sp>
        <p:nvSpPr>
          <p:cNvPr id="5" name="Shape 3"/>
          <p:cNvSpPr/>
          <p:nvPr/>
        </p:nvSpPr>
        <p:spPr>
          <a:xfrm>
            <a:off x="320040" y="1005840"/>
            <a:ext cx="2286000" cy="2560320"/>
          </a:xfrm>
          <a:prstGeom prst="rect">
            <a:avLst/>
          </a:prstGeom>
          <a:solidFill>
            <a:srgbClr val="FFFFFF"/>
          </a:solidFill>
          <a:ln w="12700">
            <a:solidFill>
              <a:srgbClr val="B45309"/>
            </a:solidFill>
            <a:prstDash val="solid"/>
          </a:ln>
          <a:effectLst>
            <a:outerShdw blurRad="63500" dist="25400" dir="8100000" algn="bl" rotWithShape="0">
              <a:srgbClr val="000000">
                <a:alpha val="8000"/>
              </a:srgbClr>
            </a:outerShdw>
          </a:effectLst>
        </p:spPr>
        <p:txBody>
          <a:bodyPr/>
          <a:lstStyle/>
          <a:p>
            <a:endParaRPr lang="en-US"/>
          </a:p>
        </p:txBody>
      </p:sp>
      <p:sp>
        <p:nvSpPr>
          <p:cNvPr id="6" name="Shape 4"/>
          <p:cNvSpPr/>
          <p:nvPr/>
        </p:nvSpPr>
        <p:spPr>
          <a:xfrm>
            <a:off x="320040" y="1005840"/>
            <a:ext cx="2286000" cy="420624"/>
          </a:xfrm>
          <a:prstGeom prst="rect">
            <a:avLst/>
          </a:prstGeom>
          <a:solidFill>
            <a:srgbClr val="B45309"/>
          </a:solidFill>
          <a:ln w="12700">
            <a:solidFill>
              <a:srgbClr val="B45309"/>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438912" y="1042416"/>
            <a:ext cx="310896" cy="310896"/>
          </a:xfrm>
          <a:prstGeom prst="rect">
            <a:avLst/>
          </a:prstGeom>
        </p:spPr>
      </p:pic>
      <p:sp>
        <p:nvSpPr>
          <p:cNvPr id="8" name="Text 5"/>
          <p:cNvSpPr/>
          <p:nvPr/>
        </p:nvSpPr>
        <p:spPr>
          <a:xfrm>
            <a:off x="804672" y="1042416"/>
            <a:ext cx="173736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My Files</a:t>
            </a:r>
            <a:endParaRPr lang="en-US" sz="1300" dirty="0"/>
          </a:p>
        </p:txBody>
      </p:sp>
      <p:sp>
        <p:nvSpPr>
          <p:cNvPr id="9" name="Text 6"/>
          <p:cNvSpPr/>
          <p:nvPr/>
        </p:nvSpPr>
        <p:spPr>
          <a:xfrm>
            <a:off x="411480" y="1481328"/>
            <a:ext cx="2084832" cy="2011680"/>
          </a:xfrm>
          <a:prstGeom prst="rect">
            <a:avLst/>
          </a:prstGeom>
          <a:noFill/>
          <a:ln/>
        </p:spPr>
        <p:txBody>
          <a:bodyPr wrap="square" rtlCol="0" anchor="ctr"/>
          <a:lstStyle/>
          <a:p>
            <a:pPr marL="0" indent="0">
              <a:buNone/>
            </a:pPr>
            <a:r>
              <a:rPr lang="en-US" sz="1200" b="1" dirty="0">
                <a:solidFill>
                  <a:srgbClr val="1B2A5E"/>
                </a:solidFill>
                <a:latin typeface="Calibri" pitchFamily="34" charset="0"/>
                <a:ea typeface="Calibri" pitchFamily="34" charset="-122"/>
                <a:cs typeface="Calibri" pitchFamily="34" charset="-120"/>
              </a:rPr>
              <a:t>📄  FoodItemManager.java</a:t>
            </a:r>
            <a:endParaRPr lang="en-US" sz="1200" dirty="0"/>
          </a:p>
          <a:p>
            <a:pPr marL="0" indent="0">
              <a:buNone/>
            </a:pPr>
            <a:r>
              <a:rPr lang="en-US" sz="1100" dirty="0">
                <a:solidFill>
                  <a:srgbClr val="475569"/>
                </a:solidFill>
                <a:latin typeface="Calibri" pitchFamily="34" charset="0"/>
                <a:ea typeface="Calibri" pitchFamily="34" charset="-122"/>
                <a:cs typeface="Calibri" pitchFamily="34" charset="-120"/>
              </a:rPr>
              <a:t>• Add food items
• Update food items
• Delete food items
• Search food items
</a:t>
            </a:r>
            <a:endParaRPr lang="en-US" sz="1200" dirty="0"/>
          </a:p>
          <a:p>
            <a:pPr marL="0" indent="0">
              <a:buNone/>
            </a:pPr>
            <a:r>
              <a:rPr lang="en-US" sz="1200" b="1" dirty="0">
                <a:solidFill>
                  <a:srgbClr val="1B2A5E"/>
                </a:solidFill>
                <a:latin typeface="Calibri" pitchFamily="34" charset="0"/>
                <a:ea typeface="Calibri" pitchFamily="34" charset="-122"/>
                <a:cs typeface="Calibri" pitchFamily="34" charset="-120"/>
              </a:rPr>
              <a:t>📄  OrderManager.java</a:t>
            </a:r>
            <a:endParaRPr lang="en-US" sz="1200" dirty="0"/>
          </a:p>
          <a:p>
            <a:pPr marL="0" indent="0">
              <a:buNone/>
            </a:pPr>
            <a:r>
              <a:rPr lang="en-US" sz="1100" dirty="0">
                <a:solidFill>
                  <a:srgbClr val="475569"/>
                </a:solidFill>
                <a:latin typeface="Calibri" pitchFamily="34" charset="0"/>
                <a:ea typeface="Calibri" pitchFamily="34" charset="-122"/>
                <a:cs typeface="Calibri" pitchFamily="34" charset="-120"/>
              </a:rPr>
              <a:t>• Save orders</a:t>
            </a:r>
            <a:endParaRPr lang="en-US" sz="1200" dirty="0"/>
          </a:p>
          <a:p>
            <a:pPr marL="0" indent="0">
              <a:buNone/>
            </a:pPr>
            <a:r>
              <a:rPr lang="en-US" sz="1100" dirty="0">
                <a:solidFill>
                  <a:srgbClr val="475569"/>
                </a:solidFill>
                <a:latin typeface="Calibri" pitchFamily="34" charset="0"/>
                <a:ea typeface="Calibri" pitchFamily="34" charset="-122"/>
                <a:cs typeface="Calibri" pitchFamily="34" charset="-120"/>
              </a:rPr>
              <a:t>• Search orders</a:t>
            </a:r>
            <a:endParaRPr lang="en-US" sz="1200" dirty="0"/>
          </a:p>
          <a:p>
            <a:pPr marL="0" indent="0">
              <a:buNone/>
            </a:pPr>
            <a:r>
              <a:rPr lang="en-US" sz="1100" dirty="0">
                <a:solidFill>
                  <a:srgbClr val="475569"/>
                </a:solidFill>
                <a:latin typeface="Calibri" pitchFamily="34" charset="0"/>
                <a:ea typeface="Calibri" pitchFamily="34" charset="-122"/>
                <a:cs typeface="Calibri" pitchFamily="34" charset="-120"/>
              </a:rPr>
              <a:t>• Load from file</a:t>
            </a:r>
            <a:endParaRPr lang="en-US" sz="1200" dirty="0"/>
          </a:p>
        </p:txBody>
      </p:sp>
      <p:sp>
        <p:nvSpPr>
          <p:cNvPr id="10" name="Shape 7"/>
          <p:cNvSpPr/>
          <p:nvPr/>
        </p:nvSpPr>
        <p:spPr>
          <a:xfrm>
            <a:off x="2834640" y="1005840"/>
            <a:ext cx="5989320" cy="2560320"/>
          </a:xfrm>
          <a:prstGeom prst="rect">
            <a:avLst/>
          </a:prstGeom>
          <a:solidFill>
            <a:srgbClr val="FFFFFF"/>
          </a:solidFill>
          <a:ln w="12700">
            <a:solidFill>
              <a:srgbClr val="1B2A5E"/>
            </a:solidFill>
            <a:prstDash val="solid"/>
          </a:ln>
          <a:effectLst>
            <a:outerShdw blurRad="63500" dist="25400" dir="8100000" algn="bl" rotWithShape="0">
              <a:srgbClr val="000000">
                <a:alpha val="8000"/>
              </a:srgbClr>
            </a:outerShdw>
          </a:effectLst>
        </p:spPr>
        <p:txBody>
          <a:bodyPr/>
          <a:lstStyle/>
          <a:p>
            <a:endParaRPr lang="en-US"/>
          </a:p>
        </p:txBody>
      </p:sp>
      <p:sp>
        <p:nvSpPr>
          <p:cNvPr id="11" name="Shape 8"/>
          <p:cNvSpPr/>
          <p:nvPr/>
        </p:nvSpPr>
        <p:spPr>
          <a:xfrm>
            <a:off x="2834640" y="1005840"/>
            <a:ext cx="5989320" cy="420624"/>
          </a:xfrm>
          <a:prstGeom prst="rect">
            <a:avLst/>
          </a:prstGeom>
          <a:solidFill>
            <a:srgbClr val="1B2A5E"/>
          </a:solidFill>
          <a:ln w="12700">
            <a:solidFill>
              <a:srgbClr val="1B2A5E"/>
            </a:solidFill>
            <a:prstDash val="solid"/>
          </a:ln>
        </p:spPr>
        <p:txBody>
          <a:bodyPr/>
          <a:lstStyle/>
          <a:p>
            <a:endParaRPr lang="en-US"/>
          </a:p>
        </p:txBody>
      </p:sp>
      <p:sp>
        <p:nvSpPr>
          <p:cNvPr id="12" name="Text 9"/>
          <p:cNvSpPr/>
          <p:nvPr/>
        </p:nvSpPr>
        <p:spPr>
          <a:xfrm>
            <a:off x="2971800" y="1042416"/>
            <a:ext cx="566928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What I Implemented</a:t>
            </a:r>
            <a:endParaRPr lang="en-US" sz="1300" dirty="0"/>
          </a:p>
        </p:txBody>
      </p:sp>
      <p:sp>
        <p:nvSpPr>
          <p:cNvPr id="13" name="Text 10"/>
          <p:cNvSpPr/>
          <p:nvPr/>
        </p:nvSpPr>
        <p:spPr>
          <a:xfrm>
            <a:off x="2926080" y="1481328"/>
            <a:ext cx="5760720" cy="2011680"/>
          </a:xfrm>
          <a:prstGeom prst="rect">
            <a:avLst/>
          </a:prstGeom>
          <a:noFill/>
          <a:ln/>
        </p:spPr>
        <p:txBody>
          <a:bodyPr wrap="square" rtlCol="0" anchor="ctr"/>
          <a:lstStyle/>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FoodItemManager.java handles all CRUD operations — Create, Read, Update, and Delete for food items.</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It uses an ArrayList to store all food items in memory during the program.</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When items are added or changed, the data is saved to a file using File Handling.</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When the program starts, it reads the file and loads all previous food items automatically.</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OrderManager.java does the same for orders — it saves, loads, and searches orders from files.</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This ensures data is never lost — even after restarting the program.</a:t>
            </a:r>
            <a:endParaRPr lang="en-US" sz="1200" dirty="0"/>
          </a:p>
        </p:txBody>
      </p:sp>
      <p:sp>
        <p:nvSpPr>
          <p:cNvPr id="14" name="Shape 11"/>
          <p:cNvSpPr/>
          <p:nvPr/>
        </p:nvSpPr>
        <p:spPr>
          <a:xfrm>
            <a:off x="320040" y="3730752"/>
            <a:ext cx="8503920" cy="365760"/>
          </a:xfrm>
          <a:prstGeom prst="rect">
            <a:avLst/>
          </a:prstGeom>
          <a:solidFill>
            <a:srgbClr val="FEF3C7"/>
          </a:solidFill>
          <a:ln w="12700">
            <a:solidFill>
              <a:srgbClr val="B45309"/>
            </a:solidFill>
            <a:prstDash val="solid"/>
          </a:ln>
        </p:spPr>
        <p:txBody>
          <a:bodyPr/>
          <a:lstStyle/>
          <a:p>
            <a:endParaRPr lang="en-US"/>
          </a:p>
        </p:txBody>
      </p:sp>
      <p:sp>
        <p:nvSpPr>
          <p:cNvPr id="15" name="Text 12"/>
          <p:cNvSpPr/>
          <p:nvPr/>
        </p:nvSpPr>
        <p:spPr>
          <a:xfrm>
            <a:off x="411480" y="3749040"/>
            <a:ext cx="8321040" cy="329184"/>
          </a:xfrm>
          <a:prstGeom prst="rect">
            <a:avLst/>
          </a:prstGeom>
          <a:noFill/>
          <a:ln/>
        </p:spPr>
        <p:txBody>
          <a:bodyPr wrap="square" lIns="0" tIns="0" rIns="0" bIns="0" rtlCol="0" anchor="ctr"/>
          <a:lstStyle/>
          <a:p>
            <a:pPr marL="0" indent="0">
              <a:buNone/>
            </a:pPr>
            <a:r>
              <a:rPr lang="en-US" sz="1100" dirty="0">
                <a:solidFill>
                  <a:srgbClr val="1B2A5E"/>
                </a:solidFill>
                <a:latin typeface="Calibri" pitchFamily="34" charset="0"/>
                <a:ea typeface="Calibri" pitchFamily="34" charset="-122"/>
                <a:cs typeface="Calibri" pitchFamily="34" charset="-120"/>
              </a:rPr>
              <a:t>Key Concept:  ArrayList holds data in memory  |  File Handling stores data permanently on disk.</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65A82"/>
          </a:solidFill>
          <a:ln w="12700">
            <a:solidFill>
              <a:srgbClr val="065A82"/>
            </a:solidFill>
            <a:prstDash val="solid"/>
          </a:ln>
        </p:spPr>
        <p:txBody>
          <a:bodyPr/>
          <a:lstStyle/>
          <a:p>
            <a:endParaRPr lang="en-US"/>
          </a:p>
        </p:txBody>
      </p:sp>
      <p:sp>
        <p:nvSpPr>
          <p:cNvPr id="3" name="Text 1"/>
          <p:cNvSpPr/>
          <p:nvPr/>
        </p:nvSpPr>
        <p:spPr>
          <a:xfrm>
            <a:off x="365760" y="73152"/>
            <a:ext cx="8412480" cy="4572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Sourav Chandra Ghosh</a:t>
            </a:r>
            <a:endParaRPr lang="en-US" sz="2200" dirty="0"/>
          </a:p>
        </p:txBody>
      </p:sp>
      <p:sp>
        <p:nvSpPr>
          <p:cNvPr id="4" name="Text 2"/>
          <p:cNvSpPr/>
          <p:nvPr/>
        </p:nvSpPr>
        <p:spPr>
          <a:xfrm>
            <a:off x="365760" y="521208"/>
            <a:ext cx="8412480" cy="320040"/>
          </a:xfrm>
          <a:prstGeom prst="rect">
            <a:avLst/>
          </a:prstGeom>
          <a:noFill/>
          <a:ln/>
        </p:spPr>
        <p:txBody>
          <a:bodyPr wrap="square" lIns="0" tIns="0" rIns="0" bIns="0" rtlCol="0" anchor="ctr"/>
          <a:lstStyle/>
          <a:p>
            <a:pPr marL="0" indent="0">
              <a:buNone/>
            </a:pPr>
            <a:r>
              <a:rPr lang="en-US" sz="1300" dirty="0">
                <a:solidFill>
                  <a:srgbClr val="BAE6FD"/>
                </a:solidFill>
                <a:latin typeface="Calibri" pitchFamily="34" charset="0"/>
                <a:ea typeface="Calibri" pitchFamily="34" charset="-122"/>
                <a:cs typeface="Calibri" pitchFamily="34" charset="-120"/>
              </a:rPr>
              <a:t>Role: GUI Design – Forms, JTable &amp; User Interaction</a:t>
            </a:r>
            <a:endParaRPr lang="en-US" sz="1300" dirty="0"/>
          </a:p>
        </p:txBody>
      </p:sp>
      <p:sp>
        <p:nvSpPr>
          <p:cNvPr id="5" name="Shape 3"/>
          <p:cNvSpPr/>
          <p:nvPr/>
        </p:nvSpPr>
        <p:spPr>
          <a:xfrm>
            <a:off x="320040" y="1005840"/>
            <a:ext cx="2286000" cy="2560320"/>
          </a:xfrm>
          <a:prstGeom prst="rect">
            <a:avLst/>
          </a:prstGeom>
          <a:solidFill>
            <a:srgbClr val="FFFFFF"/>
          </a:solidFill>
          <a:ln w="12700">
            <a:solidFill>
              <a:srgbClr val="065A82"/>
            </a:solidFill>
            <a:prstDash val="solid"/>
          </a:ln>
          <a:effectLst>
            <a:outerShdw blurRad="63500" dist="25400" dir="8100000" algn="bl" rotWithShape="0">
              <a:srgbClr val="000000">
                <a:alpha val="8000"/>
              </a:srgbClr>
            </a:outerShdw>
          </a:effectLst>
        </p:spPr>
        <p:txBody>
          <a:bodyPr/>
          <a:lstStyle/>
          <a:p>
            <a:endParaRPr lang="en-US"/>
          </a:p>
        </p:txBody>
      </p:sp>
      <p:sp>
        <p:nvSpPr>
          <p:cNvPr id="6" name="Shape 4"/>
          <p:cNvSpPr/>
          <p:nvPr/>
        </p:nvSpPr>
        <p:spPr>
          <a:xfrm>
            <a:off x="320040" y="1005840"/>
            <a:ext cx="2286000" cy="420624"/>
          </a:xfrm>
          <a:prstGeom prst="rect">
            <a:avLst/>
          </a:prstGeom>
          <a:solidFill>
            <a:srgbClr val="065A82"/>
          </a:solidFill>
          <a:ln w="12700">
            <a:solidFill>
              <a:srgbClr val="065A82"/>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438912" y="1042416"/>
            <a:ext cx="310896" cy="310896"/>
          </a:xfrm>
          <a:prstGeom prst="rect">
            <a:avLst/>
          </a:prstGeom>
        </p:spPr>
      </p:pic>
      <p:sp>
        <p:nvSpPr>
          <p:cNvPr id="8" name="Text 5"/>
          <p:cNvSpPr/>
          <p:nvPr/>
        </p:nvSpPr>
        <p:spPr>
          <a:xfrm>
            <a:off x="804672" y="1042416"/>
            <a:ext cx="173736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My Files</a:t>
            </a:r>
            <a:endParaRPr lang="en-US" sz="1300" dirty="0"/>
          </a:p>
        </p:txBody>
      </p:sp>
      <p:sp>
        <p:nvSpPr>
          <p:cNvPr id="9" name="Text 6"/>
          <p:cNvSpPr/>
          <p:nvPr/>
        </p:nvSpPr>
        <p:spPr>
          <a:xfrm>
            <a:off x="411480" y="1481328"/>
            <a:ext cx="2084832" cy="2011680"/>
          </a:xfrm>
          <a:prstGeom prst="rect">
            <a:avLst/>
          </a:prstGeom>
          <a:noFill/>
          <a:ln/>
        </p:spPr>
        <p:txBody>
          <a:bodyPr wrap="square" rtlCol="0" anchor="ctr"/>
          <a:lstStyle/>
          <a:p>
            <a:pPr marL="0" indent="0">
              <a:buNone/>
            </a:pPr>
            <a:r>
              <a:rPr lang="en-US" sz="1200" b="1" dirty="0">
                <a:solidFill>
                  <a:srgbClr val="1B2A5E"/>
                </a:solidFill>
                <a:latin typeface="Calibri" pitchFamily="34" charset="0"/>
                <a:ea typeface="Calibri" pitchFamily="34" charset="-122"/>
                <a:cs typeface="Calibri" pitchFamily="34" charset="-120"/>
              </a:rPr>
              <a:t>📄  FoodItemPanel.java</a:t>
            </a:r>
            <a:endParaRPr lang="en-US" sz="1200" dirty="0"/>
          </a:p>
          <a:p>
            <a:pPr marL="0" indent="0">
              <a:buNone/>
            </a:pPr>
            <a:r>
              <a:rPr lang="en-US" sz="1100" dirty="0">
                <a:solidFill>
                  <a:srgbClr val="475569"/>
                </a:solidFill>
                <a:latin typeface="Calibri" pitchFamily="34" charset="0"/>
                <a:ea typeface="Calibri" pitchFamily="34" charset="-122"/>
                <a:cs typeface="Calibri" pitchFamily="34" charset="-120"/>
              </a:rPr>
              <a:t>• Input forms for food
• JTable for food list
• Add/Edit/Delete buttons
</a:t>
            </a:r>
            <a:endParaRPr lang="en-US" sz="1200" dirty="0"/>
          </a:p>
          <a:p>
            <a:pPr marL="0" indent="0">
              <a:buNone/>
            </a:pPr>
            <a:r>
              <a:rPr lang="en-US" sz="1200" b="1" dirty="0">
                <a:solidFill>
                  <a:srgbClr val="1B2A5E"/>
                </a:solidFill>
                <a:latin typeface="Calibri" pitchFamily="34" charset="0"/>
                <a:ea typeface="Calibri" pitchFamily="34" charset="-122"/>
                <a:cs typeface="Calibri" pitchFamily="34" charset="-120"/>
              </a:rPr>
              <a:t>📄  OrderPanel.java</a:t>
            </a:r>
            <a:endParaRPr lang="en-US" sz="1200" dirty="0"/>
          </a:p>
          <a:p>
            <a:pPr marL="0" indent="0">
              <a:buNone/>
            </a:pPr>
            <a:r>
              <a:rPr lang="en-US" sz="1100" dirty="0">
                <a:solidFill>
                  <a:srgbClr val="475569"/>
                </a:solidFill>
                <a:latin typeface="Calibri" pitchFamily="34" charset="0"/>
                <a:ea typeface="Calibri" pitchFamily="34" charset="-122"/>
                <a:cs typeface="Calibri" pitchFamily="34" charset="-120"/>
              </a:rPr>
              <a:t>• Order form UI</a:t>
            </a:r>
            <a:endParaRPr lang="en-US" sz="1200" dirty="0"/>
          </a:p>
          <a:p>
            <a:pPr marL="0" indent="0">
              <a:buNone/>
            </a:pPr>
            <a:r>
              <a:rPr lang="en-US" sz="1100" dirty="0">
                <a:solidFill>
                  <a:srgbClr val="475569"/>
                </a:solidFill>
                <a:latin typeface="Calibri" pitchFamily="34" charset="0"/>
                <a:ea typeface="Calibri" pitchFamily="34" charset="-122"/>
                <a:cs typeface="Calibri" pitchFamily="34" charset="-120"/>
              </a:rPr>
              <a:t>• Cart display</a:t>
            </a:r>
            <a:endParaRPr lang="en-US" sz="1200" dirty="0"/>
          </a:p>
          <a:p>
            <a:pPr marL="0" indent="0">
              <a:buNone/>
            </a:pPr>
            <a:r>
              <a:rPr lang="en-US" sz="1100" dirty="0">
                <a:solidFill>
                  <a:srgbClr val="475569"/>
                </a:solidFill>
                <a:latin typeface="Calibri" pitchFamily="34" charset="0"/>
                <a:ea typeface="Calibri" pitchFamily="34" charset="-122"/>
                <a:cs typeface="Calibri" pitchFamily="34" charset="-120"/>
              </a:rPr>
              <a:t>• Bill area</a:t>
            </a:r>
            <a:endParaRPr lang="en-US" sz="1200" dirty="0"/>
          </a:p>
          <a:p>
            <a:pPr marL="0" indent="0">
              <a:buNone/>
            </a:pPr>
            <a:r>
              <a:rPr lang="en-US" sz="1100" dirty="0">
                <a:solidFill>
                  <a:srgbClr val="475569"/>
                </a:solidFill>
                <a:latin typeface="Calibri" pitchFamily="34" charset="0"/>
                <a:ea typeface="Calibri" pitchFamily="34" charset="-122"/>
                <a:cs typeface="Calibri" pitchFamily="34" charset="-120"/>
              </a:rPr>
              <a:t>• Order history table</a:t>
            </a:r>
            <a:endParaRPr lang="en-US" sz="1200" dirty="0"/>
          </a:p>
        </p:txBody>
      </p:sp>
      <p:sp>
        <p:nvSpPr>
          <p:cNvPr id="10" name="Shape 7"/>
          <p:cNvSpPr/>
          <p:nvPr/>
        </p:nvSpPr>
        <p:spPr>
          <a:xfrm>
            <a:off x="2834640" y="1005840"/>
            <a:ext cx="5989320" cy="2560320"/>
          </a:xfrm>
          <a:prstGeom prst="rect">
            <a:avLst/>
          </a:prstGeom>
          <a:solidFill>
            <a:srgbClr val="FFFFFF"/>
          </a:solidFill>
          <a:ln w="12700">
            <a:solidFill>
              <a:srgbClr val="1B2A5E"/>
            </a:solidFill>
            <a:prstDash val="solid"/>
          </a:ln>
          <a:effectLst>
            <a:outerShdw blurRad="63500" dist="25400" dir="8100000" algn="bl" rotWithShape="0">
              <a:srgbClr val="000000">
                <a:alpha val="8000"/>
              </a:srgbClr>
            </a:outerShdw>
          </a:effectLst>
        </p:spPr>
        <p:txBody>
          <a:bodyPr/>
          <a:lstStyle/>
          <a:p>
            <a:endParaRPr lang="en-US"/>
          </a:p>
        </p:txBody>
      </p:sp>
      <p:sp>
        <p:nvSpPr>
          <p:cNvPr id="11" name="Shape 8"/>
          <p:cNvSpPr/>
          <p:nvPr/>
        </p:nvSpPr>
        <p:spPr>
          <a:xfrm>
            <a:off x="2834640" y="1005840"/>
            <a:ext cx="5989320" cy="420624"/>
          </a:xfrm>
          <a:prstGeom prst="rect">
            <a:avLst/>
          </a:prstGeom>
          <a:solidFill>
            <a:srgbClr val="1B2A5E"/>
          </a:solidFill>
          <a:ln w="12700">
            <a:solidFill>
              <a:srgbClr val="1B2A5E"/>
            </a:solidFill>
            <a:prstDash val="solid"/>
          </a:ln>
        </p:spPr>
        <p:txBody>
          <a:bodyPr/>
          <a:lstStyle/>
          <a:p>
            <a:endParaRPr lang="en-US"/>
          </a:p>
        </p:txBody>
      </p:sp>
      <p:sp>
        <p:nvSpPr>
          <p:cNvPr id="12" name="Text 9"/>
          <p:cNvSpPr/>
          <p:nvPr/>
        </p:nvSpPr>
        <p:spPr>
          <a:xfrm>
            <a:off x="2971800" y="1042416"/>
            <a:ext cx="566928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What I Implemented</a:t>
            </a:r>
            <a:endParaRPr lang="en-US" sz="1300" dirty="0"/>
          </a:p>
        </p:txBody>
      </p:sp>
      <p:sp>
        <p:nvSpPr>
          <p:cNvPr id="13" name="Text 10"/>
          <p:cNvSpPr/>
          <p:nvPr/>
        </p:nvSpPr>
        <p:spPr>
          <a:xfrm>
            <a:off x="2926080" y="1481328"/>
            <a:ext cx="5760720" cy="2011680"/>
          </a:xfrm>
          <a:prstGeom prst="rect">
            <a:avLst/>
          </a:prstGeom>
          <a:noFill/>
          <a:ln/>
        </p:spPr>
        <p:txBody>
          <a:bodyPr wrap="square" rtlCol="0" anchor="ctr"/>
          <a:lstStyle/>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FoodItemPanel.java is the visual screen for food management — the part users actually see and use.</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It has input fields for food name, price, and category, and buttons for Add, Update, Delete, and Search.</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A JTable displays all food items in a nice table format — like a spreadsheet inside the app.</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OrderPanel.java is the order screen. It shows available food items and lets users select them.</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Selected items go into the cart with an automatically calculated total price.</a:t>
            </a:r>
            <a:endParaRPr lang="en-US" sz="1200" dirty="0"/>
          </a:p>
          <a:p>
            <a:pPr marL="342900" indent="-342900">
              <a:spcAft>
                <a:spcPts val="400"/>
              </a:spcAft>
              <a:buSzPct val="100000"/>
              <a:buChar char="•"/>
            </a:pPr>
            <a:r>
              <a:rPr lang="en-US" sz="1200" dirty="0">
                <a:solidFill>
                  <a:srgbClr val="475569"/>
                </a:solidFill>
                <a:latin typeface="Calibri" pitchFamily="34" charset="0"/>
                <a:ea typeface="Calibri" pitchFamily="34" charset="-122"/>
                <a:cs typeface="Calibri" pitchFamily="34" charset="-120"/>
              </a:rPr>
              <a:t>There is also an order history table where users can search and view past orders.</a:t>
            </a:r>
            <a:endParaRPr lang="en-US" sz="1200" dirty="0"/>
          </a:p>
        </p:txBody>
      </p:sp>
      <p:sp>
        <p:nvSpPr>
          <p:cNvPr id="14" name="Shape 11"/>
          <p:cNvSpPr/>
          <p:nvPr/>
        </p:nvSpPr>
        <p:spPr>
          <a:xfrm>
            <a:off x="320040" y="3730752"/>
            <a:ext cx="8503920" cy="365760"/>
          </a:xfrm>
          <a:prstGeom prst="rect">
            <a:avLst/>
          </a:prstGeom>
          <a:solidFill>
            <a:srgbClr val="E0F2FE"/>
          </a:solidFill>
          <a:ln w="12700">
            <a:solidFill>
              <a:srgbClr val="065A82"/>
            </a:solidFill>
            <a:prstDash val="solid"/>
          </a:ln>
        </p:spPr>
        <p:txBody>
          <a:bodyPr/>
          <a:lstStyle/>
          <a:p>
            <a:endParaRPr lang="en-US"/>
          </a:p>
        </p:txBody>
      </p:sp>
      <p:sp>
        <p:nvSpPr>
          <p:cNvPr id="15" name="Text 12"/>
          <p:cNvSpPr/>
          <p:nvPr/>
        </p:nvSpPr>
        <p:spPr>
          <a:xfrm>
            <a:off x="411480" y="3749040"/>
            <a:ext cx="8321040" cy="329184"/>
          </a:xfrm>
          <a:prstGeom prst="rect">
            <a:avLst/>
          </a:prstGeom>
          <a:noFill/>
          <a:ln/>
        </p:spPr>
        <p:txBody>
          <a:bodyPr wrap="square" lIns="0" tIns="0" rIns="0" bIns="0" rtlCol="0" anchor="ctr"/>
          <a:lstStyle/>
          <a:p>
            <a:pPr marL="0" indent="0">
              <a:buNone/>
            </a:pPr>
            <a:r>
              <a:rPr lang="en-US" sz="1100" dirty="0">
                <a:solidFill>
                  <a:srgbClr val="1B2A5E"/>
                </a:solidFill>
                <a:latin typeface="Calibri" pitchFamily="34" charset="0"/>
                <a:ea typeface="Calibri" pitchFamily="34" charset="-122"/>
                <a:cs typeface="Calibri" pitchFamily="34" charset="-120"/>
              </a:rPr>
              <a:t>Key Concept:  GUI panels are what the user sees and interacts with — they connect the user to the backend logic.</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5E"/>
          </a:solidFill>
          <a:ln w="12700">
            <a:solidFill>
              <a:srgbClr val="1B2A5E"/>
            </a:solidFill>
            <a:prstDash val="solid"/>
          </a:ln>
        </p:spPr>
        <p:txBody>
          <a:bodyPr/>
          <a:lstStyle/>
          <a:p>
            <a:endParaRPr lang="en-US"/>
          </a:p>
        </p:txBody>
      </p:sp>
      <p:sp>
        <p:nvSpPr>
          <p:cNvPr id="3" name="Text 1"/>
          <p:cNvSpPr/>
          <p:nvPr/>
        </p:nvSpPr>
        <p:spPr>
          <a:xfrm>
            <a:off x="365760" y="73152"/>
            <a:ext cx="8412480" cy="768096"/>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System Demonstration</a:t>
            </a:r>
            <a:endParaRPr lang="en-US" sz="2800" dirty="0"/>
          </a:p>
        </p:txBody>
      </p:sp>
      <p:sp>
        <p:nvSpPr>
          <p:cNvPr id="4" name="Shape 2"/>
          <p:cNvSpPr/>
          <p:nvPr/>
        </p:nvSpPr>
        <p:spPr>
          <a:xfrm>
            <a:off x="320040" y="1005840"/>
            <a:ext cx="3977640" cy="1828800"/>
          </a:xfrm>
          <a:prstGeom prst="rect">
            <a:avLst/>
          </a:prstGeom>
          <a:solidFill>
            <a:srgbClr val="FFFFFF"/>
          </a:solidFill>
          <a:ln w="12700">
            <a:solidFill>
              <a:srgbClr val="0D9488"/>
            </a:solidFill>
            <a:prstDash val="solid"/>
          </a:ln>
          <a:effectLst>
            <a:outerShdw blurRad="76200" dist="25400" dir="8100000" algn="bl" rotWithShape="0">
              <a:srgbClr val="000000">
                <a:alpha val="9000"/>
              </a:srgbClr>
            </a:outerShdw>
          </a:effectLst>
        </p:spPr>
        <p:txBody>
          <a:bodyPr/>
          <a:lstStyle/>
          <a:p>
            <a:endParaRPr lang="en-US"/>
          </a:p>
        </p:txBody>
      </p:sp>
      <p:sp>
        <p:nvSpPr>
          <p:cNvPr id="5" name="Shape 3"/>
          <p:cNvSpPr/>
          <p:nvPr/>
        </p:nvSpPr>
        <p:spPr>
          <a:xfrm>
            <a:off x="320040" y="1005840"/>
            <a:ext cx="3977640" cy="402336"/>
          </a:xfrm>
          <a:prstGeom prst="rect">
            <a:avLst/>
          </a:prstGeom>
          <a:solidFill>
            <a:srgbClr val="0D9488"/>
          </a:solidFill>
          <a:ln w="12700">
            <a:solidFill>
              <a:srgbClr val="0D948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411480" y="1060704"/>
            <a:ext cx="274320" cy="274320"/>
          </a:xfrm>
          <a:prstGeom prst="rect">
            <a:avLst/>
          </a:prstGeom>
        </p:spPr>
      </p:pic>
      <p:sp>
        <p:nvSpPr>
          <p:cNvPr id="7" name="Text 4"/>
          <p:cNvSpPr/>
          <p:nvPr/>
        </p:nvSpPr>
        <p:spPr>
          <a:xfrm>
            <a:off x="749808" y="1060704"/>
            <a:ext cx="3456432"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Food Item Management Tab</a:t>
            </a:r>
            <a:endParaRPr lang="en-US" sz="1200" dirty="0"/>
          </a:p>
        </p:txBody>
      </p:sp>
      <p:sp>
        <p:nvSpPr>
          <p:cNvPr id="8" name="Shape 5"/>
          <p:cNvSpPr/>
          <p:nvPr/>
        </p:nvSpPr>
        <p:spPr>
          <a:xfrm>
            <a:off x="429768" y="1490472"/>
            <a:ext cx="3758184" cy="978408"/>
          </a:xfrm>
          <a:prstGeom prst="rect">
            <a:avLst/>
          </a:prstGeom>
          <a:solidFill>
            <a:srgbClr val="F0FDFA"/>
          </a:solidFill>
          <a:ln w="12700">
            <a:solidFill>
              <a:srgbClr val="0D9488"/>
            </a:solidFill>
            <a:prstDash val="solid"/>
          </a:ln>
        </p:spPr>
        <p:txBody>
          <a:bodyPr/>
          <a:lstStyle/>
          <a:p>
            <a:endParaRPr lang="en-US"/>
          </a:p>
        </p:txBody>
      </p:sp>
      <p:sp>
        <p:nvSpPr>
          <p:cNvPr id="9" name="Shape 6"/>
          <p:cNvSpPr/>
          <p:nvPr/>
        </p:nvSpPr>
        <p:spPr>
          <a:xfrm>
            <a:off x="502920" y="1572768"/>
            <a:ext cx="3611880" cy="182880"/>
          </a:xfrm>
          <a:prstGeom prst="rect">
            <a:avLst/>
          </a:prstGeom>
          <a:solidFill>
            <a:srgbClr val="0D9488"/>
          </a:solidFill>
          <a:ln w="12700">
            <a:solidFill>
              <a:srgbClr val="0D9488"/>
            </a:solidFill>
            <a:prstDash val="solid"/>
          </a:ln>
        </p:spPr>
        <p:txBody>
          <a:bodyPr/>
          <a:lstStyle/>
          <a:p>
            <a:endParaRPr lang="en-US"/>
          </a:p>
        </p:txBody>
      </p:sp>
      <p:sp>
        <p:nvSpPr>
          <p:cNvPr id="10" name="Shape 7"/>
          <p:cNvSpPr/>
          <p:nvPr/>
        </p:nvSpPr>
        <p:spPr>
          <a:xfrm>
            <a:off x="502920" y="1810512"/>
            <a:ext cx="3611880" cy="109728"/>
          </a:xfrm>
          <a:prstGeom prst="rect">
            <a:avLst/>
          </a:prstGeom>
          <a:solidFill>
            <a:srgbClr val="94A3B8"/>
          </a:solidFill>
          <a:ln w="12700">
            <a:solidFill>
              <a:srgbClr val="94A3B8"/>
            </a:solidFill>
            <a:prstDash val="solid"/>
          </a:ln>
        </p:spPr>
        <p:txBody>
          <a:bodyPr/>
          <a:lstStyle/>
          <a:p>
            <a:endParaRPr lang="en-US"/>
          </a:p>
        </p:txBody>
      </p:sp>
      <p:sp>
        <p:nvSpPr>
          <p:cNvPr id="11" name="Shape 8"/>
          <p:cNvSpPr/>
          <p:nvPr/>
        </p:nvSpPr>
        <p:spPr>
          <a:xfrm>
            <a:off x="502920" y="1965960"/>
            <a:ext cx="3611880" cy="109728"/>
          </a:xfrm>
          <a:prstGeom prst="rect">
            <a:avLst/>
          </a:prstGeom>
          <a:solidFill>
            <a:srgbClr val="94A3B8"/>
          </a:solidFill>
          <a:ln w="12700">
            <a:solidFill>
              <a:srgbClr val="94A3B8"/>
            </a:solidFill>
            <a:prstDash val="solid"/>
          </a:ln>
        </p:spPr>
        <p:txBody>
          <a:bodyPr/>
          <a:lstStyle/>
          <a:p>
            <a:endParaRPr lang="en-US"/>
          </a:p>
        </p:txBody>
      </p:sp>
      <p:sp>
        <p:nvSpPr>
          <p:cNvPr id="12" name="Shape 9"/>
          <p:cNvSpPr/>
          <p:nvPr/>
        </p:nvSpPr>
        <p:spPr>
          <a:xfrm>
            <a:off x="502920" y="2121408"/>
            <a:ext cx="2167128" cy="109728"/>
          </a:xfrm>
          <a:prstGeom prst="rect">
            <a:avLst/>
          </a:prstGeom>
          <a:solidFill>
            <a:srgbClr val="94A3B8"/>
          </a:solidFill>
          <a:ln w="12700">
            <a:solidFill>
              <a:srgbClr val="94A3B8"/>
            </a:solidFill>
            <a:prstDash val="solid"/>
          </a:ln>
        </p:spPr>
        <p:txBody>
          <a:bodyPr/>
          <a:lstStyle/>
          <a:p>
            <a:endParaRPr lang="en-US"/>
          </a:p>
        </p:txBody>
      </p:sp>
      <p:sp>
        <p:nvSpPr>
          <p:cNvPr id="13" name="Text 10"/>
          <p:cNvSpPr/>
          <p:nvPr/>
        </p:nvSpPr>
        <p:spPr>
          <a:xfrm>
            <a:off x="429768" y="1490472"/>
            <a:ext cx="3758184" cy="978408"/>
          </a:xfrm>
          <a:prstGeom prst="rect">
            <a:avLst/>
          </a:prstGeom>
          <a:noFill/>
          <a:ln/>
        </p:spPr>
        <p:txBody>
          <a:bodyPr wrap="square" rtlCol="0" anchor="ctr"/>
          <a:lstStyle/>
          <a:p>
            <a:pPr marL="0" indent="0" algn="ctr">
              <a:buNone/>
            </a:pPr>
            <a:r>
              <a:rPr lang="en-US" sz="1000" i="1" dirty="0">
                <a:solidFill>
                  <a:srgbClr val="94A3B8"/>
                </a:solidFill>
                <a:latin typeface="Calibri" pitchFamily="34" charset="0"/>
                <a:ea typeface="Calibri" pitchFamily="34" charset="-122"/>
                <a:cs typeface="Calibri" pitchFamily="34" charset="-120"/>
              </a:rPr>
              <a:t>[Screenshot / Demo]</a:t>
            </a:r>
            <a:endParaRPr lang="en-US" sz="1000" dirty="0"/>
          </a:p>
        </p:txBody>
      </p:sp>
      <p:sp>
        <p:nvSpPr>
          <p:cNvPr id="14" name="Text 11"/>
          <p:cNvSpPr/>
          <p:nvPr/>
        </p:nvSpPr>
        <p:spPr>
          <a:xfrm>
            <a:off x="429768" y="2505456"/>
            <a:ext cx="3758184" cy="274320"/>
          </a:xfrm>
          <a:prstGeom prst="rect">
            <a:avLst/>
          </a:prstGeom>
          <a:noFill/>
          <a:ln/>
        </p:spPr>
        <p:txBody>
          <a:bodyPr wrap="square" rtlCol="0" anchor="ctr"/>
          <a:lstStyle/>
          <a:p>
            <a:pPr marL="0" indent="0" algn="ctr">
              <a:buNone/>
            </a:pPr>
            <a:r>
              <a:rPr lang="en-US" sz="950" dirty="0">
                <a:solidFill>
                  <a:srgbClr val="475569"/>
                </a:solidFill>
                <a:latin typeface="Calibri" pitchFamily="34" charset="0"/>
                <a:ea typeface="Calibri" pitchFamily="34" charset="-122"/>
                <a:cs typeface="Calibri" pitchFamily="34" charset="-120"/>
              </a:rPr>
              <a:t>Add, Edit, Delete &amp; Search food items using forms and JTable</a:t>
            </a:r>
            <a:endParaRPr lang="en-US" sz="950" dirty="0"/>
          </a:p>
        </p:txBody>
      </p:sp>
      <p:sp>
        <p:nvSpPr>
          <p:cNvPr id="15" name="Shape 12"/>
          <p:cNvSpPr/>
          <p:nvPr/>
        </p:nvSpPr>
        <p:spPr>
          <a:xfrm>
            <a:off x="4572000" y="1005840"/>
            <a:ext cx="3977640" cy="1828800"/>
          </a:xfrm>
          <a:prstGeom prst="rect">
            <a:avLst/>
          </a:prstGeom>
          <a:solidFill>
            <a:srgbClr val="FFFFFF"/>
          </a:solidFill>
          <a:ln w="12700">
            <a:solidFill>
              <a:srgbClr val="0891B2"/>
            </a:solidFill>
            <a:prstDash val="solid"/>
          </a:ln>
          <a:effectLst>
            <a:outerShdw blurRad="76200" dist="25400" dir="8100000" algn="bl" rotWithShape="0">
              <a:srgbClr val="000000">
                <a:alpha val="9000"/>
              </a:srgbClr>
            </a:outerShdw>
          </a:effectLst>
        </p:spPr>
        <p:txBody>
          <a:bodyPr/>
          <a:lstStyle/>
          <a:p>
            <a:endParaRPr lang="en-US"/>
          </a:p>
        </p:txBody>
      </p:sp>
      <p:sp>
        <p:nvSpPr>
          <p:cNvPr id="16" name="Shape 13"/>
          <p:cNvSpPr/>
          <p:nvPr/>
        </p:nvSpPr>
        <p:spPr>
          <a:xfrm>
            <a:off x="4572000" y="1005840"/>
            <a:ext cx="3977640" cy="402336"/>
          </a:xfrm>
          <a:prstGeom prst="rect">
            <a:avLst/>
          </a:prstGeom>
          <a:solidFill>
            <a:srgbClr val="0891B2"/>
          </a:solidFill>
          <a:ln w="12700">
            <a:solidFill>
              <a:srgbClr val="0891B2"/>
            </a:solidFill>
            <a:prstDash val="solid"/>
          </a:ln>
        </p:spPr>
        <p:txBody>
          <a:bodyPr/>
          <a:lstStyle/>
          <a:p>
            <a:endParaRPr lang="en-US"/>
          </a:p>
        </p:txBody>
      </p:sp>
      <p:pic>
        <p:nvPicPr>
          <p:cNvPr id="17" name="Image 1" descr="preencoded.png"/>
          <p:cNvPicPr>
            <a:picLocks noChangeAspect="1"/>
          </p:cNvPicPr>
          <p:nvPr/>
        </p:nvPicPr>
        <p:blipFill>
          <a:blip r:embed="rId4"/>
          <a:stretch>
            <a:fillRect/>
          </a:stretch>
        </p:blipFill>
        <p:spPr>
          <a:xfrm>
            <a:off x="4663440" y="1060704"/>
            <a:ext cx="274320" cy="274320"/>
          </a:xfrm>
          <a:prstGeom prst="rect">
            <a:avLst/>
          </a:prstGeom>
        </p:spPr>
      </p:pic>
      <p:sp>
        <p:nvSpPr>
          <p:cNvPr id="18" name="Text 14"/>
          <p:cNvSpPr/>
          <p:nvPr/>
        </p:nvSpPr>
        <p:spPr>
          <a:xfrm>
            <a:off x="5001768" y="1060704"/>
            <a:ext cx="3456432"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Order Management Tab</a:t>
            </a:r>
            <a:endParaRPr lang="en-US" sz="1200" dirty="0"/>
          </a:p>
        </p:txBody>
      </p:sp>
      <p:sp>
        <p:nvSpPr>
          <p:cNvPr id="19" name="Shape 15"/>
          <p:cNvSpPr/>
          <p:nvPr/>
        </p:nvSpPr>
        <p:spPr>
          <a:xfrm>
            <a:off x="4681728" y="1490472"/>
            <a:ext cx="3758184" cy="978408"/>
          </a:xfrm>
          <a:prstGeom prst="rect">
            <a:avLst/>
          </a:prstGeom>
          <a:solidFill>
            <a:srgbClr val="F0FDFA"/>
          </a:solidFill>
          <a:ln w="12700">
            <a:solidFill>
              <a:srgbClr val="0891B2"/>
            </a:solidFill>
            <a:prstDash val="solid"/>
          </a:ln>
        </p:spPr>
        <p:txBody>
          <a:bodyPr/>
          <a:lstStyle/>
          <a:p>
            <a:endParaRPr lang="en-US"/>
          </a:p>
        </p:txBody>
      </p:sp>
      <p:sp>
        <p:nvSpPr>
          <p:cNvPr id="20" name="Shape 16"/>
          <p:cNvSpPr/>
          <p:nvPr/>
        </p:nvSpPr>
        <p:spPr>
          <a:xfrm>
            <a:off x="4754880" y="1572768"/>
            <a:ext cx="3611880" cy="182880"/>
          </a:xfrm>
          <a:prstGeom prst="rect">
            <a:avLst/>
          </a:prstGeom>
          <a:solidFill>
            <a:srgbClr val="0891B2"/>
          </a:solidFill>
          <a:ln w="12700">
            <a:solidFill>
              <a:srgbClr val="0891B2"/>
            </a:solidFill>
            <a:prstDash val="solid"/>
          </a:ln>
        </p:spPr>
        <p:txBody>
          <a:bodyPr/>
          <a:lstStyle/>
          <a:p>
            <a:endParaRPr lang="en-US"/>
          </a:p>
        </p:txBody>
      </p:sp>
      <p:sp>
        <p:nvSpPr>
          <p:cNvPr id="21" name="Shape 17"/>
          <p:cNvSpPr/>
          <p:nvPr/>
        </p:nvSpPr>
        <p:spPr>
          <a:xfrm>
            <a:off x="4754880" y="1810512"/>
            <a:ext cx="3611880" cy="109728"/>
          </a:xfrm>
          <a:prstGeom prst="rect">
            <a:avLst/>
          </a:prstGeom>
          <a:solidFill>
            <a:srgbClr val="94A3B8"/>
          </a:solidFill>
          <a:ln w="12700">
            <a:solidFill>
              <a:srgbClr val="94A3B8"/>
            </a:solidFill>
            <a:prstDash val="solid"/>
          </a:ln>
        </p:spPr>
        <p:txBody>
          <a:bodyPr/>
          <a:lstStyle/>
          <a:p>
            <a:endParaRPr lang="en-US"/>
          </a:p>
        </p:txBody>
      </p:sp>
      <p:sp>
        <p:nvSpPr>
          <p:cNvPr id="22" name="Shape 18"/>
          <p:cNvSpPr/>
          <p:nvPr/>
        </p:nvSpPr>
        <p:spPr>
          <a:xfrm>
            <a:off x="4754880" y="1965960"/>
            <a:ext cx="3611880" cy="109728"/>
          </a:xfrm>
          <a:prstGeom prst="rect">
            <a:avLst/>
          </a:prstGeom>
          <a:solidFill>
            <a:srgbClr val="94A3B8"/>
          </a:solidFill>
          <a:ln w="12700">
            <a:solidFill>
              <a:srgbClr val="94A3B8"/>
            </a:solidFill>
            <a:prstDash val="solid"/>
          </a:ln>
        </p:spPr>
        <p:txBody>
          <a:bodyPr/>
          <a:lstStyle/>
          <a:p>
            <a:endParaRPr lang="en-US"/>
          </a:p>
        </p:txBody>
      </p:sp>
      <p:sp>
        <p:nvSpPr>
          <p:cNvPr id="23" name="Shape 19"/>
          <p:cNvSpPr/>
          <p:nvPr/>
        </p:nvSpPr>
        <p:spPr>
          <a:xfrm>
            <a:off x="4754880" y="2121408"/>
            <a:ext cx="2167128" cy="109728"/>
          </a:xfrm>
          <a:prstGeom prst="rect">
            <a:avLst/>
          </a:prstGeom>
          <a:solidFill>
            <a:srgbClr val="94A3B8"/>
          </a:solidFill>
          <a:ln w="12700">
            <a:solidFill>
              <a:srgbClr val="94A3B8"/>
            </a:solidFill>
            <a:prstDash val="solid"/>
          </a:ln>
        </p:spPr>
        <p:txBody>
          <a:bodyPr/>
          <a:lstStyle/>
          <a:p>
            <a:endParaRPr lang="en-US"/>
          </a:p>
        </p:txBody>
      </p:sp>
      <p:sp>
        <p:nvSpPr>
          <p:cNvPr id="24" name="Text 20"/>
          <p:cNvSpPr/>
          <p:nvPr/>
        </p:nvSpPr>
        <p:spPr>
          <a:xfrm>
            <a:off x="4681728" y="1490472"/>
            <a:ext cx="3758184" cy="978408"/>
          </a:xfrm>
          <a:prstGeom prst="rect">
            <a:avLst/>
          </a:prstGeom>
          <a:noFill/>
          <a:ln/>
        </p:spPr>
        <p:txBody>
          <a:bodyPr wrap="square" rtlCol="0" anchor="ctr"/>
          <a:lstStyle/>
          <a:p>
            <a:pPr marL="0" indent="0" algn="ctr">
              <a:buNone/>
            </a:pPr>
            <a:r>
              <a:rPr lang="en-US" sz="1000" i="1" dirty="0">
                <a:solidFill>
                  <a:srgbClr val="94A3B8"/>
                </a:solidFill>
                <a:latin typeface="Calibri" pitchFamily="34" charset="0"/>
                <a:ea typeface="Calibri" pitchFamily="34" charset="-122"/>
                <a:cs typeface="Calibri" pitchFamily="34" charset="-120"/>
              </a:rPr>
              <a:t>[Screenshot / Demo]</a:t>
            </a:r>
            <a:endParaRPr lang="en-US" sz="1000" dirty="0"/>
          </a:p>
        </p:txBody>
      </p:sp>
      <p:sp>
        <p:nvSpPr>
          <p:cNvPr id="25" name="Text 21"/>
          <p:cNvSpPr/>
          <p:nvPr/>
        </p:nvSpPr>
        <p:spPr>
          <a:xfrm>
            <a:off x="4681728" y="2505456"/>
            <a:ext cx="3758184" cy="274320"/>
          </a:xfrm>
          <a:prstGeom prst="rect">
            <a:avLst/>
          </a:prstGeom>
          <a:noFill/>
          <a:ln/>
        </p:spPr>
        <p:txBody>
          <a:bodyPr wrap="square" rtlCol="0" anchor="ctr"/>
          <a:lstStyle/>
          <a:p>
            <a:pPr marL="0" indent="0" algn="ctr">
              <a:buNone/>
            </a:pPr>
            <a:r>
              <a:rPr lang="en-US" sz="950" dirty="0">
                <a:solidFill>
                  <a:srgbClr val="475569"/>
                </a:solidFill>
                <a:latin typeface="Calibri" pitchFamily="34" charset="0"/>
                <a:ea typeface="Calibri" pitchFamily="34" charset="-122"/>
                <a:cs typeface="Calibri" pitchFamily="34" charset="-120"/>
              </a:rPr>
              <a:t>Select food items from the list and place orders</a:t>
            </a:r>
            <a:endParaRPr lang="en-US" sz="950" dirty="0"/>
          </a:p>
        </p:txBody>
      </p:sp>
      <p:sp>
        <p:nvSpPr>
          <p:cNvPr id="26" name="Shape 22"/>
          <p:cNvSpPr/>
          <p:nvPr/>
        </p:nvSpPr>
        <p:spPr>
          <a:xfrm>
            <a:off x="320040" y="3108960"/>
            <a:ext cx="3977640" cy="1828800"/>
          </a:xfrm>
          <a:prstGeom prst="rect">
            <a:avLst/>
          </a:prstGeom>
          <a:solidFill>
            <a:srgbClr val="FFFFFF"/>
          </a:solidFill>
          <a:ln w="12700">
            <a:solidFill>
              <a:srgbClr val="1B2A5E"/>
            </a:solidFill>
            <a:prstDash val="solid"/>
          </a:ln>
          <a:effectLst>
            <a:outerShdw blurRad="76200" dist="25400" dir="8100000" algn="bl" rotWithShape="0">
              <a:srgbClr val="000000">
                <a:alpha val="9000"/>
              </a:srgbClr>
            </a:outerShdw>
          </a:effectLst>
        </p:spPr>
        <p:txBody>
          <a:bodyPr/>
          <a:lstStyle/>
          <a:p>
            <a:endParaRPr lang="en-US"/>
          </a:p>
        </p:txBody>
      </p:sp>
      <p:sp>
        <p:nvSpPr>
          <p:cNvPr id="27" name="Shape 23"/>
          <p:cNvSpPr/>
          <p:nvPr/>
        </p:nvSpPr>
        <p:spPr>
          <a:xfrm>
            <a:off x="320040" y="3108960"/>
            <a:ext cx="3977640" cy="402336"/>
          </a:xfrm>
          <a:prstGeom prst="rect">
            <a:avLst/>
          </a:prstGeom>
          <a:solidFill>
            <a:srgbClr val="1B2A5E"/>
          </a:solidFill>
          <a:ln w="12700">
            <a:solidFill>
              <a:srgbClr val="1B2A5E"/>
            </a:solidFill>
            <a:prstDash val="solid"/>
          </a:ln>
        </p:spPr>
        <p:txBody>
          <a:bodyPr/>
          <a:lstStyle/>
          <a:p>
            <a:endParaRPr lang="en-US"/>
          </a:p>
        </p:txBody>
      </p:sp>
      <p:pic>
        <p:nvPicPr>
          <p:cNvPr id="28" name="Image 2" descr="preencoded.png"/>
          <p:cNvPicPr>
            <a:picLocks noChangeAspect="1"/>
          </p:cNvPicPr>
          <p:nvPr/>
        </p:nvPicPr>
        <p:blipFill>
          <a:blip r:embed="rId5"/>
          <a:stretch>
            <a:fillRect/>
          </a:stretch>
        </p:blipFill>
        <p:spPr>
          <a:xfrm>
            <a:off x="411480" y="3163824"/>
            <a:ext cx="274320" cy="274320"/>
          </a:xfrm>
          <a:prstGeom prst="rect">
            <a:avLst/>
          </a:prstGeom>
        </p:spPr>
      </p:pic>
      <p:sp>
        <p:nvSpPr>
          <p:cNvPr id="29" name="Text 24"/>
          <p:cNvSpPr/>
          <p:nvPr/>
        </p:nvSpPr>
        <p:spPr>
          <a:xfrm>
            <a:off x="749808" y="3163824"/>
            <a:ext cx="3456432"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Multi-Item Cart View</a:t>
            </a:r>
            <a:endParaRPr lang="en-US" sz="1200" dirty="0"/>
          </a:p>
        </p:txBody>
      </p:sp>
      <p:sp>
        <p:nvSpPr>
          <p:cNvPr id="30" name="Shape 25"/>
          <p:cNvSpPr/>
          <p:nvPr/>
        </p:nvSpPr>
        <p:spPr>
          <a:xfrm>
            <a:off x="429768" y="3593592"/>
            <a:ext cx="3758184" cy="978408"/>
          </a:xfrm>
          <a:prstGeom prst="rect">
            <a:avLst/>
          </a:prstGeom>
          <a:solidFill>
            <a:srgbClr val="F0FDFA"/>
          </a:solidFill>
          <a:ln w="12700">
            <a:solidFill>
              <a:srgbClr val="1B2A5E"/>
            </a:solidFill>
            <a:prstDash val="solid"/>
          </a:ln>
        </p:spPr>
        <p:txBody>
          <a:bodyPr/>
          <a:lstStyle/>
          <a:p>
            <a:endParaRPr lang="en-US"/>
          </a:p>
        </p:txBody>
      </p:sp>
      <p:sp>
        <p:nvSpPr>
          <p:cNvPr id="31" name="Shape 26"/>
          <p:cNvSpPr/>
          <p:nvPr/>
        </p:nvSpPr>
        <p:spPr>
          <a:xfrm>
            <a:off x="502920" y="3675888"/>
            <a:ext cx="3611880" cy="182880"/>
          </a:xfrm>
          <a:prstGeom prst="rect">
            <a:avLst/>
          </a:prstGeom>
          <a:solidFill>
            <a:srgbClr val="1B2A5E"/>
          </a:solidFill>
          <a:ln w="12700">
            <a:solidFill>
              <a:srgbClr val="1B2A5E"/>
            </a:solidFill>
            <a:prstDash val="solid"/>
          </a:ln>
        </p:spPr>
        <p:txBody>
          <a:bodyPr/>
          <a:lstStyle/>
          <a:p>
            <a:endParaRPr lang="en-US"/>
          </a:p>
        </p:txBody>
      </p:sp>
      <p:sp>
        <p:nvSpPr>
          <p:cNvPr id="32" name="Shape 27"/>
          <p:cNvSpPr/>
          <p:nvPr/>
        </p:nvSpPr>
        <p:spPr>
          <a:xfrm>
            <a:off x="502920" y="3913632"/>
            <a:ext cx="3611880" cy="109728"/>
          </a:xfrm>
          <a:prstGeom prst="rect">
            <a:avLst/>
          </a:prstGeom>
          <a:solidFill>
            <a:srgbClr val="94A3B8"/>
          </a:solidFill>
          <a:ln w="12700">
            <a:solidFill>
              <a:srgbClr val="94A3B8"/>
            </a:solidFill>
            <a:prstDash val="solid"/>
          </a:ln>
        </p:spPr>
        <p:txBody>
          <a:bodyPr/>
          <a:lstStyle/>
          <a:p>
            <a:endParaRPr lang="en-US"/>
          </a:p>
        </p:txBody>
      </p:sp>
      <p:sp>
        <p:nvSpPr>
          <p:cNvPr id="33" name="Shape 28"/>
          <p:cNvSpPr/>
          <p:nvPr/>
        </p:nvSpPr>
        <p:spPr>
          <a:xfrm>
            <a:off x="502920" y="4069080"/>
            <a:ext cx="3611880" cy="109728"/>
          </a:xfrm>
          <a:prstGeom prst="rect">
            <a:avLst/>
          </a:prstGeom>
          <a:solidFill>
            <a:srgbClr val="94A3B8"/>
          </a:solidFill>
          <a:ln w="12700">
            <a:solidFill>
              <a:srgbClr val="94A3B8"/>
            </a:solidFill>
            <a:prstDash val="solid"/>
          </a:ln>
        </p:spPr>
        <p:txBody>
          <a:bodyPr/>
          <a:lstStyle/>
          <a:p>
            <a:endParaRPr lang="en-US"/>
          </a:p>
        </p:txBody>
      </p:sp>
      <p:sp>
        <p:nvSpPr>
          <p:cNvPr id="34" name="Shape 29"/>
          <p:cNvSpPr/>
          <p:nvPr/>
        </p:nvSpPr>
        <p:spPr>
          <a:xfrm>
            <a:off x="502920" y="4224528"/>
            <a:ext cx="2167128" cy="109728"/>
          </a:xfrm>
          <a:prstGeom prst="rect">
            <a:avLst/>
          </a:prstGeom>
          <a:solidFill>
            <a:srgbClr val="94A3B8"/>
          </a:solidFill>
          <a:ln w="12700">
            <a:solidFill>
              <a:srgbClr val="94A3B8"/>
            </a:solidFill>
            <a:prstDash val="solid"/>
          </a:ln>
        </p:spPr>
        <p:txBody>
          <a:bodyPr/>
          <a:lstStyle/>
          <a:p>
            <a:endParaRPr lang="en-US"/>
          </a:p>
        </p:txBody>
      </p:sp>
      <p:sp>
        <p:nvSpPr>
          <p:cNvPr id="35" name="Text 30"/>
          <p:cNvSpPr/>
          <p:nvPr/>
        </p:nvSpPr>
        <p:spPr>
          <a:xfrm>
            <a:off x="429768" y="3593592"/>
            <a:ext cx="3758184" cy="978408"/>
          </a:xfrm>
          <a:prstGeom prst="rect">
            <a:avLst/>
          </a:prstGeom>
          <a:noFill/>
          <a:ln/>
        </p:spPr>
        <p:txBody>
          <a:bodyPr wrap="square" rtlCol="0" anchor="ctr"/>
          <a:lstStyle/>
          <a:p>
            <a:pPr marL="0" indent="0" algn="ctr">
              <a:buNone/>
            </a:pPr>
            <a:r>
              <a:rPr lang="en-US" sz="1000" i="1" dirty="0">
                <a:solidFill>
                  <a:srgbClr val="94A3B8"/>
                </a:solidFill>
                <a:latin typeface="Calibri" pitchFamily="34" charset="0"/>
                <a:ea typeface="Calibri" pitchFamily="34" charset="-122"/>
                <a:cs typeface="Calibri" pitchFamily="34" charset="-120"/>
              </a:rPr>
              <a:t>[Screenshot / Demo]</a:t>
            </a:r>
            <a:endParaRPr lang="en-US" sz="1000" dirty="0"/>
          </a:p>
        </p:txBody>
      </p:sp>
      <p:sp>
        <p:nvSpPr>
          <p:cNvPr id="36" name="Text 31"/>
          <p:cNvSpPr/>
          <p:nvPr/>
        </p:nvSpPr>
        <p:spPr>
          <a:xfrm>
            <a:off x="429768" y="4608576"/>
            <a:ext cx="3758184" cy="274320"/>
          </a:xfrm>
          <a:prstGeom prst="rect">
            <a:avLst/>
          </a:prstGeom>
          <a:noFill/>
          <a:ln/>
        </p:spPr>
        <p:txBody>
          <a:bodyPr wrap="square" rtlCol="0" anchor="ctr"/>
          <a:lstStyle/>
          <a:p>
            <a:pPr marL="0" indent="0" algn="ctr">
              <a:buNone/>
            </a:pPr>
            <a:r>
              <a:rPr lang="en-US" sz="950" dirty="0">
                <a:solidFill>
                  <a:srgbClr val="475569"/>
                </a:solidFill>
                <a:latin typeface="Calibri" pitchFamily="34" charset="0"/>
                <a:ea typeface="Calibri" pitchFamily="34" charset="-122"/>
                <a:cs typeface="Calibri" pitchFamily="34" charset="-120"/>
              </a:rPr>
              <a:t>Cart shows selected items and auto-calculates total bill</a:t>
            </a:r>
            <a:endParaRPr lang="en-US" sz="950" dirty="0"/>
          </a:p>
        </p:txBody>
      </p:sp>
      <p:sp>
        <p:nvSpPr>
          <p:cNvPr id="37" name="Shape 32"/>
          <p:cNvSpPr/>
          <p:nvPr/>
        </p:nvSpPr>
        <p:spPr>
          <a:xfrm>
            <a:off x="4572000" y="3108960"/>
            <a:ext cx="3977640" cy="1828800"/>
          </a:xfrm>
          <a:prstGeom prst="rect">
            <a:avLst/>
          </a:prstGeom>
          <a:solidFill>
            <a:srgbClr val="FFFFFF"/>
          </a:solidFill>
          <a:ln w="12700">
            <a:solidFill>
              <a:srgbClr val="B45309"/>
            </a:solidFill>
            <a:prstDash val="solid"/>
          </a:ln>
          <a:effectLst>
            <a:outerShdw blurRad="76200" dist="25400" dir="8100000" algn="bl" rotWithShape="0">
              <a:srgbClr val="000000">
                <a:alpha val="9000"/>
              </a:srgbClr>
            </a:outerShdw>
          </a:effectLst>
        </p:spPr>
        <p:txBody>
          <a:bodyPr/>
          <a:lstStyle/>
          <a:p>
            <a:endParaRPr lang="en-US"/>
          </a:p>
        </p:txBody>
      </p:sp>
      <p:sp>
        <p:nvSpPr>
          <p:cNvPr id="38" name="Shape 33"/>
          <p:cNvSpPr/>
          <p:nvPr/>
        </p:nvSpPr>
        <p:spPr>
          <a:xfrm>
            <a:off x="4572000" y="3108960"/>
            <a:ext cx="3977640" cy="402336"/>
          </a:xfrm>
          <a:prstGeom prst="rect">
            <a:avLst/>
          </a:prstGeom>
          <a:solidFill>
            <a:srgbClr val="B45309"/>
          </a:solidFill>
          <a:ln w="12700">
            <a:solidFill>
              <a:srgbClr val="B45309"/>
            </a:solidFill>
            <a:prstDash val="solid"/>
          </a:ln>
        </p:spPr>
        <p:txBody>
          <a:bodyPr/>
          <a:lstStyle/>
          <a:p>
            <a:endParaRPr lang="en-US"/>
          </a:p>
        </p:txBody>
      </p:sp>
      <p:pic>
        <p:nvPicPr>
          <p:cNvPr id="39" name="Image 3" descr="preencoded.png"/>
          <p:cNvPicPr>
            <a:picLocks noChangeAspect="1"/>
          </p:cNvPicPr>
          <p:nvPr/>
        </p:nvPicPr>
        <p:blipFill>
          <a:blip r:embed="rId6"/>
          <a:stretch>
            <a:fillRect/>
          </a:stretch>
        </p:blipFill>
        <p:spPr>
          <a:xfrm>
            <a:off x="4663440" y="3163824"/>
            <a:ext cx="274320" cy="274320"/>
          </a:xfrm>
          <a:prstGeom prst="rect">
            <a:avLst/>
          </a:prstGeom>
        </p:spPr>
      </p:pic>
      <p:sp>
        <p:nvSpPr>
          <p:cNvPr id="40" name="Text 34"/>
          <p:cNvSpPr/>
          <p:nvPr/>
        </p:nvSpPr>
        <p:spPr>
          <a:xfrm>
            <a:off x="5001768" y="3163824"/>
            <a:ext cx="3456432"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Order History Table</a:t>
            </a:r>
            <a:endParaRPr lang="en-US" sz="1200" dirty="0"/>
          </a:p>
        </p:txBody>
      </p:sp>
      <p:sp>
        <p:nvSpPr>
          <p:cNvPr id="41" name="Shape 35"/>
          <p:cNvSpPr/>
          <p:nvPr/>
        </p:nvSpPr>
        <p:spPr>
          <a:xfrm>
            <a:off x="4681728" y="3593592"/>
            <a:ext cx="3758184" cy="978408"/>
          </a:xfrm>
          <a:prstGeom prst="rect">
            <a:avLst/>
          </a:prstGeom>
          <a:solidFill>
            <a:srgbClr val="F0FDFA"/>
          </a:solidFill>
          <a:ln w="12700">
            <a:solidFill>
              <a:srgbClr val="B45309"/>
            </a:solidFill>
            <a:prstDash val="solid"/>
          </a:ln>
        </p:spPr>
        <p:txBody>
          <a:bodyPr/>
          <a:lstStyle/>
          <a:p>
            <a:endParaRPr lang="en-US"/>
          </a:p>
        </p:txBody>
      </p:sp>
      <p:sp>
        <p:nvSpPr>
          <p:cNvPr id="42" name="Shape 36"/>
          <p:cNvSpPr/>
          <p:nvPr/>
        </p:nvSpPr>
        <p:spPr>
          <a:xfrm>
            <a:off x="4754880" y="3675888"/>
            <a:ext cx="3611880" cy="182880"/>
          </a:xfrm>
          <a:prstGeom prst="rect">
            <a:avLst/>
          </a:prstGeom>
          <a:solidFill>
            <a:srgbClr val="B45309"/>
          </a:solidFill>
          <a:ln w="12700">
            <a:solidFill>
              <a:srgbClr val="B45309"/>
            </a:solidFill>
            <a:prstDash val="solid"/>
          </a:ln>
        </p:spPr>
        <p:txBody>
          <a:bodyPr/>
          <a:lstStyle/>
          <a:p>
            <a:endParaRPr lang="en-US"/>
          </a:p>
        </p:txBody>
      </p:sp>
      <p:sp>
        <p:nvSpPr>
          <p:cNvPr id="43" name="Shape 37"/>
          <p:cNvSpPr/>
          <p:nvPr/>
        </p:nvSpPr>
        <p:spPr>
          <a:xfrm>
            <a:off x="4754880" y="3913632"/>
            <a:ext cx="3611880" cy="109728"/>
          </a:xfrm>
          <a:prstGeom prst="rect">
            <a:avLst/>
          </a:prstGeom>
          <a:solidFill>
            <a:srgbClr val="94A3B8"/>
          </a:solidFill>
          <a:ln w="12700">
            <a:solidFill>
              <a:srgbClr val="94A3B8"/>
            </a:solidFill>
            <a:prstDash val="solid"/>
          </a:ln>
        </p:spPr>
        <p:txBody>
          <a:bodyPr/>
          <a:lstStyle/>
          <a:p>
            <a:endParaRPr lang="en-US"/>
          </a:p>
        </p:txBody>
      </p:sp>
      <p:sp>
        <p:nvSpPr>
          <p:cNvPr id="44" name="Shape 38"/>
          <p:cNvSpPr/>
          <p:nvPr/>
        </p:nvSpPr>
        <p:spPr>
          <a:xfrm>
            <a:off x="4754880" y="4069080"/>
            <a:ext cx="3611880" cy="109728"/>
          </a:xfrm>
          <a:prstGeom prst="rect">
            <a:avLst/>
          </a:prstGeom>
          <a:solidFill>
            <a:srgbClr val="94A3B8"/>
          </a:solidFill>
          <a:ln w="12700">
            <a:solidFill>
              <a:srgbClr val="94A3B8"/>
            </a:solidFill>
            <a:prstDash val="solid"/>
          </a:ln>
        </p:spPr>
        <p:txBody>
          <a:bodyPr/>
          <a:lstStyle/>
          <a:p>
            <a:endParaRPr lang="en-US"/>
          </a:p>
        </p:txBody>
      </p:sp>
      <p:sp>
        <p:nvSpPr>
          <p:cNvPr id="45" name="Shape 39"/>
          <p:cNvSpPr/>
          <p:nvPr/>
        </p:nvSpPr>
        <p:spPr>
          <a:xfrm>
            <a:off x="4754880" y="4224528"/>
            <a:ext cx="2167128" cy="109728"/>
          </a:xfrm>
          <a:prstGeom prst="rect">
            <a:avLst/>
          </a:prstGeom>
          <a:solidFill>
            <a:srgbClr val="94A3B8"/>
          </a:solidFill>
          <a:ln w="12700">
            <a:solidFill>
              <a:srgbClr val="94A3B8"/>
            </a:solidFill>
            <a:prstDash val="solid"/>
          </a:ln>
        </p:spPr>
        <p:txBody>
          <a:bodyPr/>
          <a:lstStyle/>
          <a:p>
            <a:endParaRPr lang="en-US"/>
          </a:p>
        </p:txBody>
      </p:sp>
      <p:sp>
        <p:nvSpPr>
          <p:cNvPr id="46" name="Text 40"/>
          <p:cNvSpPr/>
          <p:nvPr/>
        </p:nvSpPr>
        <p:spPr>
          <a:xfrm>
            <a:off x="4681728" y="3593592"/>
            <a:ext cx="3758184" cy="978408"/>
          </a:xfrm>
          <a:prstGeom prst="rect">
            <a:avLst/>
          </a:prstGeom>
          <a:noFill/>
          <a:ln/>
        </p:spPr>
        <p:txBody>
          <a:bodyPr wrap="square" rtlCol="0" anchor="ctr"/>
          <a:lstStyle/>
          <a:p>
            <a:pPr marL="0" indent="0" algn="ctr">
              <a:buNone/>
            </a:pPr>
            <a:r>
              <a:rPr lang="en-US" sz="1000" i="1" dirty="0">
                <a:solidFill>
                  <a:srgbClr val="94A3B8"/>
                </a:solidFill>
                <a:latin typeface="Calibri" pitchFamily="34" charset="0"/>
                <a:ea typeface="Calibri" pitchFamily="34" charset="-122"/>
                <a:cs typeface="Calibri" pitchFamily="34" charset="-120"/>
              </a:rPr>
              <a:t>[Screenshot / Demo]</a:t>
            </a:r>
            <a:endParaRPr lang="en-US" sz="1000" dirty="0"/>
          </a:p>
        </p:txBody>
      </p:sp>
      <p:sp>
        <p:nvSpPr>
          <p:cNvPr id="47" name="Text 41"/>
          <p:cNvSpPr/>
          <p:nvPr/>
        </p:nvSpPr>
        <p:spPr>
          <a:xfrm>
            <a:off x="4681728" y="4608576"/>
            <a:ext cx="3758184" cy="274320"/>
          </a:xfrm>
          <a:prstGeom prst="rect">
            <a:avLst/>
          </a:prstGeom>
          <a:noFill/>
          <a:ln/>
        </p:spPr>
        <p:txBody>
          <a:bodyPr wrap="square" rtlCol="0" anchor="ctr"/>
          <a:lstStyle/>
          <a:p>
            <a:pPr marL="0" indent="0" algn="ctr">
              <a:buNone/>
            </a:pPr>
            <a:r>
              <a:rPr lang="en-US" sz="950" dirty="0">
                <a:solidFill>
                  <a:srgbClr val="475569"/>
                </a:solidFill>
                <a:latin typeface="Calibri" pitchFamily="34" charset="0"/>
                <a:ea typeface="Calibri" pitchFamily="34" charset="-122"/>
                <a:cs typeface="Calibri" pitchFamily="34" charset="-120"/>
              </a:rPr>
              <a:t>View and search all previously placed orders</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1B2A5E"/>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w="12700">
            <a:solidFill>
              <a:srgbClr val="0D9488"/>
            </a:solidFill>
            <a:prstDash val="solid"/>
          </a:ln>
        </p:spPr>
        <p:txBody>
          <a:bodyPr/>
          <a:lstStyle/>
          <a:p>
            <a:endParaRPr lang="en-US"/>
          </a:p>
        </p:txBody>
      </p:sp>
      <p:sp>
        <p:nvSpPr>
          <p:cNvPr id="3" name="Shape 1"/>
          <p:cNvSpPr/>
          <p:nvPr/>
        </p:nvSpPr>
        <p:spPr>
          <a:xfrm>
            <a:off x="109728" y="0"/>
            <a:ext cx="9034272" cy="54864"/>
          </a:xfrm>
          <a:prstGeom prst="rect">
            <a:avLst/>
          </a:prstGeom>
          <a:solidFill>
            <a:srgbClr val="0D9488"/>
          </a:solidFill>
          <a:ln w="12700">
            <a:solidFill>
              <a:srgbClr val="0D9488"/>
            </a:solidFill>
            <a:prstDash val="solid"/>
          </a:ln>
        </p:spPr>
        <p:txBody>
          <a:bodyPr/>
          <a:lstStyle/>
          <a:p>
            <a:endParaRPr lang="en-US"/>
          </a:p>
        </p:txBody>
      </p:sp>
      <p:sp>
        <p:nvSpPr>
          <p:cNvPr id="4" name="Text 2"/>
          <p:cNvSpPr/>
          <p:nvPr/>
        </p:nvSpPr>
        <p:spPr>
          <a:xfrm>
            <a:off x="365760" y="228600"/>
            <a:ext cx="8321040" cy="54864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Conclusion</a:t>
            </a:r>
            <a:endParaRPr lang="en-US" sz="3200" dirty="0"/>
          </a:p>
        </p:txBody>
      </p:sp>
      <p:pic>
        <p:nvPicPr>
          <p:cNvPr id="5" name="Image 0" descr="preencoded.png"/>
          <p:cNvPicPr>
            <a:picLocks noChangeAspect="1"/>
          </p:cNvPicPr>
          <p:nvPr/>
        </p:nvPicPr>
        <p:blipFill>
          <a:blip r:embed="rId3"/>
          <a:stretch>
            <a:fillRect/>
          </a:stretch>
        </p:blipFill>
        <p:spPr>
          <a:xfrm>
            <a:off x="7498080" y="182880"/>
            <a:ext cx="1097280" cy="1097280"/>
          </a:xfrm>
          <a:prstGeom prst="rect">
            <a:avLst/>
          </a:prstGeom>
        </p:spPr>
      </p:pic>
      <p:sp>
        <p:nvSpPr>
          <p:cNvPr id="6" name="Text 3"/>
          <p:cNvSpPr/>
          <p:nvPr/>
        </p:nvSpPr>
        <p:spPr>
          <a:xfrm>
            <a:off x="365760" y="841248"/>
            <a:ext cx="8321040" cy="1508760"/>
          </a:xfrm>
          <a:prstGeom prst="rect">
            <a:avLst/>
          </a:prstGeom>
          <a:noFill/>
          <a:ln/>
        </p:spPr>
        <p:txBody>
          <a:bodyPr wrap="square" rtlCol="0" anchor="ctr"/>
          <a:lstStyle/>
          <a:p>
            <a:pPr marL="342900" indent="-342900">
              <a:spcAft>
                <a:spcPts val="500"/>
              </a:spcAft>
              <a:buSzPct val="100000"/>
              <a:buChar char="•"/>
            </a:pPr>
            <a:r>
              <a:rPr lang="en-US" sz="1300" dirty="0">
                <a:solidFill>
                  <a:srgbClr val="FFFFFF"/>
                </a:solidFill>
                <a:latin typeface="Calibri" pitchFamily="34" charset="0"/>
                <a:ea typeface="Calibri" pitchFamily="34" charset="-122"/>
                <a:cs typeface="Calibri" pitchFamily="34" charset="-120"/>
              </a:rPr>
              <a:t>We successfully built a Java Swing desktop application for cafeteria management.</a:t>
            </a:r>
            <a:endParaRPr lang="en-US" sz="1300" dirty="0"/>
          </a:p>
          <a:p>
            <a:pPr marL="342900" indent="-342900">
              <a:spcAft>
                <a:spcPts val="500"/>
              </a:spcAft>
              <a:buSzPct val="100000"/>
              <a:buChar char="•"/>
            </a:pPr>
            <a:r>
              <a:rPr lang="en-US" sz="1300" dirty="0">
                <a:solidFill>
                  <a:srgbClr val="FFFFFF"/>
                </a:solidFill>
                <a:latin typeface="Calibri" pitchFamily="34" charset="0"/>
                <a:ea typeface="Calibri" pitchFamily="34" charset="-122"/>
                <a:cs typeface="Calibri" pitchFamily="34" charset="-120"/>
              </a:rPr>
              <a:t>The system covers full food item CRUD, order management, multi-item cart, and permanent data storage.</a:t>
            </a:r>
            <a:endParaRPr lang="en-US" sz="1300" dirty="0"/>
          </a:p>
          <a:p>
            <a:pPr marL="342900" indent="-342900">
              <a:spcAft>
                <a:spcPts val="500"/>
              </a:spcAft>
              <a:buSzPct val="100000"/>
              <a:buChar char="•"/>
            </a:pPr>
            <a:r>
              <a:rPr lang="en-US" sz="1300" dirty="0">
                <a:solidFill>
                  <a:srgbClr val="FFFFFF"/>
                </a:solidFill>
                <a:latin typeface="Calibri" pitchFamily="34" charset="0"/>
                <a:ea typeface="Calibri" pitchFamily="34" charset="-122"/>
                <a:cs typeface="Calibri" pitchFamily="34" charset="-120"/>
              </a:rPr>
              <a:t>We applied all four OOP concepts: Encapsulation, Inheritance, Abstraction, and Polymorphism.</a:t>
            </a:r>
            <a:endParaRPr lang="en-US" sz="1300" dirty="0"/>
          </a:p>
          <a:p>
            <a:pPr marL="342900" indent="-342900">
              <a:spcAft>
                <a:spcPts val="500"/>
              </a:spcAft>
              <a:buSzPct val="100000"/>
              <a:buChar char="•"/>
            </a:pPr>
            <a:r>
              <a:rPr lang="en-US" sz="1300" dirty="0">
                <a:solidFill>
                  <a:srgbClr val="FFFFFF"/>
                </a:solidFill>
                <a:latin typeface="Calibri" pitchFamily="34" charset="0"/>
                <a:ea typeface="Calibri" pitchFamily="34" charset="-122"/>
                <a:cs typeface="Calibri" pitchFamily="34" charset="-120"/>
              </a:rPr>
              <a:t>Every team member contributed a separate, working part of the project.</a:t>
            </a:r>
            <a:endParaRPr lang="en-US" sz="1300" dirty="0"/>
          </a:p>
        </p:txBody>
      </p:sp>
      <p:sp>
        <p:nvSpPr>
          <p:cNvPr id="7" name="Shape 4"/>
          <p:cNvSpPr/>
          <p:nvPr/>
        </p:nvSpPr>
        <p:spPr>
          <a:xfrm>
            <a:off x="365760" y="2468880"/>
            <a:ext cx="8321040" cy="1371600"/>
          </a:xfrm>
          <a:prstGeom prst="rect">
            <a:avLst/>
          </a:prstGeom>
          <a:solidFill>
            <a:srgbClr val="162040"/>
          </a:solidFill>
          <a:ln w="12700">
            <a:solidFill>
              <a:srgbClr val="0D9488"/>
            </a:solidFill>
            <a:prstDash val="solid"/>
          </a:ln>
        </p:spPr>
        <p:txBody>
          <a:bodyPr/>
          <a:lstStyle/>
          <a:p>
            <a:endParaRPr lang="en-US"/>
          </a:p>
        </p:txBody>
      </p:sp>
      <p:sp>
        <p:nvSpPr>
          <p:cNvPr id="8" name="Text 5"/>
          <p:cNvSpPr/>
          <p:nvPr/>
        </p:nvSpPr>
        <p:spPr>
          <a:xfrm>
            <a:off x="502920" y="2542032"/>
            <a:ext cx="8046720" cy="347472"/>
          </a:xfrm>
          <a:prstGeom prst="rect">
            <a:avLst/>
          </a:prstGeom>
          <a:noFill/>
          <a:ln/>
        </p:spPr>
        <p:txBody>
          <a:bodyPr wrap="square" lIns="0" tIns="0" rIns="0" bIns="0" rtlCol="0" anchor="ctr"/>
          <a:lstStyle/>
          <a:p>
            <a:pPr marL="0" indent="0">
              <a:buNone/>
            </a:pPr>
            <a:r>
              <a:rPr lang="en-US" sz="1400" b="1" dirty="0">
                <a:solidFill>
                  <a:srgbClr val="14B8A6"/>
                </a:solidFill>
                <a:latin typeface="Calibri" pitchFamily="34" charset="0"/>
                <a:ea typeface="Calibri" pitchFamily="34" charset="-122"/>
                <a:cs typeface="Calibri" pitchFamily="34" charset="-120"/>
              </a:rPr>
              <a:t>💡  Future Improvements</a:t>
            </a:r>
            <a:endParaRPr lang="en-US" sz="1400" dirty="0"/>
          </a:p>
        </p:txBody>
      </p:sp>
      <p:sp>
        <p:nvSpPr>
          <p:cNvPr id="9" name="Text 6"/>
          <p:cNvSpPr/>
          <p:nvPr/>
        </p:nvSpPr>
        <p:spPr>
          <a:xfrm>
            <a:off x="502920" y="2907792"/>
            <a:ext cx="8046720" cy="868680"/>
          </a:xfrm>
          <a:prstGeom prst="rect">
            <a:avLst/>
          </a:prstGeom>
          <a:noFill/>
          <a:ln/>
        </p:spPr>
        <p:txBody>
          <a:bodyPr wrap="square" rtlCol="0" anchor="ctr"/>
          <a:lstStyle/>
          <a:p>
            <a:pPr marL="342900" indent="-342900">
              <a:spcAft>
                <a:spcPts val="300"/>
              </a:spcAft>
              <a:buSzPct val="100000"/>
              <a:buChar char="•"/>
            </a:pPr>
            <a:r>
              <a:rPr lang="en-US" sz="1200" dirty="0">
                <a:solidFill>
                  <a:srgbClr val="CBD5E1"/>
                </a:solidFill>
                <a:latin typeface="Calibri" pitchFamily="34" charset="0"/>
                <a:ea typeface="Calibri" pitchFamily="34" charset="-122"/>
                <a:cs typeface="Calibri" pitchFamily="34" charset="-120"/>
              </a:rPr>
              <a:t>Add a login system with separate staff and customer accounts</a:t>
            </a:r>
            <a:endParaRPr lang="en-US" sz="1200" dirty="0"/>
          </a:p>
          <a:p>
            <a:pPr marL="342900" indent="-342900">
              <a:spcAft>
                <a:spcPts val="300"/>
              </a:spcAft>
              <a:buSzPct val="100000"/>
              <a:buChar char="•"/>
            </a:pPr>
            <a:r>
              <a:rPr lang="en-US" sz="1200" dirty="0">
                <a:solidFill>
                  <a:srgbClr val="CBD5E1"/>
                </a:solidFill>
                <a:latin typeface="Calibri" pitchFamily="34" charset="0"/>
                <a:ea typeface="Calibri" pitchFamily="34" charset="-122"/>
                <a:cs typeface="Calibri" pitchFamily="34" charset="-120"/>
              </a:rPr>
              <a:t>Connect to a real database (MySQL) instead of file storage</a:t>
            </a:r>
            <a:endParaRPr lang="en-US" sz="1200" dirty="0"/>
          </a:p>
          <a:p>
            <a:pPr marL="342900" indent="-342900">
              <a:spcAft>
                <a:spcPts val="300"/>
              </a:spcAft>
              <a:buSzPct val="100000"/>
              <a:buChar char="•"/>
            </a:pPr>
            <a:r>
              <a:rPr lang="en-US" sz="1200" dirty="0">
                <a:solidFill>
                  <a:srgbClr val="CBD5E1"/>
                </a:solidFill>
                <a:latin typeface="Calibri" pitchFamily="34" charset="0"/>
                <a:ea typeface="Calibri" pitchFamily="34" charset="-122"/>
                <a:cs typeface="Calibri" pitchFamily="34" charset="-120"/>
              </a:rPr>
              <a:t>Generate printable order receipts as PDF files</a:t>
            </a:r>
            <a:endParaRPr lang="en-US" sz="1200" dirty="0"/>
          </a:p>
        </p:txBody>
      </p:sp>
      <p:sp>
        <p:nvSpPr>
          <p:cNvPr id="10" name="Shape 7"/>
          <p:cNvSpPr/>
          <p:nvPr/>
        </p:nvSpPr>
        <p:spPr>
          <a:xfrm>
            <a:off x="365760" y="3977640"/>
            <a:ext cx="8321040" cy="822960"/>
          </a:xfrm>
          <a:prstGeom prst="rect">
            <a:avLst/>
          </a:prstGeom>
          <a:solidFill>
            <a:srgbClr val="0D9488"/>
          </a:solidFill>
          <a:ln w="12700">
            <a:solidFill>
              <a:srgbClr val="0D9488"/>
            </a:solidFill>
            <a:prstDash val="solid"/>
          </a:ln>
        </p:spPr>
        <p:txBody>
          <a:bodyPr/>
          <a:lstStyle/>
          <a:p>
            <a:endParaRPr lang="en-US"/>
          </a:p>
        </p:txBody>
      </p:sp>
      <p:sp>
        <p:nvSpPr>
          <p:cNvPr id="11" name="Text 8"/>
          <p:cNvSpPr/>
          <p:nvPr/>
        </p:nvSpPr>
        <p:spPr>
          <a:xfrm>
            <a:off x="365760" y="3977640"/>
            <a:ext cx="5943600" cy="8229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Thank You for Listening!</a:t>
            </a:r>
            <a:endParaRPr lang="en-US" sz="2200" dirty="0"/>
          </a:p>
        </p:txBody>
      </p:sp>
      <p:sp>
        <p:nvSpPr>
          <p:cNvPr id="12" name="Text 9"/>
          <p:cNvSpPr/>
          <p:nvPr/>
        </p:nvSpPr>
        <p:spPr>
          <a:xfrm>
            <a:off x="6309360" y="3977640"/>
            <a:ext cx="2377440" cy="822960"/>
          </a:xfrm>
          <a:prstGeom prst="rect">
            <a:avLst/>
          </a:prstGeom>
          <a:noFill/>
          <a:ln/>
        </p:spPr>
        <p:txBody>
          <a:bodyPr wrap="square" lIns="0" tIns="0" rIns="0" bIns="0" rtlCol="0" anchor="ctr"/>
          <a:lstStyle/>
          <a:p>
            <a:pPr marL="0" indent="0" algn="ctr">
              <a:buNone/>
            </a:pPr>
            <a:r>
              <a:rPr lang="en-US" sz="1800" b="1" dirty="0">
                <a:solidFill>
                  <a:srgbClr val="1B2A5E"/>
                </a:solidFill>
                <a:latin typeface="Calibri" pitchFamily="34" charset="0"/>
                <a:ea typeface="Calibri" pitchFamily="34" charset="-122"/>
                <a:cs typeface="Calibri" pitchFamily="34" charset="-120"/>
              </a:rPr>
              <a:t>Questions?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2899</Words>
  <Application>Microsoft Office PowerPoint</Application>
  <PresentationFormat>On-screen Show (16:9)</PresentationFormat>
  <Paragraphs>268</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 Cafeteria Management System</dc:title>
  <dc:subject>PptxGenJS Presentation</dc:subject>
  <dc:creator>JVM Junkies</dc:creator>
  <cp:lastModifiedBy>Sarhan Saad</cp:lastModifiedBy>
  <cp:revision>2</cp:revision>
  <dcterms:created xsi:type="dcterms:W3CDTF">2026-05-31T05:19:20Z</dcterms:created>
  <dcterms:modified xsi:type="dcterms:W3CDTF">2026-05-31T06:23:30Z</dcterms:modified>
</cp:coreProperties>
</file>